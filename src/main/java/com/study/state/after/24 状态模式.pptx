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2" r:id="rId3"/>
    <p:sldId id="437" r:id="rId5"/>
    <p:sldId id="600" r:id="rId6"/>
    <p:sldId id="560" r:id="rId7"/>
    <p:sldId id="536" r:id="rId8"/>
    <p:sldId id="579" r:id="rId9"/>
    <p:sldId id="635" r:id="rId10"/>
    <p:sldId id="571" r:id="rId11"/>
    <p:sldId id="472" r:id="rId12"/>
    <p:sldId id="636" r:id="rId13"/>
    <p:sldId id="637" r:id="rId14"/>
    <p:sldId id="630" r:id="rId15"/>
    <p:sldId id="606" r:id="rId16"/>
    <p:sldId id="631" r:id="rId17"/>
    <p:sldId id="632" r:id="rId18"/>
    <p:sldId id="605" r:id="rId19"/>
    <p:sldId id="447" r:id="rId20"/>
    <p:sldId id="634" r:id="rId21"/>
    <p:sldId id="584" r:id="rId22"/>
    <p:sldId id="548" r:id="rId23"/>
    <p:sldId id="549" r:id="rId24"/>
    <p:sldId id="638" r:id="rId25"/>
    <p:sldId id="621" r:id="rId26"/>
    <p:sldId id="627" r:id="rId27"/>
    <p:sldId id="551" r:id="rId28"/>
    <p:sldId id="448" r:id="rId29"/>
    <p:sldId id="565" r:id="rId30"/>
    <p:sldId id="553" r:id="rId31"/>
    <p:sldId id="554" r:id="rId32"/>
    <p:sldId id="629" r:id="rId33"/>
    <p:sldId id="623" r:id="rId34"/>
    <p:sldId id="639" r:id="rId35"/>
    <p:sldId id="587" r:id="rId36"/>
    <p:sldId id="640" r:id="rId37"/>
    <p:sldId id="633" r:id="rId38"/>
    <p:sldId id="641" r:id="rId39"/>
    <p:sldId id="487" r:id="rId40"/>
  </p:sldIdLst>
  <p:sldSz cx="12198350" cy="6859270"/>
  <p:notesSz cx="6858000" cy="9144000"/>
  <p:custDataLst>
    <p:tags r:id="rId44"/>
  </p:custDataLst>
  <p:defaultTex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guide id="3" pos="304" userDrawn="1">
          <p15:clr>
            <a:srgbClr val="A4A3A4"/>
          </p15:clr>
        </p15:guide>
        <p15:guide id="4" pos="1892" userDrawn="1">
          <p15:clr>
            <a:srgbClr val="A4A3A4"/>
          </p15:clr>
        </p15:guide>
        <p15:guide id="5" pos="12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FAFAFA"/>
    <a:srgbClr val="FFC400"/>
    <a:srgbClr val="FFD347"/>
    <a:srgbClr val="FFC91D"/>
    <a:srgbClr val="0071C1"/>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9" autoAdjust="0"/>
    <p:restoredTop sz="92513" autoAdjust="0"/>
  </p:normalViewPr>
  <p:slideViewPr>
    <p:cSldViewPr showGuides="1">
      <p:cViewPr varScale="1">
        <p:scale>
          <a:sx n="55" d="100"/>
          <a:sy n="55" d="100"/>
        </p:scale>
        <p:origin x="-102" y="-360"/>
      </p:cViewPr>
      <p:guideLst>
        <p:guide orient="horz" pos="2160"/>
        <p:guide pos="3842"/>
        <p:guide pos="304"/>
        <p:guide pos="1892"/>
        <p:guide pos="1211"/>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62AE03-6EE8-41FD-8A37-86C6BC5E264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21FD59-C920-460C-B1C9-0346C59420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835" rtl="0" eaLnBrk="1" latinLnBrk="0" hangingPunct="1">
      <a:defRPr sz="1600" kern="1200">
        <a:solidFill>
          <a:schemeClr val="tx1"/>
        </a:solidFill>
        <a:latin typeface="+mn-lt"/>
        <a:ea typeface="+mn-ea"/>
        <a:cs typeface="+mn-cs"/>
      </a:defRPr>
    </a:lvl1pPr>
    <a:lvl2pPr marL="609600" algn="l" defTabSz="1219835" rtl="0" eaLnBrk="1" latinLnBrk="0" hangingPunct="1">
      <a:defRPr sz="1600" kern="1200">
        <a:solidFill>
          <a:schemeClr val="tx1"/>
        </a:solidFill>
        <a:latin typeface="+mn-lt"/>
        <a:ea typeface="+mn-ea"/>
        <a:cs typeface="+mn-cs"/>
      </a:defRPr>
    </a:lvl2pPr>
    <a:lvl3pPr marL="1219835" algn="l" defTabSz="1219835" rtl="0" eaLnBrk="1" latinLnBrk="0" hangingPunct="1">
      <a:defRPr sz="1600" kern="1200">
        <a:solidFill>
          <a:schemeClr val="tx1"/>
        </a:solidFill>
        <a:latin typeface="+mn-lt"/>
        <a:ea typeface="+mn-ea"/>
        <a:cs typeface="+mn-cs"/>
      </a:defRPr>
    </a:lvl3pPr>
    <a:lvl4pPr marL="1829435" algn="l" defTabSz="1219835" rtl="0" eaLnBrk="1" latinLnBrk="0" hangingPunct="1">
      <a:defRPr sz="1600" kern="1200">
        <a:solidFill>
          <a:schemeClr val="tx1"/>
        </a:solidFill>
        <a:latin typeface="+mn-lt"/>
        <a:ea typeface="+mn-ea"/>
        <a:cs typeface="+mn-cs"/>
      </a:defRPr>
    </a:lvl4pPr>
    <a:lvl5pPr marL="2439035" algn="l" defTabSz="1219835" rtl="0" eaLnBrk="1" latinLnBrk="0" hangingPunct="1">
      <a:defRPr sz="1600" kern="1200">
        <a:solidFill>
          <a:schemeClr val="tx1"/>
        </a:solidFill>
        <a:latin typeface="+mn-lt"/>
        <a:ea typeface="+mn-ea"/>
        <a:cs typeface="+mn-cs"/>
      </a:defRPr>
    </a:lvl5pPr>
    <a:lvl6pPr marL="3049270" algn="l" defTabSz="1219835" rtl="0" eaLnBrk="1" latinLnBrk="0" hangingPunct="1">
      <a:defRPr sz="1600" kern="1200">
        <a:solidFill>
          <a:schemeClr val="tx1"/>
        </a:solidFill>
        <a:latin typeface="+mn-lt"/>
        <a:ea typeface="+mn-ea"/>
        <a:cs typeface="+mn-cs"/>
      </a:defRPr>
    </a:lvl6pPr>
    <a:lvl7pPr marL="3658870" algn="l" defTabSz="1219835" rtl="0" eaLnBrk="1" latinLnBrk="0" hangingPunct="1">
      <a:defRPr sz="1600" kern="1200">
        <a:solidFill>
          <a:schemeClr val="tx1"/>
        </a:solidFill>
        <a:latin typeface="+mn-lt"/>
        <a:ea typeface="+mn-ea"/>
        <a:cs typeface="+mn-cs"/>
      </a:defRPr>
    </a:lvl7pPr>
    <a:lvl8pPr marL="4268470" algn="l" defTabSz="1219835" rtl="0" eaLnBrk="1" latinLnBrk="0" hangingPunct="1">
      <a:defRPr sz="1600" kern="1200">
        <a:solidFill>
          <a:schemeClr val="tx1"/>
        </a:solidFill>
        <a:latin typeface="+mn-lt"/>
        <a:ea typeface="+mn-ea"/>
        <a:cs typeface="+mn-cs"/>
      </a:defRPr>
    </a:lvl8pPr>
    <a:lvl9pPr marL="4878705" algn="l" defTabSz="121983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1562671" y="693490"/>
            <a:ext cx="10635679"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2511" y="0"/>
            <a:ext cx="1155204" cy="1100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advTm="0">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4" name="页脚占位符 3"/>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3" name="页脚占位符 2"/>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920" y="273112"/>
            <a:ext cx="4013173" cy="116232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9216" y="273114"/>
            <a:ext cx="6819216" cy="5854469"/>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920" y="1435434"/>
            <a:ext cx="4013173" cy="46921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962" y="4801712"/>
            <a:ext cx="7319010" cy="56687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962" y="612916"/>
            <a:ext cx="7319010" cy="4115753"/>
          </a:xfrm>
          <a:prstGeom prst="rect">
            <a:avLst/>
          </a:prstGeom>
        </p:spPr>
        <p:txBody>
          <a:bodyPr lIns="121963" tIns="60981" rIns="121963" bIns="60981"/>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zh-CN" altLang="en-US"/>
          </a:p>
        </p:txBody>
      </p:sp>
      <p:sp>
        <p:nvSpPr>
          <p:cNvPr id="4" name="文本占位符 3"/>
          <p:cNvSpPr>
            <a:spLocks noGrp="1"/>
          </p:cNvSpPr>
          <p:nvPr>
            <p:ph type="body" sz="half" idx="2"/>
          </p:nvPr>
        </p:nvSpPr>
        <p:spPr>
          <a:xfrm>
            <a:off x="2390962" y="5368581"/>
            <a:ext cx="7319010" cy="8050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1600572"/>
            <a:ext cx="10978515" cy="4527011"/>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804" y="206422"/>
            <a:ext cx="2744629" cy="4388867"/>
          </a:xfrm>
          <a:prstGeom prst="rect">
            <a:avLst/>
          </a:prstGeom>
        </p:spPr>
        <p:txBody>
          <a:bodyPr vert="eaVert"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206422"/>
            <a:ext cx="8030580" cy="4388867"/>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0">
    <p:wipe/>
  </p:transition>
  <p:timing>
    <p:tnLst>
      <p:par>
        <p:cTn id="1" dur="indefinite" restart="never" nodeType="tmRoot"/>
      </p:par>
    </p:tnLst>
  </p:timing>
  <p:txStyles>
    <p:titleStyle>
      <a:lvl1pPr algn="ctr" defTabSz="121983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tretch>
            <a:fillRect/>
          </a:stretch>
        </p:blipFill>
        <p:spPr>
          <a:xfrm>
            <a:off x="-616" y="-26590"/>
            <a:ext cx="12193647" cy="6860642"/>
          </a:xfrm>
          <a:prstGeom prst="rect">
            <a:avLst/>
          </a:prstGeom>
        </p:spPr>
      </p:pic>
      <p:cxnSp>
        <p:nvCxnSpPr>
          <p:cNvPr id="25" name="直接连接符 24"/>
          <p:cNvCxnSpPr/>
          <p:nvPr/>
        </p:nvCxnSpPr>
        <p:spPr>
          <a:xfrm>
            <a:off x="5327222" y="4390123"/>
            <a:ext cx="602891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82825" y="455097"/>
            <a:ext cx="2152446" cy="861974"/>
          </a:xfrm>
          <a:prstGeom prst="rect">
            <a:avLst/>
          </a:prstGeom>
          <a:noFill/>
        </p:spPr>
        <p:txBody>
          <a:bodyPr wrap="none" lIns="121917" tIns="60958" rIns="121917" bIns="60958" rtlCol="0">
            <a:spAutoFit/>
          </a:bodyPr>
          <a:lstStyle/>
          <a:p>
            <a:r>
              <a:rPr lang="en-US" altLang="zh-CN" sz="4800" dirty="0">
                <a:solidFill>
                  <a:schemeClr val="bg1"/>
                </a:solidFill>
                <a:latin typeface="Eras Bold ITC" panose="020B0907030504020204" pitchFamily="34" charset="0"/>
              </a:rPr>
              <a:t>LOGO</a:t>
            </a:r>
            <a:endParaRPr lang="zh-CN" altLang="en-US" sz="4800" dirty="0">
              <a:solidFill>
                <a:schemeClr val="bg1"/>
              </a:solidFill>
              <a:latin typeface="Eras Bold ITC" panose="020B0907030504020204" pitchFamily="34" charset="0"/>
            </a:endParaRPr>
          </a:p>
        </p:txBody>
      </p:sp>
      <p:sp>
        <p:nvSpPr>
          <p:cNvPr id="30" name="TextBox 29"/>
          <p:cNvSpPr txBox="1"/>
          <p:nvPr/>
        </p:nvSpPr>
        <p:spPr>
          <a:xfrm>
            <a:off x="8911525" y="5197738"/>
            <a:ext cx="1868170" cy="612775"/>
          </a:xfrm>
          <a:prstGeom prst="rect">
            <a:avLst/>
          </a:prstGeom>
          <a:noFill/>
        </p:spPr>
        <p:txBody>
          <a:bodyPr wrap="none" lIns="121917" tIns="60958" rIns="121917" bIns="60958" rtlCol="0">
            <a:spAutoFit/>
          </a:bodyPr>
          <a:lstStyle/>
          <a:p>
            <a:pPr algn="r"/>
            <a:r>
              <a:rPr lang="zh-CN" altLang="en-US" sz="3200" b="1" dirty="0" smtClean="0">
                <a:solidFill>
                  <a:schemeClr val="tx1">
                    <a:lumMod val="75000"/>
                    <a:lumOff val="25000"/>
                  </a:schemeClr>
                </a:solidFill>
                <a:latin typeface="微软雅黑" panose="020B0503020204020204" pitchFamily="34" charset="-122"/>
                <a:ea typeface="微软雅黑" panose="020B0503020204020204" pitchFamily="34" charset="-122"/>
              </a:rPr>
              <a:t>软件学院</a:t>
            </a:r>
            <a:endParaRPr lang="en-US" altLang="zh-CN" sz="32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7133889" y="2709714"/>
            <a:ext cx="4075790" cy="954103"/>
          </a:xfrm>
          <a:prstGeom prst="rect">
            <a:avLst/>
          </a:prstGeom>
          <a:noFill/>
        </p:spPr>
        <p:txBody>
          <a:bodyPr wrap="none" lIns="121917" tIns="60958" rIns="121917" bIns="60958" rtlCol="0">
            <a:spAutoFit/>
          </a:bodyPr>
          <a:lstStyle/>
          <a:p>
            <a:pPr algn="r"/>
            <a:r>
              <a:rPr lang="en-US" altLang="zh-CN" sz="5400" b="1" dirty="0" smtClean="0">
                <a:solidFill>
                  <a:schemeClr val="accent1"/>
                </a:solidFill>
                <a:latin typeface="微软雅黑" panose="020B0503020204020204" pitchFamily="34" charset="-122"/>
                <a:ea typeface="微软雅黑" panose="020B0503020204020204" pitchFamily="34" charset="-122"/>
              </a:rPr>
              <a:t>24 </a:t>
            </a:r>
            <a:r>
              <a:rPr lang="zh-CN" altLang="en-US" sz="5400" b="1" dirty="0">
                <a:solidFill>
                  <a:schemeClr val="accent1"/>
                </a:solidFill>
                <a:latin typeface="微软雅黑" panose="020B0503020204020204" pitchFamily="34" charset="-122"/>
                <a:ea typeface="微软雅黑" panose="020B0503020204020204" pitchFamily="34" charset="-122"/>
              </a:rPr>
              <a:t>状态</a:t>
            </a:r>
            <a:r>
              <a:rPr lang="zh-CN" altLang="en-US" sz="5400" b="1" dirty="0" smtClean="0">
                <a:solidFill>
                  <a:schemeClr val="accent1"/>
                </a:solidFill>
                <a:latin typeface="微软雅黑" panose="020B0503020204020204" pitchFamily="34" charset="-122"/>
                <a:ea typeface="微软雅黑" panose="020B0503020204020204" pitchFamily="34" charset="-122"/>
              </a:rPr>
              <a:t>模式</a:t>
            </a:r>
            <a:endParaRPr lang="zh-CN" altLang="en-US" sz="54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722911" cy="68595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03031" y="24490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24.2</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6313103" y="1516058"/>
            <a:ext cx="5114664" cy="554038"/>
            <a:chOff x="6339097" y="1579613"/>
            <a:chExt cx="3744416" cy="554038"/>
          </a:xfrm>
        </p:grpSpPr>
        <p:sp>
          <p:nvSpPr>
            <p:cNvPr id="69" name="圆角矩形 68"/>
            <p:cNvSpPr/>
            <p:nvPr/>
          </p:nvSpPr>
          <p:spPr>
            <a:xfrm>
              <a:off x="6339097" y="1622147"/>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0" name="矩形 69"/>
            <p:cNvSpPr/>
            <p:nvPr/>
          </p:nvSpPr>
          <p:spPr>
            <a:xfrm>
              <a:off x="6723350" y="1579613"/>
              <a:ext cx="3202013"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4803031" y="3340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24.3</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6289221" y="2405662"/>
            <a:ext cx="5114664" cy="565542"/>
            <a:chOff x="6315199" y="2410178"/>
            <a:chExt cx="3744416" cy="565542"/>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4" name="矩形 73"/>
            <p:cNvSpPr/>
            <p:nvPr/>
          </p:nvSpPr>
          <p:spPr>
            <a:xfrm>
              <a:off x="6747248" y="2421682"/>
              <a:ext cx="265307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4803031" y="42320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24.4</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6313103" y="3306770"/>
            <a:ext cx="5114664" cy="554038"/>
            <a:chOff x="6339097" y="3285779"/>
            <a:chExt cx="3744416" cy="554038"/>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8" name="矩形 77"/>
            <p:cNvSpPr/>
            <p:nvPr/>
          </p:nvSpPr>
          <p:spPr>
            <a:xfrm>
              <a:off x="6723349" y="3285779"/>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38535" y="2219568"/>
            <a:ext cx="2806485" cy="1354243"/>
          </a:xfrm>
          <a:prstGeom prst="rect">
            <a:avLst/>
          </a:prstGeom>
          <a:noFill/>
        </p:spPr>
        <p:txBody>
          <a:bodyPr wrap="square" lIns="121880" tIns="60938" rIns="121880" bIns="60938">
            <a:spAutoFit/>
          </a:bodyPr>
          <a:lstStyle/>
          <a:p>
            <a:pPr algn="r">
              <a:defRPr/>
            </a:pPr>
            <a:r>
              <a:rPr lang="zh-CN" altLang="en-US" sz="4800" b="1" spc="200" dirty="0" smtClean="0">
                <a:solidFill>
                  <a:schemeClr val="bg1"/>
                </a:solidFill>
                <a:latin typeface="微软雅黑" panose="020B0503020204020204" pitchFamily="34" charset="-122"/>
                <a:ea typeface="微软雅黑" panose="020B0503020204020204" pitchFamily="34" charset="-122"/>
              </a:rPr>
              <a:t>目录</a:t>
            </a:r>
            <a:endParaRPr lang="en-US" altLang="zh-CN" sz="4800" b="1" spc="200" dirty="0">
              <a:solidFill>
                <a:schemeClr val="bg1"/>
              </a:solidFill>
              <a:latin typeface="微软雅黑" panose="020B0503020204020204" pitchFamily="34" charset="-122"/>
              <a:ea typeface="微软雅黑" panose="020B0503020204020204" pitchFamily="34" charset="-122"/>
            </a:endParaRPr>
          </a:p>
          <a:p>
            <a:pPr algn="r">
              <a:defRPr/>
            </a:pPr>
            <a:r>
              <a:rPr lang="en-US" altLang="zh-CN" sz="3200" b="1" spc="200" dirty="0">
                <a:solidFill>
                  <a:schemeClr val="bg1"/>
                </a:solidFill>
                <a:latin typeface="微软雅黑" panose="020B0503020204020204" pitchFamily="34" charset="-122"/>
                <a:ea typeface="微软雅黑" panose="020B0503020204020204" pitchFamily="34" charset="-122"/>
              </a:rPr>
              <a:t>CONTENTS</a:t>
            </a:r>
            <a:endParaRPr lang="zh-CN" altLang="en-US" sz="3200" b="1" spc="200" dirty="0">
              <a:solidFill>
                <a:schemeClr val="bg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4803031" y="5123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24.5</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18" name="组合 17"/>
          <p:cNvGrpSpPr/>
          <p:nvPr/>
        </p:nvGrpSpPr>
        <p:grpSpPr>
          <a:xfrm>
            <a:off x="6313103" y="4196374"/>
            <a:ext cx="5114664" cy="554038"/>
            <a:chOff x="6339097" y="3264311"/>
            <a:chExt cx="3744416" cy="554038"/>
          </a:xfrm>
        </p:grpSpPr>
        <p:sp>
          <p:nvSpPr>
            <p:cNvPr id="19" name="圆角矩形 18"/>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0" name="矩形 19"/>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圆角矩形 3"/>
          <p:cNvSpPr/>
          <p:nvPr/>
        </p:nvSpPr>
        <p:spPr>
          <a:xfrm>
            <a:off x="4010943" y="549474"/>
            <a:ext cx="6384830" cy="720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000" b="1" dirty="0" smtClean="0">
                <a:latin typeface="黑体" panose="02010609060101010101" pitchFamily="49" charset="-122"/>
                <a:ea typeface="黑体" panose="02010609060101010101" pitchFamily="49" charset="-122"/>
              </a:rPr>
              <a:t>24 </a:t>
            </a:r>
            <a:r>
              <a:rPr lang="zh-CN" altLang="en-US" sz="4000" b="1" dirty="0">
                <a:latin typeface="黑体" panose="02010609060101010101" pitchFamily="49" charset="-122"/>
                <a:ea typeface="黑体" panose="02010609060101010101" pitchFamily="49" charset="-122"/>
              </a:rPr>
              <a:t>状态</a:t>
            </a:r>
            <a:r>
              <a:rPr lang="zh-CN" altLang="en-US" sz="4000" b="1" dirty="0" smtClean="0">
                <a:latin typeface="黑体" panose="02010609060101010101" pitchFamily="49" charset="-122"/>
                <a:ea typeface="黑体" panose="02010609060101010101" pitchFamily="49" charset="-122"/>
              </a:rPr>
              <a:t>模式</a:t>
            </a:r>
            <a:endParaRPr lang="zh-CN" altLang="en-US" sz="4000" b="1" dirty="0">
              <a:latin typeface="黑体" panose="02010609060101010101" pitchFamily="49" charset="-122"/>
              <a:ea typeface="黑体" panose="02010609060101010101" pitchFamily="49" charset="-122"/>
            </a:endParaRPr>
          </a:p>
        </p:txBody>
      </p:sp>
      <p:grpSp>
        <p:nvGrpSpPr>
          <p:cNvPr id="22" name="组合 21"/>
          <p:cNvGrpSpPr/>
          <p:nvPr/>
        </p:nvGrpSpPr>
        <p:grpSpPr>
          <a:xfrm>
            <a:off x="6313103" y="5085978"/>
            <a:ext cx="5114664" cy="554038"/>
            <a:chOff x="6339097" y="3264311"/>
            <a:chExt cx="3744416" cy="554038"/>
          </a:xfrm>
        </p:grpSpPr>
        <p:sp>
          <p:nvSpPr>
            <p:cNvPr id="23" name="圆角矩形 22"/>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4" name="矩形 23"/>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5" name="圆角矩形 24"/>
          <p:cNvSpPr/>
          <p:nvPr/>
        </p:nvSpPr>
        <p:spPr>
          <a:xfrm>
            <a:off x="4803031" y="1557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24.1</a:t>
            </a:r>
            <a:endParaRPr lang="zh-CN" altLang="en-US" sz="3200" dirty="0">
              <a:latin typeface="+mj-lt"/>
              <a:ea typeface="Arial Unicode MS" panose="020B0604020202020204" pitchFamily="34" charset="-122"/>
              <a:cs typeface="Arial Unicode MS" panose="020B0604020202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14599" y="907221"/>
            <a:ext cx="10657184" cy="5909310"/>
          </a:xfrm>
          <a:prstGeom prst="rect">
            <a:avLst/>
          </a:prstGeom>
        </p:spPr>
        <p:txBody>
          <a:bodyPr wrap="square">
            <a:spAutoFit/>
          </a:bodyPr>
          <a:lstStyle/>
          <a:p>
            <a:pPr indent="457200">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状态模式（</a:t>
            </a:r>
            <a:r>
              <a:rPr lang="en-US" altLang="zh-CN" sz="2800" b="1" dirty="0">
                <a:solidFill>
                  <a:srgbClr val="FF0000"/>
                </a:solidFill>
                <a:latin typeface="微软雅黑" panose="020B0503020204020204" pitchFamily="34" charset="-122"/>
                <a:ea typeface="微软雅黑" panose="020B0503020204020204" pitchFamily="34" charset="-122"/>
              </a:rPr>
              <a:t>State Pattern</a:t>
            </a:r>
            <a:r>
              <a:rPr lang="zh-CN" altLang="en-US" sz="2800" b="1" dirty="0">
                <a:solidFill>
                  <a:srgbClr val="FF0000"/>
                </a:solidFill>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是一种较为复杂的行为型模式。它用于解决系统中</a:t>
            </a:r>
            <a:r>
              <a:rPr lang="zh-CN" altLang="en-US" sz="2800" b="1" dirty="0">
                <a:solidFill>
                  <a:srgbClr val="FF0000"/>
                </a:solidFill>
                <a:latin typeface="微软雅黑" panose="020B0503020204020204" pitchFamily="34" charset="-122"/>
                <a:ea typeface="微软雅黑" panose="020B0503020204020204" pitchFamily="34" charset="-122"/>
              </a:rPr>
              <a:t>复杂对象的状态转换</a:t>
            </a:r>
            <a:r>
              <a:rPr lang="zh-CN" altLang="en-US" sz="2800" b="1" dirty="0">
                <a:latin typeface="微软雅黑" panose="020B0503020204020204" pitchFamily="34" charset="-122"/>
                <a:ea typeface="微软雅黑" panose="020B0503020204020204" pitchFamily="34" charset="-122"/>
              </a:rPr>
              <a:t>以及</a:t>
            </a:r>
            <a:r>
              <a:rPr lang="zh-CN" altLang="en-US" sz="2800" b="1" dirty="0">
                <a:solidFill>
                  <a:srgbClr val="FF0000"/>
                </a:solidFill>
                <a:latin typeface="微软雅黑" panose="020B0503020204020204" pitchFamily="34" charset="-122"/>
                <a:ea typeface="微软雅黑" panose="020B0503020204020204" pitchFamily="34" charset="-122"/>
              </a:rPr>
              <a:t>不同状态下行为的封装问题</a:t>
            </a:r>
            <a:r>
              <a:rPr lang="zh-CN" altLang="en-US" sz="2800" b="1" dirty="0">
                <a:latin typeface="微软雅黑" panose="020B0503020204020204" pitchFamily="34" charset="-122"/>
                <a:ea typeface="微软雅黑" panose="020B0503020204020204" pitchFamily="34" charset="-122"/>
              </a:rPr>
              <a:t>。当系统中某个对象存在</a:t>
            </a:r>
            <a:r>
              <a:rPr lang="zh-CN" altLang="en-US" sz="2800" b="1" dirty="0">
                <a:solidFill>
                  <a:srgbClr val="FF0000"/>
                </a:solidFill>
                <a:latin typeface="微软雅黑" panose="020B0503020204020204" pitchFamily="34" charset="-122"/>
                <a:ea typeface="微软雅黑" panose="020B0503020204020204" pitchFamily="34" charset="-122"/>
              </a:rPr>
              <a:t>多个状态</a:t>
            </a:r>
            <a:r>
              <a:rPr lang="zh-CN" altLang="en-US" sz="2800" b="1" dirty="0">
                <a:latin typeface="微软雅黑" panose="020B0503020204020204" pitchFamily="34" charset="-122"/>
                <a:ea typeface="微软雅黑" panose="020B0503020204020204" pitchFamily="34" charset="-122"/>
              </a:rPr>
              <a:t>，这些状态之间可以进行转换，而且对象在</a:t>
            </a:r>
            <a:r>
              <a:rPr lang="zh-CN" altLang="en-US" sz="2800" b="1" dirty="0">
                <a:solidFill>
                  <a:srgbClr val="FF0000"/>
                </a:solidFill>
                <a:latin typeface="微软雅黑" panose="020B0503020204020204" pitchFamily="34" charset="-122"/>
                <a:ea typeface="微软雅黑" panose="020B0503020204020204" pitchFamily="34" charset="-122"/>
              </a:rPr>
              <a:t>不同状态下行为不相同</a:t>
            </a:r>
            <a:r>
              <a:rPr lang="zh-CN" altLang="en-US" sz="2800" b="1" dirty="0">
                <a:latin typeface="微软雅黑" panose="020B0503020204020204" pitchFamily="34" charset="-122"/>
                <a:ea typeface="微软雅黑" panose="020B0503020204020204" pitchFamily="34" charset="-122"/>
              </a:rPr>
              <a:t>时可以使用状态模式。状态模式</a:t>
            </a:r>
            <a:r>
              <a:rPr lang="zh-CN" altLang="en-US" sz="2800" b="1" dirty="0">
                <a:solidFill>
                  <a:srgbClr val="FF0000"/>
                </a:solidFill>
                <a:latin typeface="微软雅黑" panose="020B0503020204020204" pitchFamily="34" charset="-122"/>
                <a:ea typeface="微软雅黑" panose="020B0503020204020204" pitchFamily="34" charset="-122"/>
              </a:rPr>
              <a:t>将一个对象的状态从该对象中分离出来</a:t>
            </a:r>
            <a:r>
              <a:rPr lang="zh-CN" altLang="en-US" sz="2800" b="1" dirty="0">
                <a:latin typeface="微软雅黑" panose="020B0503020204020204" pitchFamily="34" charset="-122"/>
                <a:ea typeface="微软雅黑" panose="020B0503020204020204" pitchFamily="34" charset="-122"/>
              </a:rPr>
              <a:t>，使得其状态可以灵活变化，且对于客户端来说，用户无需关心对象状态的转换以及对象所处的当前状态，无论对于何种状态的对象，客户端都可以一致处理。</a:t>
            </a:r>
            <a:endParaRPr lang="zh-CN" altLang="en-US" sz="2800" b="1" dirty="0">
              <a:latin typeface="微软雅黑" panose="020B0503020204020204" pitchFamily="34" charset="-122"/>
              <a:ea typeface="微软雅黑" panose="020B0503020204020204" pitchFamily="34" charset="-122"/>
            </a:endParaRPr>
          </a:p>
          <a:p>
            <a:pPr indent="457200">
              <a:lnSpc>
                <a:spcPct val="150000"/>
              </a:lnSpc>
            </a:pPr>
            <a:r>
              <a:rPr lang="zh-CN" altLang="en-US" sz="2800" b="1" dirty="0" smtClean="0">
                <a:latin typeface="微软雅黑" panose="020B0503020204020204" pitchFamily="34" charset="-122"/>
                <a:ea typeface="微软雅黑" panose="020B0503020204020204" pitchFamily="34" charset="-122"/>
              </a:rPr>
              <a:t>状态</a:t>
            </a:r>
            <a:r>
              <a:rPr lang="zh-CN" altLang="en-US" sz="2800" b="1" dirty="0">
                <a:latin typeface="微软雅黑" panose="020B0503020204020204" pitchFamily="34" charset="-122"/>
                <a:ea typeface="微软雅黑" panose="020B0503020204020204" pitchFamily="34" charset="-122"/>
              </a:rPr>
              <a:t>模式又称为“状态对象（</a:t>
            </a:r>
            <a:r>
              <a:rPr lang="en-US" altLang="zh-CN" sz="2800" b="1" dirty="0">
                <a:latin typeface="微软雅黑" panose="020B0503020204020204" pitchFamily="34" charset="-122"/>
                <a:ea typeface="微软雅黑" panose="020B0503020204020204" pitchFamily="34" charset="-122"/>
              </a:rPr>
              <a:t>Object for States</a:t>
            </a:r>
            <a:r>
              <a:rPr lang="zh-CN" altLang="en-US" sz="2800" b="1" dirty="0">
                <a:latin typeface="微软雅黑" panose="020B0503020204020204" pitchFamily="34" charset="-122"/>
                <a:ea typeface="微软雅黑" panose="020B0503020204020204" pitchFamily="34" charset="-122"/>
              </a:rPr>
              <a:t>）”，它是一种对象行为型模式</a:t>
            </a:r>
            <a:r>
              <a:rPr lang="zh-CN" altLang="en-US"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599" y="2709714"/>
            <a:ext cx="10729192" cy="2031325"/>
          </a:xfrm>
          <a:prstGeom prst="rect">
            <a:avLst/>
          </a:prstGeom>
          <a:noFill/>
        </p:spPr>
        <p:txBody>
          <a:bodyPr wrap="square" rtlCol="0">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本章难点：</a:t>
            </a:r>
            <a:endParaRPr lang="en-US" altLang="zh-CN" sz="2800" b="1" dirty="0" smtClean="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、理解环境类的作用</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2</a:t>
            </a:r>
            <a:r>
              <a:rPr lang="zh-CN" altLang="en-US" sz="2800" dirty="0" smtClean="0">
                <a:latin typeface="微软雅黑" panose="020B0503020204020204" pitchFamily="34" charset="-122"/>
                <a:ea typeface="微软雅黑" panose="020B0503020204020204" pitchFamily="34" charset="-122"/>
              </a:rPr>
              <a:t>、理解</a:t>
            </a:r>
            <a:r>
              <a:rPr lang="zh-CN" altLang="en-US" sz="2800" dirty="0">
                <a:latin typeface="微软雅黑" panose="020B0503020204020204" pitchFamily="34" charset="-122"/>
                <a:ea typeface="微软雅黑" panose="020B0503020204020204" pitchFamily="34" charset="-122"/>
              </a:rPr>
              <a:t>如何将状态类从环境类中分离出来并实现状态的转换。</a:t>
            </a:r>
            <a:endParaRPr lang="zh-CN" altLang="en-US" sz="2800" dirty="0">
              <a:latin typeface="微软雅黑" panose="020B0503020204020204" pitchFamily="34" charset="-122"/>
              <a:ea typeface="微软雅黑" panose="020B0503020204020204" pitchFamily="34" charset="-122"/>
            </a:endParaRPr>
          </a:p>
        </p:txBody>
      </p:sp>
      <p:sp>
        <p:nvSpPr>
          <p:cNvPr id="3" name="TextBox 2"/>
          <p:cNvSpPr txBox="1"/>
          <p:nvPr/>
        </p:nvSpPr>
        <p:spPr>
          <a:xfrm>
            <a:off x="986607" y="1197546"/>
            <a:ext cx="10081120" cy="1384995"/>
          </a:xfrm>
          <a:prstGeom prst="rect">
            <a:avLst/>
          </a:prstGeom>
          <a:noFill/>
        </p:spPr>
        <p:txBody>
          <a:bodyPr wrap="square"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状态</a:t>
            </a:r>
            <a:r>
              <a:rPr lang="zh-CN" altLang="en-US" sz="2800" b="1" dirty="0" smtClean="0">
                <a:latin typeface="微软雅黑" panose="020B0503020204020204" pitchFamily="34" charset="-122"/>
                <a:ea typeface="微软雅黑" panose="020B0503020204020204" pitchFamily="34" charset="-122"/>
              </a:rPr>
              <a:t>模式</a:t>
            </a:r>
            <a:r>
              <a:rPr lang="zh-CN" altLang="en-US" sz="2800" b="1" dirty="0" smtClean="0">
                <a:latin typeface="微软雅黑" panose="020B0503020204020204" pitchFamily="34" charset="-122"/>
                <a:ea typeface="微软雅黑" panose="020B0503020204020204" pitchFamily="34" charset="-122"/>
              </a:rPr>
              <a:t>重要等级：</a:t>
            </a:r>
            <a:r>
              <a:rPr lang="zh-CN" altLang="zh-CN" sz="2800" b="1" kern="100" dirty="0" smtClean="0">
                <a:solidFill>
                  <a:srgbClr val="FF3300"/>
                </a:solidFill>
                <a:latin typeface="微软雅黑" panose="020B0503020204020204" pitchFamily="34" charset="-122"/>
                <a:ea typeface="微软雅黑" panose="020B0503020204020204" pitchFamily="34" charset="-122"/>
                <a:cs typeface="Times New Roman" panose="02020603050405020304"/>
              </a:rPr>
              <a:t>★★★☆☆</a:t>
            </a:r>
            <a:endParaRPr lang="en-US" altLang="zh-CN" sz="2800" b="1" kern="100" dirty="0" smtClean="0">
              <a:solidFill>
                <a:srgbClr val="FF3300"/>
              </a:solidFill>
              <a:latin typeface="微软雅黑" panose="020B0503020204020204" pitchFamily="34" charset="-122"/>
              <a:ea typeface="微软雅黑" panose="020B0503020204020204" pitchFamily="34" charset="-122"/>
              <a:cs typeface="Times New Roman" panose="02020603050405020304"/>
            </a:endParaRPr>
          </a:p>
          <a:p>
            <a:pPr>
              <a:lnSpc>
                <a:spcPct val="150000"/>
              </a:lnSpc>
            </a:pPr>
            <a:r>
              <a:rPr lang="zh-CN" altLang="en-US" sz="2800" b="1" dirty="0">
                <a:latin typeface="微软雅黑" panose="020B0503020204020204" pitchFamily="34" charset="-122"/>
                <a:ea typeface="微软雅黑" panose="020B0503020204020204" pitchFamily="34" charset="-122"/>
              </a:rPr>
              <a:t>状态</a:t>
            </a:r>
            <a:r>
              <a:rPr lang="zh-CN" altLang="en-US" sz="2800" b="1" dirty="0" smtClean="0">
                <a:latin typeface="微软雅黑" panose="020B0503020204020204" pitchFamily="34" charset="-122"/>
                <a:ea typeface="微软雅黑" panose="020B0503020204020204" pitchFamily="34" charset="-122"/>
              </a:rPr>
              <a:t>模式</a:t>
            </a:r>
            <a:r>
              <a:rPr lang="zh-CN" altLang="en-US" sz="2800" b="1" dirty="0" smtClean="0">
                <a:latin typeface="微软雅黑" panose="020B0503020204020204" pitchFamily="34" charset="-122"/>
                <a:ea typeface="微软雅黑" panose="020B0503020204020204" pitchFamily="34" charset="-122"/>
              </a:rPr>
              <a:t>难度等级：</a:t>
            </a:r>
            <a:r>
              <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rPr>
              <a:t>★★★★☆</a:t>
            </a:r>
            <a:endPar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endParaRPr>
          </a:p>
        </p:txBody>
      </p:sp>
    </p:spTree>
  </p:cSld>
  <p:clrMapOvr>
    <a:masterClrMapping/>
  </p:clrMapOvr>
  <p:transition spd="slow" advTm="0">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236079" y="1174683"/>
            <a:ext cx="3414824" cy="131900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b="1" dirty="0" smtClean="0">
                <a:solidFill>
                  <a:srgbClr val="EC7328"/>
                </a:solidFill>
                <a:latin typeface="微软雅黑" panose="020B0503020204020204" pitchFamily="34" charset="-122"/>
                <a:ea typeface="微软雅黑" panose="020B0503020204020204" pitchFamily="34" charset="-122"/>
              </a:rPr>
              <a:t>人有悲欢离合</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p:txBody>
      </p:sp>
      <p:pic>
        <p:nvPicPr>
          <p:cNvPr id="7"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37830" y="1174682"/>
            <a:ext cx="7617929" cy="189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3071" y="3357786"/>
            <a:ext cx="4896544"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643679" y="693490"/>
            <a:ext cx="11144128" cy="52074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在</a:t>
            </a:r>
            <a:r>
              <a:rPr lang="zh-CN" altLang="en-US" sz="2800" dirty="0">
                <a:latin typeface="微软雅黑" panose="020B0503020204020204" pitchFamily="34" charset="-122"/>
                <a:ea typeface="微软雅黑" panose="020B0503020204020204" pitchFamily="34" charset="-122"/>
              </a:rPr>
              <a:t>软件系统中：</a:t>
            </a:r>
            <a:endParaRPr lang="zh-CN" altLang="en-US" sz="2800"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有些对象</a:t>
            </a:r>
            <a:r>
              <a:rPr lang="zh-CN" altLang="en-US" sz="2800" dirty="0">
                <a:solidFill>
                  <a:srgbClr val="EC7328"/>
                </a:solidFill>
                <a:latin typeface="微软雅黑" panose="020B0503020204020204" pitchFamily="34" charset="-122"/>
                <a:ea typeface="微软雅黑" panose="020B0503020204020204" pitchFamily="34" charset="-122"/>
              </a:rPr>
              <a:t>具有多种状态</a:t>
            </a:r>
            <a:endParaRPr lang="zh-CN" altLang="en-US" sz="2800" dirty="0">
              <a:solidFill>
                <a:srgbClr val="EC7328"/>
              </a:solidFill>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这些状态在某些情况下</a:t>
            </a:r>
            <a:r>
              <a:rPr lang="zh-CN" altLang="en-US" sz="2800" dirty="0">
                <a:solidFill>
                  <a:srgbClr val="EC7328"/>
                </a:solidFill>
                <a:latin typeface="微软雅黑" panose="020B0503020204020204" pitchFamily="34" charset="-122"/>
                <a:ea typeface="微软雅黑" panose="020B0503020204020204" pitchFamily="34" charset="-122"/>
              </a:rPr>
              <a:t>能够相互转换</a:t>
            </a:r>
            <a:endParaRPr lang="zh-CN" altLang="en-US" sz="2800" dirty="0">
              <a:solidFill>
                <a:srgbClr val="EC7328"/>
              </a:solidFill>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对象在不同的状态下将</a:t>
            </a:r>
            <a:r>
              <a:rPr lang="zh-CN" altLang="en-US" sz="2800" dirty="0">
                <a:solidFill>
                  <a:srgbClr val="EC7328"/>
                </a:solidFill>
                <a:latin typeface="微软雅黑" panose="020B0503020204020204" pitchFamily="34" charset="-122"/>
                <a:ea typeface="微软雅黑" panose="020B0503020204020204" pitchFamily="34" charset="-122"/>
              </a:rPr>
              <a:t>具有不同的行为</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smtClean="0">
                <a:solidFill>
                  <a:schemeClr val="accent1"/>
                </a:solidFill>
                <a:latin typeface="微软雅黑" panose="020B0503020204020204" pitchFamily="34" charset="-122"/>
                <a:ea typeface="微软雅黑" panose="020B0503020204020204" pitchFamily="34" charset="-122"/>
              </a:rPr>
              <a:t>传统做法</a:t>
            </a:r>
            <a:r>
              <a:rPr lang="zh-CN" altLang="en-US" sz="2800" dirty="0" smtClean="0">
                <a:latin typeface="微软雅黑" panose="020B0503020204020204" pitchFamily="34" charset="-122"/>
                <a:ea typeface="微软雅黑" panose="020B0503020204020204" pitchFamily="34" charset="-122"/>
              </a:rPr>
              <a:t>：使用复杂</a:t>
            </a:r>
            <a:r>
              <a:rPr lang="zh-CN" altLang="en-US" sz="2800" dirty="0">
                <a:latin typeface="微软雅黑" panose="020B0503020204020204" pitchFamily="34" charset="-122"/>
                <a:ea typeface="微软雅黑" panose="020B0503020204020204" pitchFamily="34" charset="-122"/>
              </a:rPr>
              <a:t>的</a:t>
            </a:r>
            <a:r>
              <a:rPr lang="zh-CN" altLang="en-US" sz="2800" dirty="0">
                <a:solidFill>
                  <a:srgbClr val="EC7328"/>
                </a:solidFill>
                <a:latin typeface="微软雅黑" panose="020B0503020204020204" pitchFamily="34" charset="-122"/>
                <a:ea typeface="微软雅黑" panose="020B0503020204020204" pitchFamily="34" charset="-122"/>
              </a:rPr>
              <a:t>条件判断语句</a:t>
            </a:r>
            <a:r>
              <a:rPr lang="zh-CN" altLang="en-US" sz="2800" dirty="0">
                <a:latin typeface="微软雅黑" panose="020B0503020204020204" pitchFamily="34" charset="-122"/>
                <a:ea typeface="微软雅黑" panose="020B0503020204020204" pitchFamily="34" charset="-122"/>
              </a:rPr>
              <a:t>来进行状态的判断和转换操作 </a:t>
            </a:r>
            <a:r>
              <a:rPr lang="en-US" altLang="zh-CN" sz="2800" dirty="0" smtClean="0">
                <a:latin typeface="微软雅黑" panose="020B0503020204020204" pitchFamily="34" charset="-122"/>
                <a:ea typeface="微软雅黑" panose="020B0503020204020204" pitchFamily="34" charset="-122"/>
                <a:sym typeface="Wingdings" panose="05000000000000000000" pitchFamily="2" charset="2"/>
              </a:rPr>
              <a:t></a:t>
            </a:r>
            <a:r>
              <a:rPr lang="zh-CN" altLang="en-US" sz="2800" dirty="0" smtClean="0">
                <a:latin typeface="微软雅黑" panose="020B0503020204020204" pitchFamily="34" charset="-122"/>
                <a:ea typeface="微软雅黑" panose="020B0503020204020204" pitchFamily="34" charset="-122"/>
              </a:rPr>
              <a:t> </a:t>
            </a:r>
            <a:r>
              <a:rPr lang="zh-CN" altLang="en-US" sz="2800" dirty="0">
                <a:solidFill>
                  <a:srgbClr val="EC7328"/>
                </a:solidFill>
                <a:latin typeface="微软雅黑" panose="020B0503020204020204" pitchFamily="34" charset="-122"/>
                <a:ea typeface="微软雅黑" panose="020B0503020204020204" pitchFamily="34" charset="-122"/>
              </a:rPr>
              <a:t>导致代码的可维护性和灵活性下降</a:t>
            </a:r>
            <a:r>
              <a:rPr lang="zh-CN" altLang="en-US" sz="2800" dirty="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sym typeface="Wingdings" panose="05000000000000000000" pitchFamily="2" charset="2"/>
              </a:rPr>
              <a:t></a:t>
            </a:r>
            <a:r>
              <a:rPr lang="zh-CN" altLang="en-US" sz="2800" dirty="0" smtClean="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出现新的状态时，</a:t>
            </a:r>
            <a:r>
              <a:rPr lang="zh-CN" altLang="en-US" sz="2800" dirty="0">
                <a:solidFill>
                  <a:srgbClr val="EC7328"/>
                </a:solidFill>
                <a:latin typeface="微软雅黑" panose="020B0503020204020204" pitchFamily="34" charset="-122"/>
                <a:ea typeface="微软雅黑" panose="020B0503020204020204" pitchFamily="34" charset="-122"/>
              </a:rPr>
              <a:t>代码的扩展性很差</a:t>
            </a:r>
            <a:r>
              <a:rPr lang="zh-CN" altLang="en-US" sz="2800" dirty="0">
                <a:latin typeface="微软雅黑" panose="020B0503020204020204" pitchFamily="34" charset="-122"/>
                <a:ea typeface="微软雅黑" panose="020B0503020204020204" pitchFamily="34" charset="-122"/>
              </a:rPr>
              <a:t>，客户端</a:t>
            </a:r>
            <a:r>
              <a:rPr lang="zh-CN" altLang="en-US" sz="2800" dirty="0" smtClean="0">
                <a:latin typeface="微软雅黑" panose="020B0503020204020204" pitchFamily="34" charset="-122"/>
                <a:ea typeface="微软雅黑" panose="020B0503020204020204" pitchFamily="34" charset="-122"/>
              </a:rPr>
              <a:t>代码需要</a:t>
            </a:r>
            <a:r>
              <a:rPr lang="zh-CN" altLang="en-US" sz="2800" dirty="0">
                <a:latin typeface="微软雅黑" panose="020B0503020204020204" pitchFamily="34" charset="-122"/>
                <a:ea typeface="微软雅黑" panose="020B0503020204020204" pitchFamily="34" charset="-122"/>
              </a:rPr>
              <a:t>进行相应的修改，</a:t>
            </a:r>
            <a:r>
              <a:rPr lang="zh-CN" altLang="en-US" sz="2800" dirty="0">
                <a:solidFill>
                  <a:srgbClr val="EC7328"/>
                </a:solidFill>
                <a:latin typeface="微软雅黑" panose="020B0503020204020204" pitchFamily="34" charset="-122"/>
                <a:ea typeface="微软雅黑" panose="020B0503020204020204" pitchFamily="34" charset="-122"/>
              </a:rPr>
              <a:t>违背了开闭</a:t>
            </a:r>
            <a:r>
              <a:rPr lang="zh-CN" altLang="en-US" sz="2800" dirty="0" smtClean="0">
                <a:solidFill>
                  <a:srgbClr val="EC7328"/>
                </a:solidFill>
                <a:latin typeface="微软雅黑" panose="020B0503020204020204" pitchFamily="34" charset="-122"/>
                <a:ea typeface="微软雅黑" panose="020B0503020204020204" pitchFamily="34" charset="-122"/>
              </a:rPr>
              <a:t>原则</a:t>
            </a:r>
            <a:endParaRPr lang="zh-CN" altLang="en-US" sz="2800" dirty="0">
              <a:solidFill>
                <a:srgbClr val="EC7328"/>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643679" y="693490"/>
            <a:ext cx="11144128" cy="52074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a:t>
            </a:r>
            <a:r>
              <a:rPr lang="zh-CN" altLang="en-US" sz="2800" b="1" dirty="0" smtClean="0">
                <a:latin typeface="微软雅黑" panose="020B0503020204020204" pitchFamily="34" charset="-122"/>
                <a:ea typeface="微软雅黑" panose="020B0503020204020204" pitchFamily="34" charset="-122"/>
              </a:rPr>
              <a:t>动机</a:t>
            </a:r>
            <a:endParaRPr lang="en-US" altLang="zh-CN" sz="2800" b="1" dirty="0" smtClean="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2964009" y="725748"/>
          <a:ext cx="8535766" cy="5974080"/>
        </p:xfrm>
        <a:graphic>
          <a:graphicData uri="http://schemas.openxmlformats.org/drawingml/2006/table">
            <a:tbl>
              <a:tblPr/>
              <a:tblGrid>
                <a:gridCol w="8535766"/>
              </a:tblGrid>
              <a:tr h="0">
                <a:tc>
                  <a:txBody>
                    <a:bodyPr/>
                    <a:lstStyle/>
                    <a:p>
                      <a:pPr algn="just">
                        <a:spcAft>
                          <a:spcPts val="0"/>
                        </a:spcAft>
                      </a:pPr>
                      <a:r>
                        <a:rPr lang="en-US" altLang="zh-CN" sz="2800" kern="100" dirty="0" smtClean="0">
                          <a:latin typeface="Times New Roman" panose="02020603050405020304" pitchFamily="18" charset="0"/>
                          <a:ea typeface="宋体" panose="02010600030101010101" pitchFamily="2" charset="-122"/>
                          <a:cs typeface="Times New Roman" panose="02020603050405020304" pitchFamily="18" charset="0"/>
                        </a:rPr>
                        <a:t>public class </a:t>
                      </a:r>
                      <a:r>
                        <a:rPr lang="en-US" altLang="zh-CN" sz="2800" kern="100" dirty="0" err="1" smtClean="0">
                          <a:latin typeface="Times New Roman" panose="02020603050405020304" pitchFamily="18" charset="0"/>
                          <a:ea typeface="宋体" panose="02010600030101010101" pitchFamily="2" charset="-122"/>
                          <a:cs typeface="Times New Roman" panose="02020603050405020304" pitchFamily="18" charset="0"/>
                        </a:rPr>
                        <a:t>TestXYZ</a:t>
                      </a:r>
                      <a:r>
                        <a:rPr lang="en-US" altLang="zh-CN" sz="2800" kern="100" dirty="0" smtClean="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800" kern="100" dirty="0" smtClean="0">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kern="1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kern="100" dirty="0" err="1" smtClean="0">
                          <a:latin typeface="Times New Roman" panose="02020603050405020304" pitchFamily="18" charset="0"/>
                          <a:ea typeface="宋体" panose="02010600030101010101" pitchFamily="2" charset="-122"/>
                          <a:cs typeface="Times New Roman" panose="02020603050405020304" pitchFamily="18" charset="0"/>
                        </a:rPr>
                        <a:t>int</a:t>
                      </a:r>
                      <a:r>
                        <a:rPr lang="en-US" altLang="zh-CN" sz="2800" kern="1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kern="100" dirty="0" err="1" smtClean="0">
                          <a:latin typeface="Times New Roman" panose="02020603050405020304" pitchFamily="18" charset="0"/>
                          <a:ea typeface="宋体" panose="02010600030101010101" pitchFamily="2" charset="-122"/>
                          <a:cs typeface="Times New Roman" panose="02020603050405020304" pitchFamily="18" charset="0"/>
                        </a:rPr>
                        <a:t>behaviour</a:t>
                      </a:r>
                      <a:r>
                        <a:rPr lang="en-US" altLang="zh-CN" sz="2800" kern="1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kern="100" dirty="0" smtClean="0">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省略</a:t>
                      </a:r>
                      <a:r>
                        <a:rPr lang="en-US"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Getter</a:t>
                      </a:r>
                      <a:r>
                        <a:rPr lang="zh-CN" altLang="en-US"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Setter</a:t>
                      </a:r>
                      <a:r>
                        <a:rPr lang="zh-CN" altLang="en-US"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方法</a:t>
                      </a:r>
                      <a:endParaRPr lang="zh-CN"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    public void </a:t>
                      </a:r>
                      <a:r>
                        <a:rPr lang="en-US" altLang="zh-CN" sz="2800" kern="100" dirty="0" err="1"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handleAll</a:t>
                      </a:r>
                      <a:r>
                        <a:rPr lang="en-US"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if (</a:t>
                      </a:r>
                      <a:r>
                        <a:rPr lang="en-US" altLang="zh-CN" sz="2800" b="1" kern="100" dirty="0" err="1"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behaviour</a:t>
                      </a: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 0)  { </a:t>
                      </a:r>
                      <a:endPar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//do something  }</a:t>
                      </a:r>
                      <a:endParaRPr lang="zh-CN"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else if (</a:t>
                      </a:r>
                      <a:r>
                        <a:rPr lang="en-US" altLang="zh-CN" sz="2800" b="1" kern="100" dirty="0" err="1"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behaviour</a:t>
                      </a: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 1) { </a:t>
                      </a:r>
                      <a:endPar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//do something  }</a:t>
                      </a:r>
                      <a:endParaRPr lang="zh-CN"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else if (</a:t>
                      </a:r>
                      <a:r>
                        <a:rPr lang="en-US" altLang="zh-CN" sz="2800" b="1" kern="100" dirty="0" err="1"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behaviour</a:t>
                      </a: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 2) { </a:t>
                      </a:r>
                      <a:endPar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//do something  }</a:t>
                      </a:r>
                      <a:endParaRPr lang="zh-CN"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rPr>
                        <a:t>some more else if ...</a:t>
                      </a:r>
                      <a:endParaRPr lang="zh-CN" altLang="zh-CN" sz="2800" b="1" kern="100" dirty="0" smtClean="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800" kern="1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en-US" altLang="zh-CN" sz="2800" kern="1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6F7"/>
                    </a:solidFill>
                  </a:tcPr>
                </a:tc>
              </a:tr>
            </a:tbl>
          </a:graphicData>
        </a:graphic>
      </p:graphicFrame>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643679" y="1197546"/>
            <a:ext cx="11144128" cy="5207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模式定义</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状态</a:t>
            </a:r>
            <a:r>
              <a:rPr lang="zh-CN" altLang="en-US" sz="2800" dirty="0">
                <a:latin typeface="微软雅黑" panose="020B0503020204020204" pitchFamily="34" charset="-122"/>
                <a:ea typeface="微软雅黑" panose="020B0503020204020204" pitchFamily="34" charset="-122"/>
              </a:rPr>
              <a:t>模式</a:t>
            </a:r>
            <a:r>
              <a:rPr lang="en-US" altLang="zh-CN" sz="2800" dirty="0">
                <a:latin typeface="微软雅黑" panose="020B0503020204020204" pitchFamily="34" charset="-122"/>
                <a:ea typeface="微软雅黑" panose="020B0503020204020204" pitchFamily="34" charset="-122"/>
              </a:rPr>
              <a:t>(State Pattern) </a:t>
            </a:r>
            <a:r>
              <a:rPr lang="zh-CN" altLang="en-US" sz="2800" dirty="0">
                <a:latin typeface="微软雅黑" panose="020B0503020204020204" pitchFamily="34" charset="-122"/>
                <a:ea typeface="微软雅黑" panose="020B0503020204020204" pitchFamily="34" charset="-122"/>
              </a:rPr>
              <a:t>：允许一个对象在其</a:t>
            </a:r>
            <a:r>
              <a:rPr lang="zh-CN" altLang="en-US" sz="2800" dirty="0">
                <a:solidFill>
                  <a:srgbClr val="EC7328"/>
                </a:solidFill>
                <a:latin typeface="微软雅黑" panose="020B0503020204020204" pitchFamily="34" charset="-122"/>
                <a:ea typeface="微软雅黑" panose="020B0503020204020204" pitchFamily="34" charset="-122"/>
              </a:rPr>
              <a:t>内部状态改变时改变它的行为</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EC7328"/>
                </a:solidFill>
                <a:latin typeface="微软雅黑" panose="020B0503020204020204" pitchFamily="34" charset="-122"/>
                <a:ea typeface="微软雅黑" panose="020B0503020204020204" pitchFamily="34" charset="-122"/>
              </a:rPr>
              <a:t>对象看起来似乎修改了它的类</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其</a:t>
            </a:r>
            <a:r>
              <a:rPr lang="zh-CN" altLang="en-US" sz="2800" dirty="0">
                <a:latin typeface="微软雅黑" panose="020B0503020204020204" pitchFamily="34" charset="-122"/>
                <a:ea typeface="微软雅黑" panose="020B0503020204020204" pitchFamily="34" charset="-122"/>
              </a:rPr>
              <a:t>别名为状态对象</a:t>
            </a:r>
            <a:r>
              <a:rPr lang="en-US" altLang="zh-CN" sz="2800" dirty="0">
                <a:latin typeface="微软雅黑" panose="020B0503020204020204" pitchFamily="34" charset="-122"/>
                <a:ea typeface="微软雅黑" panose="020B0503020204020204" pitchFamily="34" charset="-122"/>
              </a:rPr>
              <a:t>(Objects for States)</a:t>
            </a:r>
            <a:r>
              <a:rPr lang="zh-CN" altLang="en-US" sz="2800" dirty="0">
                <a:latin typeface="微软雅黑" panose="020B0503020204020204" pitchFamily="34" charset="-122"/>
                <a:ea typeface="微软雅黑" panose="020B0503020204020204" pitchFamily="34" charset="-122"/>
              </a:rPr>
              <a:t>，状态模式是一种</a:t>
            </a:r>
            <a:r>
              <a:rPr lang="zh-CN" altLang="en-US" sz="2800" dirty="0">
                <a:solidFill>
                  <a:srgbClr val="EC7328"/>
                </a:solidFill>
                <a:latin typeface="微软雅黑" panose="020B0503020204020204" pitchFamily="34" charset="-122"/>
                <a:ea typeface="微软雅黑" panose="020B0503020204020204" pitchFamily="34" charset="-122"/>
              </a:rPr>
              <a:t>对象行为型</a:t>
            </a:r>
            <a:r>
              <a:rPr lang="zh-CN" altLang="en-US" sz="2800" dirty="0" smtClean="0">
                <a:solidFill>
                  <a:srgbClr val="EC7328"/>
                </a:solidFill>
                <a:latin typeface="微软雅黑" panose="020B0503020204020204" pitchFamily="34" charset="-122"/>
                <a:ea typeface="微软雅黑" panose="020B0503020204020204" pitchFamily="34" charset="-122"/>
              </a:rPr>
              <a:t>模式</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7838" y="1557383"/>
            <a:ext cx="10477907" cy="479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内容占位符 2"/>
          <p:cNvSpPr txBox="1"/>
          <p:nvPr/>
        </p:nvSpPr>
        <p:spPr>
          <a:xfrm>
            <a:off x="1103175" y="782954"/>
            <a:ext cx="2259696" cy="6709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模式结构</a:t>
            </a:r>
            <a:endParaRPr lang="zh-CN" altLang="en-US" sz="2800" b="1" dirty="0">
              <a:latin typeface="微软雅黑" panose="020B0503020204020204" pitchFamily="34" charset="-122"/>
              <a:ea typeface="微软雅黑" panose="020B0503020204020204" pitchFamily="34" charset="-122"/>
            </a:endParaRPr>
          </a:p>
        </p:txBody>
      </p:sp>
      <p:sp>
        <p:nvSpPr>
          <p:cNvPr id="17" name="TextBox 16"/>
          <p:cNvSpPr txBox="1"/>
          <p:nvPr/>
        </p:nvSpPr>
        <p:spPr>
          <a:xfrm>
            <a:off x="338535" y="1674999"/>
            <a:ext cx="1288033"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环境类</a:t>
            </a:r>
            <a:endParaRPr lang="zh-CN" altLang="en-US" sz="2800" dirty="0">
              <a:latin typeface="微软雅黑" panose="020B0503020204020204" pitchFamily="34" charset="-122"/>
              <a:ea typeface="微软雅黑" panose="020B0503020204020204" pitchFamily="34" charset="-122"/>
            </a:endParaRPr>
          </a:p>
        </p:txBody>
      </p:sp>
      <p:sp>
        <p:nvSpPr>
          <p:cNvPr id="12" name="TextBox 11"/>
          <p:cNvSpPr txBox="1"/>
          <p:nvPr/>
        </p:nvSpPr>
        <p:spPr>
          <a:xfrm>
            <a:off x="8652687" y="1034163"/>
            <a:ext cx="2127008"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抽象状态类</a:t>
            </a:r>
            <a:endParaRPr lang="zh-CN" altLang="en-US" sz="2800" dirty="0">
              <a:latin typeface="微软雅黑" panose="020B0503020204020204" pitchFamily="34" charset="-122"/>
              <a:ea typeface="微软雅黑" panose="020B0503020204020204" pitchFamily="34" charset="-122"/>
            </a:endParaRPr>
          </a:p>
        </p:txBody>
      </p:sp>
      <p:sp>
        <p:nvSpPr>
          <p:cNvPr id="13" name="TextBox 12"/>
          <p:cNvSpPr txBox="1"/>
          <p:nvPr/>
        </p:nvSpPr>
        <p:spPr>
          <a:xfrm>
            <a:off x="8652687" y="3895053"/>
            <a:ext cx="2145922"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具体状态类</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69210"/>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典型的抽象状态类示例代码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580295" y="1485578"/>
          <a:ext cx="10991488" cy="1910588"/>
        </p:xfrm>
        <a:graphic>
          <a:graphicData uri="http://schemas.openxmlformats.org/drawingml/2006/table">
            <a:tbl>
              <a:tblPr/>
              <a:tblGrid>
                <a:gridCol w="10991488"/>
              </a:tblGrid>
              <a:tr h="1036637">
                <a:tc>
                  <a:txBody>
                    <a:bodyPr/>
                    <a:lstStyle/>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public abstract class State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声明抽象业务方法，不同的具体状态类可以有不同的实现</a:t>
                      </a:r>
                      <a:endPar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zh-CN" altLang="en-US"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public abstract void handle( );</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
        <p:nvSpPr>
          <p:cNvPr id="8" name="内容占位符 2"/>
          <p:cNvSpPr txBox="1"/>
          <p:nvPr/>
        </p:nvSpPr>
        <p:spPr>
          <a:xfrm>
            <a:off x="1003719" y="3461498"/>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典型的具体状态类示例代码</a:t>
            </a:r>
            <a:r>
              <a:rPr lang="zh-CN" altLang="en-US" sz="2800" dirty="0" smtClean="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9" name="表格 8"/>
          <p:cNvGraphicFramePr>
            <a:graphicFrameLocks noGrp="1"/>
          </p:cNvGraphicFramePr>
          <p:nvPr/>
        </p:nvGraphicFramePr>
        <p:xfrm>
          <a:off x="766663" y="4035162"/>
          <a:ext cx="10805120" cy="2379980"/>
        </p:xfrm>
        <a:graphic>
          <a:graphicData uri="http://schemas.openxmlformats.org/drawingml/2006/table">
            <a:tbl>
              <a:tblPr/>
              <a:tblGrid>
                <a:gridCol w="10805120"/>
              </a:tblGrid>
              <a:tr h="1036637">
                <a:tc>
                  <a:txBody>
                    <a:bodyPr/>
                    <a:lstStyle/>
                    <a:p>
                      <a:pPr marL="0" indent="0" algn="l" defTabSz="1219835" rtl="0" eaLnBrk="1" latinLnBrk="0" hangingPunct="1">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public class </a:t>
                      </a:r>
                      <a:r>
                        <a:rPr lang="en-US" altLang="zh-CN" sz="2800" b="1" kern="1200" dirty="0" err="1"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ConcreteState</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extends State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indent="0" algn="l" defTabSz="1219835" rtl="0" eaLnBrk="1" latinLnBrk="0" hangingPunct="1">
                        <a:lnSpc>
                          <a:spcPct val="110000"/>
                        </a:lnSpc>
                      </a:pP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public void handle</a:t>
                      </a: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indent="0" algn="l" defTabSz="1219835" rtl="0" eaLnBrk="1" latinLnBrk="0" hangingPunct="1">
                        <a:lnSpc>
                          <a:spcPct val="110000"/>
                        </a:lnSpc>
                      </a:pP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方法具体实现代码</a:t>
                      </a:r>
                      <a:endPar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indent="0" algn="l" defTabSz="1219835" rtl="0" eaLnBrk="1" latinLnBrk="0" hangingPunct="1">
                        <a:lnSpc>
                          <a:spcPct val="110000"/>
                        </a:lnSpc>
                      </a:pP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indent="0" algn="l" defTabSz="1219835" rtl="0" eaLnBrk="1" latinLnBrk="0" hangingPunct="1">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765498"/>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典型的环境类示例代码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652303" y="1197546"/>
          <a:ext cx="11207512" cy="5397500"/>
        </p:xfrm>
        <a:graphic>
          <a:graphicData uri="http://schemas.openxmlformats.org/drawingml/2006/table">
            <a:tbl>
              <a:tblPr/>
              <a:tblGrid>
                <a:gridCol w="11207512"/>
              </a:tblGrid>
              <a:tr h="4608512">
                <a:tc>
                  <a:txBody>
                    <a:bodyPr/>
                    <a:lstStyle/>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public class Context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32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private State </a:t>
                      </a:r>
                      <a:r>
                        <a:rPr lang="en-US" altLang="zh-CN" sz="3200" b="1" kern="1200" dirty="0" err="1"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state</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维持一个对抽象状态对象的引用</a:t>
                      </a:r>
                      <a:endPar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private </a:t>
                      </a:r>
                      <a:r>
                        <a:rPr lang="en-US" altLang="zh-CN" sz="2800" b="1" kern="1200" dirty="0" err="1"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value;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其他属性值，其变化可能会导致对象的状态变化</a:t>
                      </a:r>
                      <a:endPar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zh-CN" altLang="en-US" sz="32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public void </a:t>
                      </a:r>
                      <a:r>
                        <a:rPr lang="en-US" altLang="zh-CN" sz="3200" b="1" kern="1200" dirty="0" err="1"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setState</a:t>
                      </a: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(State state) {</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b="1" kern="1200" dirty="0" err="1"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this.state</a:t>
                      </a: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 state;</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public void request()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zh-CN" altLang="en-US" sz="32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b="1" kern="1200" dirty="0" err="1"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state.handle</a:t>
                      </a: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调用状态对象的业务方法</a:t>
                      </a:r>
                      <a:endPar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8735" y="1413570"/>
            <a:ext cx="8496944" cy="49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914599" y="837506"/>
            <a:ext cx="1996059" cy="523220"/>
          </a:xfrm>
          <a:prstGeom prst="rect">
            <a:avLst/>
          </a:prstGeom>
        </p:spPr>
        <p:txBody>
          <a:bodyPr wrap="none">
            <a:spAutoFit/>
          </a:bodyPr>
          <a:lstStyle/>
          <a:p>
            <a:pPr>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模式分析</a:t>
            </a:r>
            <a:endParaRPr lang="en-US" altLang="zh-CN" sz="2800" b="1"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69210"/>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房间类中存在示例代码（不使用状态模式）</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292263" y="1506214"/>
          <a:ext cx="5374864" cy="4659884"/>
        </p:xfrm>
        <a:graphic>
          <a:graphicData uri="http://schemas.openxmlformats.org/drawingml/2006/table">
            <a:tbl>
              <a:tblPr/>
              <a:tblGrid>
                <a:gridCol w="5374864"/>
              </a:tblGrid>
              <a:tr h="1036637">
                <a:tc>
                  <a:txBody>
                    <a:bodyPr/>
                    <a:lstStyle/>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if(state=="</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空闲</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if(</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预订房间</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预订操作</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state="</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已预订</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else if(</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住进房间</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入住操作</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state="</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已入住</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graphicFrame>
        <p:nvGraphicFramePr>
          <p:cNvPr id="8" name="表格 7"/>
          <p:cNvGraphicFramePr>
            <a:graphicFrameLocks noGrp="1"/>
          </p:cNvGraphicFramePr>
          <p:nvPr/>
        </p:nvGraphicFramePr>
        <p:xfrm>
          <a:off x="6268927" y="1434206"/>
          <a:ext cx="5374864" cy="4659884"/>
        </p:xfrm>
        <a:graphic>
          <a:graphicData uri="http://schemas.openxmlformats.org/drawingml/2006/table">
            <a:tbl>
              <a:tblPr/>
              <a:tblGrid>
                <a:gridCol w="5374864"/>
              </a:tblGrid>
              <a:tr h="1036637">
                <a:tc>
                  <a:txBody>
                    <a:bodyPr/>
                    <a:lstStyle/>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else if(state=="</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已预订</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if(</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住进房间</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入住操作</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state="</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已入住</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else if(</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取消预订</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取消操作</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state="</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空闲</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959159" y="837506"/>
            <a:ext cx="10036560" cy="5126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使用</a:t>
            </a:r>
            <a:r>
              <a:rPr lang="zh-CN" altLang="en-US" sz="2800" b="1" dirty="0" smtClean="0">
                <a:latin typeface="微软雅黑" panose="020B0503020204020204" pitchFamily="34" charset="-122"/>
                <a:ea typeface="微软雅黑" panose="020B0503020204020204" pitchFamily="34" charset="-122"/>
              </a:rPr>
              <a:t>状态模式</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602" y="1269554"/>
            <a:ext cx="11351221" cy="5133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69210"/>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重构示例代码（状态模式）</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580295" y="1485578"/>
          <a:ext cx="10991488" cy="5129276"/>
        </p:xfrm>
        <a:graphic>
          <a:graphicData uri="http://schemas.openxmlformats.org/drawingml/2006/table">
            <a:tbl>
              <a:tblPr/>
              <a:tblGrid>
                <a:gridCol w="10991488"/>
              </a:tblGrid>
              <a:tr h="1036637">
                <a:tc>
                  <a:txBody>
                    <a:bodyPr/>
                    <a:lstStyle/>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重构之后的“空闲状态类”示例代码</a:t>
                      </a:r>
                      <a:endPar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if(</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预订房间</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预订操作</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b="1" kern="1200" dirty="0" err="1"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context.setState</a:t>
                      </a: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(new </a:t>
                      </a:r>
                      <a:r>
                        <a:rPr lang="zh-CN" altLang="en-US"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已预订状态类</a:t>
                      </a: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else if(</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住进房间</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入住操作</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b="1" kern="1200" dirty="0" err="1"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context.setState</a:t>
                      </a: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(new </a:t>
                      </a:r>
                      <a:r>
                        <a:rPr lang="zh-CN" altLang="en-US"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已入住状态类</a:t>
                      </a:r>
                      <a:r>
                        <a:rPr lang="en-US" altLang="zh-CN" sz="28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800" b="1"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99663" y="1102675"/>
            <a:ext cx="11144128" cy="5207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模式分析</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用于解决系统中</a:t>
            </a:r>
            <a:r>
              <a:rPr lang="zh-CN" altLang="en-US" sz="2800" dirty="0">
                <a:solidFill>
                  <a:srgbClr val="EC7328"/>
                </a:solidFill>
                <a:latin typeface="微软雅黑" panose="020B0503020204020204" pitchFamily="34" charset="-122"/>
                <a:ea typeface="微软雅黑" panose="020B0503020204020204" pitchFamily="34" charset="-122"/>
              </a:rPr>
              <a:t>复杂对象的状态转换以及不同状态下行为的封装问题</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将一个对象的状态从该对象中分离出来</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EC7328"/>
                </a:solidFill>
                <a:latin typeface="微软雅黑" panose="020B0503020204020204" pitchFamily="34" charset="-122"/>
                <a:ea typeface="微软雅黑" panose="020B0503020204020204" pitchFamily="34" charset="-122"/>
              </a:rPr>
              <a:t>封装到专门的状态类中</a:t>
            </a:r>
            <a:r>
              <a:rPr lang="zh-CN" altLang="en-US" sz="2800" dirty="0">
                <a:latin typeface="微软雅黑" panose="020B0503020204020204" pitchFamily="34" charset="-122"/>
                <a:ea typeface="微软雅黑" panose="020B0503020204020204" pitchFamily="34" charset="-122"/>
              </a:rPr>
              <a:t>，使得对象状态可以灵活变化</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对于客户端而言，</a:t>
            </a:r>
            <a:r>
              <a:rPr lang="zh-CN" altLang="en-US" sz="2800" dirty="0">
                <a:solidFill>
                  <a:srgbClr val="EC7328"/>
                </a:solidFill>
                <a:latin typeface="微软雅黑" panose="020B0503020204020204" pitchFamily="34" charset="-122"/>
                <a:ea typeface="微软雅黑" panose="020B0503020204020204" pitchFamily="34" charset="-122"/>
              </a:rPr>
              <a:t>无须关心对象状态的转换以及对象所处的当前状态</a:t>
            </a:r>
            <a:r>
              <a:rPr lang="zh-CN" altLang="en-US" sz="2800" dirty="0">
                <a:latin typeface="微软雅黑" panose="020B0503020204020204" pitchFamily="34" charset="-122"/>
                <a:ea typeface="微软雅黑" panose="020B0503020204020204" pitchFamily="34" charset="-122"/>
              </a:rPr>
              <a:t>，无论对于何种状态的对象，客户端都可以一致</a:t>
            </a:r>
            <a:r>
              <a:rPr lang="zh-CN" altLang="en-US" sz="2800" dirty="0" smtClean="0">
                <a:latin typeface="微软雅黑" panose="020B0503020204020204" pitchFamily="34" charset="-122"/>
                <a:ea typeface="微软雅黑" panose="020B0503020204020204" pitchFamily="34" charset="-122"/>
              </a:rPr>
              <a:t>处理</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66527" y="837506"/>
            <a:ext cx="11144128" cy="581608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          模式实例</a:t>
            </a:r>
            <a:r>
              <a:rPr lang="en-US" altLang="zh-CN" sz="2800" b="1" dirty="0" smtClean="0">
                <a:latin typeface="微软雅黑" panose="020B0503020204020204" pitchFamily="34" charset="-122"/>
                <a:ea typeface="微软雅黑" panose="020B0503020204020204" pitchFamily="34" charset="-122"/>
              </a:rPr>
              <a:t>1-</a:t>
            </a:r>
            <a:r>
              <a:rPr lang="zh-CN" altLang="en-US" sz="2800" b="1" dirty="0" smtClean="0">
                <a:latin typeface="微软雅黑" panose="020B0503020204020204" pitchFamily="34" charset="-122"/>
                <a:ea typeface="微软雅黑" panose="020B0503020204020204" pitchFamily="34" charset="-122"/>
              </a:rPr>
              <a:t>论坛</a:t>
            </a:r>
            <a:r>
              <a:rPr lang="zh-CN" altLang="en-US" sz="2800" b="1" dirty="0">
                <a:latin typeface="微软雅黑" panose="020B0503020204020204" pitchFamily="34" charset="-122"/>
                <a:ea typeface="微软雅黑" panose="020B0503020204020204" pitchFamily="34" charset="-122"/>
              </a:rPr>
              <a:t>用户等级：</a:t>
            </a:r>
            <a:r>
              <a:rPr lang="zh-CN" altLang="en-US" sz="2800" b="1" dirty="0" smtClean="0">
                <a:latin typeface="微软雅黑" panose="020B0503020204020204" pitchFamily="34" charset="-122"/>
                <a:ea typeface="微软雅黑" panose="020B0503020204020204" pitchFamily="34" charset="-122"/>
              </a:rPr>
              <a:t>实例说明</a:t>
            </a:r>
            <a:endParaRPr lang="zh-CN" altLang="en-US" sz="2800" b="1" dirty="0">
              <a:latin typeface="微软雅黑" panose="020B0503020204020204" pitchFamily="34" charset="-122"/>
              <a:ea typeface="微软雅黑" panose="020B0503020204020204" pitchFamily="34" charset="-122"/>
            </a:endParaRPr>
          </a:p>
          <a:p>
            <a:pPr marL="914400" lvl="1" indent="-457200" algn="l">
              <a:lnSpc>
                <a:spcPct val="150000"/>
              </a:lnSpc>
              <a:buClr>
                <a:srgbClr val="EC7328"/>
              </a:buClr>
              <a:buFont typeface="Wingdings" panose="05000000000000000000" pitchFamily="2" charset="2"/>
              <a:buChar char="ü"/>
            </a:pPr>
            <a:r>
              <a:rPr lang="zh-CN" altLang="en-US" sz="2600" dirty="0">
                <a:latin typeface="微软雅黑" panose="020B0503020204020204" pitchFamily="34" charset="-122"/>
                <a:ea typeface="微软雅黑" panose="020B0503020204020204" pitchFamily="34" charset="-122"/>
              </a:rPr>
              <a:t>在某论坛系统中，用户可以发表留言，发表留言将增加积分；用户也可以回复留言，回复留言也将增加积分；用户还可以下载文件，下载文件将扣除积分。该系统用户分为三个等级，分别是新手、高手和专家，这</a:t>
            </a:r>
            <a:r>
              <a:rPr lang="zh-CN" altLang="en-US" sz="2600" dirty="0">
                <a:solidFill>
                  <a:srgbClr val="FF0000"/>
                </a:solidFill>
                <a:latin typeface="微软雅黑" panose="020B0503020204020204" pitchFamily="34" charset="-122"/>
                <a:ea typeface="微软雅黑" panose="020B0503020204020204" pitchFamily="34" charset="-122"/>
              </a:rPr>
              <a:t>三个等级对应三种不同的状态</a:t>
            </a:r>
            <a:r>
              <a:rPr lang="zh-CN" altLang="en-US" sz="2600" dirty="0">
                <a:latin typeface="微软雅黑" panose="020B0503020204020204" pitchFamily="34" charset="-122"/>
                <a:ea typeface="微软雅黑" panose="020B0503020204020204" pitchFamily="34" charset="-122"/>
              </a:rPr>
              <a:t>，这三种状态分别定义如下：</a:t>
            </a:r>
            <a:endParaRPr lang="zh-CN" altLang="en-US" sz="2600" dirty="0">
              <a:latin typeface="微软雅黑" panose="020B0503020204020204" pitchFamily="34" charset="-122"/>
              <a:ea typeface="微软雅黑" panose="020B0503020204020204" pitchFamily="34" charset="-122"/>
            </a:endParaRPr>
          </a:p>
          <a:p>
            <a:pPr marL="914400" lvl="1" indent="-457200" algn="l">
              <a:lnSpc>
                <a:spcPct val="150000"/>
              </a:lnSpc>
              <a:buClr>
                <a:srgbClr val="EC7328"/>
              </a:buClr>
              <a:buFont typeface="Wingdings" panose="05000000000000000000" pitchFamily="2" charset="2"/>
              <a:buChar char="ü"/>
            </a:pPr>
            <a:r>
              <a:rPr lang="en-US" altLang="zh-CN" sz="2600" dirty="0">
                <a:latin typeface="微软雅黑" panose="020B0503020204020204" pitchFamily="34" charset="-122"/>
                <a:ea typeface="微软雅黑" panose="020B0503020204020204" pitchFamily="34" charset="-122"/>
              </a:rPr>
              <a:t>(1) </a:t>
            </a:r>
            <a:r>
              <a:rPr lang="zh-CN" altLang="en-US" sz="2600" dirty="0">
                <a:latin typeface="微软雅黑" panose="020B0503020204020204" pitchFamily="34" charset="-122"/>
                <a:ea typeface="微软雅黑" panose="020B0503020204020204" pitchFamily="34" charset="-122"/>
              </a:rPr>
              <a:t>如果积分</a:t>
            </a:r>
            <a:r>
              <a:rPr lang="zh-CN" altLang="en-US" sz="2600" dirty="0">
                <a:solidFill>
                  <a:srgbClr val="FF0000"/>
                </a:solidFill>
                <a:latin typeface="微软雅黑" panose="020B0503020204020204" pitchFamily="34" charset="-122"/>
                <a:ea typeface="微软雅黑" panose="020B0503020204020204" pitchFamily="34" charset="-122"/>
              </a:rPr>
              <a:t>小于</a:t>
            </a:r>
            <a:r>
              <a:rPr lang="en-US" altLang="zh-CN" sz="2600" dirty="0">
                <a:solidFill>
                  <a:srgbClr val="FF0000"/>
                </a:solidFill>
                <a:latin typeface="微软雅黑" panose="020B0503020204020204" pitchFamily="34" charset="-122"/>
                <a:ea typeface="微软雅黑" panose="020B0503020204020204" pitchFamily="34" charset="-122"/>
              </a:rPr>
              <a:t>100</a:t>
            </a:r>
            <a:r>
              <a:rPr lang="zh-CN" altLang="en-US" sz="2600" dirty="0">
                <a:solidFill>
                  <a:srgbClr val="FF0000"/>
                </a:solidFill>
                <a:latin typeface="微软雅黑" panose="020B0503020204020204" pitchFamily="34" charset="-122"/>
                <a:ea typeface="微软雅黑" panose="020B0503020204020204" pitchFamily="34" charset="-122"/>
              </a:rPr>
              <a:t>分，则为新手状态</a:t>
            </a:r>
            <a:r>
              <a:rPr lang="zh-CN" altLang="en-US" sz="2600" dirty="0">
                <a:latin typeface="微软雅黑" panose="020B0503020204020204" pitchFamily="34" charset="-122"/>
                <a:ea typeface="微软雅黑" panose="020B0503020204020204" pitchFamily="34" charset="-122"/>
              </a:rPr>
              <a:t>，用户可以发表留言、回复留言，但是不能下载文件。如果积分</a:t>
            </a:r>
            <a:r>
              <a:rPr lang="zh-CN" altLang="en-US" sz="2600" dirty="0">
                <a:solidFill>
                  <a:srgbClr val="FF0000"/>
                </a:solidFill>
                <a:latin typeface="微软雅黑" panose="020B0503020204020204" pitchFamily="34" charset="-122"/>
                <a:ea typeface="微软雅黑" panose="020B0503020204020204" pitchFamily="34" charset="-122"/>
              </a:rPr>
              <a:t>大于等于</a:t>
            </a:r>
            <a:r>
              <a:rPr lang="en-US" altLang="zh-CN" sz="2600" dirty="0">
                <a:solidFill>
                  <a:srgbClr val="FF0000"/>
                </a:solidFill>
                <a:latin typeface="微软雅黑" panose="020B0503020204020204" pitchFamily="34" charset="-122"/>
                <a:ea typeface="微软雅黑" panose="020B0503020204020204" pitchFamily="34" charset="-122"/>
              </a:rPr>
              <a:t>1000</a:t>
            </a:r>
            <a:r>
              <a:rPr lang="zh-CN" altLang="en-US" sz="2600" dirty="0">
                <a:solidFill>
                  <a:srgbClr val="FF0000"/>
                </a:solidFill>
                <a:latin typeface="微软雅黑" panose="020B0503020204020204" pitchFamily="34" charset="-122"/>
                <a:ea typeface="微软雅黑" panose="020B0503020204020204" pitchFamily="34" charset="-122"/>
              </a:rPr>
              <a:t>分，则转换为专家状态</a:t>
            </a:r>
            <a:r>
              <a:rPr lang="zh-CN" altLang="en-US" sz="2600" dirty="0">
                <a:latin typeface="微软雅黑" panose="020B0503020204020204" pitchFamily="34" charset="-122"/>
                <a:ea typeface="微软雅黑" panose="020B0503020204020204" pitchFamily="34" charset="-122"/>
              </a:rPr>
              <a:t>；如果</a:t>
            </a:r>
            <a:r>
              <a:rPr lang="zh-CN" altLang="en-US" sz="2600" dirty="0">
                <a:solidFill>
                  <a:srgbClr val="FF0000"/>
                </a:solidFill>
                <a:latin typeface="微软雅黑" panose="020B0503020204020204" pitchFamily="34" charset="-122"/>
                <a:ea typeface="微软雅黑" panose="020B0503020204020204" pitchFamily="34" charset="-122"/>
              </a:rPr>
              <a:t>积分大于等于</a:t>
            </a:r>
            <a:r>
              <a:rPr lang="en-US" altLang="zh-CN" sz="2600" dirty="0">
                <a:solidFill>
                  <a:srgbClr val="FF0000"/>
                </a:solidFill>
                <a:latin typeface="微软雅黑" panose="020B0503020204020204" pitchFamily="34" charset="-122"/>
                <a:ea typeface="微软雅黑" panose="020B0503020204020204" pitchFamily="34" charset="-122"/>
              </a:rPr>
              <a:t>100</a:t>
            </a:r>
            <a:r>
              <a:rPr lang="zh-CN" altLang="en-US" sz="2600" dirty="0">
                <a:solidFill>
                  <a:srgbClr val="FF0000"/>
                </a:solidFill>
                <a:latin typeface="微软雅黑" panose="020B0503020204020204" pitchFamily="34" charset="-122"/>
                <a:ea typeface="微软雅黑" panose="020B0503020204020204" pitchFamily="34" charset="-122"/>
              </a:rPr>
              <a:t>分，则转换为高手状态</a:t>
            </a:r>
            <a:r>
              <a:rPr lang="zh-CN" altLang="en-US" sz="2600" dirty="0" smtClean="0">
                <a:latin typeface="微软雅黑" panose="020B0503020204020204" pitchFamily="34" charset="-122"/>
                <a:ea typeface="微软雅黑" panose="020B0503020204020204" pitchFamily="34" charset="-122"/>
              </a:rPr>
              <a:t>。</a:t>
            </a:r>
            <a:endParaRPr lang="zh-CN" altLang="en-US" sz="26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66527" y="621482"/>
            <a:ext cx="11144128" cy="581608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          模式实例</a:t>
            </a:r>
            <a:r>
              <a:rPr lang="en-US" altLang="zh-CN" sz="2800" b="1" dirty="0" smtClean="0">
                <a:latin typeface="微软雅黑" panose="020B0503020204020204" pitchFamily="34" charset="-122"/>
                <a:ea typeface="微软雅黑" panose="020B0503020204020204" pitchFamily="34" charset="-122"/>
              </a:rPr>
              <a:t>1-</a:t>
            </a:r>
            <a:r>
              <a:rPr lang="zh-CN" altLang="en-US" sz="2800" b="1" dirty="0" smtClean="0">
                <a:latin typeface="微软雅黑" panose="020B0503020204020204" pitchFamily="34" charset="-122"/>
                <a:ea typeface="微软雅黑" panose="020B0503020204020204" pitchFamily="34" charset="-122"/>
              </a:rPr>
              <a:t>论坛</a:t>
            </a:r>
            <a:r>
              <a:rPr lang="zh-CN" altLang="en-US" sz="2800" b="1" dirty="0">
                <a:latin typeface="微软雅黑" panose="020B0503020204020204" pitchFamily="34" charset="-122"/>
                <a:ea typeface="微软雅黑" panose="020B0503020204020204" pitchFamily="34" charset="-122"/>
              </a:rPr>
              <a:t>用户等级：</a:t>
            </a:r>
            <a:r>
              <a:rPr lang="zh-CN" altLang="en-US" sz="2800" b="1" dirty="0" smtClean="0">
                <a:latin typeface="微软雅黑" panose="020B0503020204020204" pitchFamily="34" charset="-122"/>
                <a:ea typeface="微软雅黑" panose="020B0503020204020204" pitchFamily="34" charset="-122"/>
              </a:rPr>
              <a:t>实例</a:t>
            </a:r>
            <a:r>
              <a:rPr lang="zh-CN" altLang="en-US" sz="2800" b="1" dirty="0" smtClean="0">
                <a:latin typeface="微软雅黑" panose="020B0503020204020204" pitchFamily="34" charset="-122"/>
                <a:ea typeface="微软雅黑" panose="020B0503020204020204" pitchFamily="34" charset="-122"/>
              </a:rPr>
              <a:t>说明</a:t>
            </a:r>
            <a:endParaRPr lang="zh-CN" altLang="en-US" sz="2800" b="1" dirty="0">
              <a:latin typeface="微软雅黑" panose="020B0503020204020204" pitchFamily="34" charset="-122"/>
              <a:ea typeface="微软雅黑" panose="020B0503020204020204" pitchFamily="34" charset="-122"/>
            </a:endParaRPr>
          </a:p>
          <a:p>
            <a:pPr marL="914400" lvl="1" indent="-457200" algn="l">
              <a:lnSpc>
                <a:spcPct val="150000"/>
              </a:lnSpc>
              <a:spcBef>
                <a:spcPts val="0"/>
              </a:spcBef>
              <a:buClr>
                <a:srgbClr val="EC7328"/>
              </a:buClr>
              <a:buFont typeface="Wingdings" panose="05000000000000000000" pitchFamily="2" charset="2"/>
              <a:buChar char="ü"/>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如果积分大于等于</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分但小于</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分，则为</a:t>
            </a:r>
            <a:r>
              <a:rPr lang="zh-CN" altLang="en-US" sz="2400" dirty="0">
                <a:solidFill>
                  <a:srgbClr val="FF0000"/>
                </a:solidFill>
                <a:latin typeface="微软雅黑" panose="020B0503020204020204" pitchFamily="34" charset="-122"/>
                <a:ea typeface="微软雅黑" panose="020B0503020204020204" pitchFamily="34" charset="-122"/>
              </a:rPr>
              <a:t>高手状态，用户可以发表留言、回复留言，还可以下载文件，而且用户在发表留言时可以获取双倍积分</a:t>
            </a:r>
            <a:r>
              <a:rPr lang="zh-CN" altLang="en-US" sz="2400" dirty="0" smtClean="0">
                <a:solidFill>
                  <a:srgbClr val="FF0000"/>
                </a:solidFill>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积分</a:t>
            </a:r>
            <a:r>
              <a:rPr lang="zh-CN" altLang="en-US" sz="2400" dirty="0">
                <a:latin typeface="微软雅黑" panose="020B0503020204020204" pitchFamily="34" charset="-122"/>
                <a:ea typeface="微软雅黑" panose="020B0503020204020204" pitchFamily="34" charset="-122"/>
              </a:rPr>
              <a:t>小于</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分</a:t>
            </a:r>
            <a:r>
              <a:rPr lang="zh-CN" altLang="en-US" sz="2400" dirty="0" smtClean="0">
                <a:latin typeface="微软雅黑" panose="020B0503020204020204" pitchFamily="34" charset="-122"/>
                <a:ea typeface="微软雅黑" panose="020B0503020204020204" pitchFamily="34" charset="-122"/>
              </a:rPr>
              <a:t>，转换</a:t>
            </a:r>
            <a:r>
              <a:rPr lang="zh-CN" altLang="en-US" sz="2400" dirty="0">
                <a:latin typeface="微软雅黑" panose="020B0503020204020204" pitchFamily="34" charset="-122"/>
                <a:ea typeface="微软雅黑" panose="020B0503020204020204" pitchFamily="34" charset="-122"/>
              </a:rPr>
              <a:t>为新手状态；如果积分大于等于</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分，则转换为专家状态；如果下载文件后积分小于</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，则不能下载该文件。</a:t>
            </a:r>
            <a:endParaRPr lang="zh-CN" altLang="en-US" sz="2400" dirty="0">
              <a:latin typeface="微软雅黑" panose="020B0503020204020204" pitchFamily="34" charset="-122"/>
              <a:ea typeface="微软雅黑" panose="020B0503020204020204" pitchFamily="34" charset="-122"/>
            </a:endParaRPr>
          </a:p>
          <a:p>
            <a:pPr marL="914400" lvl="1" indent="-457200" algn="l">
              <a:lnSpc>
                <a:spcPct val="150000"/>
              </a:lnSpc>
              <a:spcBef>
                <a:spcPts val="0"/>
              </a:spcBef>
              <a:buClr>
                <a:srgbClr val="EC7328"/>
              </a:buClr>
              <a:buFont typeface="Wingdings" panose="05000000000000000000" pitchFamily="2" charset="2"/>
              <a:buChar char="ü"/>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如果积分大于等于</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分，则为</a:t>
            </a:r>
            <a:r>
              <a:rPr lang="zh-CN" altLang="en-US" sz="2400" dirty="0">
                <a:solidFill>
                  <a:srgbClr val="FF0000"/>
                </a:solidFill>
                <a:latin typeface="微软雅黑" panose="020B0503020204020204" pitchFamily="34" charset="-122"/>
                <a:ea typeface="微软雅黑" panose="020B0503020204020204" pitchFamily="34" charset="-122"/>
              </a:rPr>
              <a:t>专家状态，用户可以发表留言、回复留言和下载文件，用户除了在发表留言时可以获取双倍积分外，下载文件只扣除所需积分的一半</a:t>
            </a:r>
            <a:r>
              <a:rPr lang="zh-CN" altLang="en-US" sz="2400" dirty="0" smtClean="0">
                <a:latin typeface="微软雅黑" panose="020B0503020204020204" pitchFamily="34" charset="-122"/>
                <a:ea typeface="微软雅黑" panose="020B0503020204020204" pitchFamily="34" charset="-122"/>
              </a:rPr>
              <a:t>。积分</a:t>
            </a:r>
            <a:r>
              <a:rPr lang="zh-CN" altLang="en-US" sz="2400" dirty="0">
                <a:latin typeface="微软雅黑" panose="020B0503020204020204" pitchFamily="34" charset="-122"/>
                <a:ea typeface="微软雅黑" panose="020B0503020204020204" pitchFamily="34" charset="-122"/>
              </a:rPr>
              <a:t>小于</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分，则转换为新手状态</a:t>
            </a:r>
            <a:r>
              <a:rPr lang="zh-CN" altLang="en-US" sz="2400" dirty="0" smtClean="0">
                <a:latin typeface="微软雅黑" panose="020B0503020204020204" pitchFamily="34" charset="-122"/>
                <a:ea typeface="微软雅黑" panose="020B0503020204020204" pitchFamily="34" charset="-122"/>
              </a:rPr>
              <a:t>；积分</a:t>
            </a:r>
            <a:r>
              <a:rPr lang="zh-CN" altLang="en-US" sz="2400" dirty="0">
                <a:latin typeface="微软雅黑" panose="020B0503020204020204" pitchFamily="34" charset="-122"/>
                <a:ea typeface="微软雅黑" panose="020B0503020204020204" pitchFamily="34" charset="-122"/>
              </a:rPr>
              <a:t>小于</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分，但大于等于</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，则转换为高手状态；如果下载文件后积分小于</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，则不能下载该文件</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9536" y="1125538"/>
            <a:ext cx="11560279" cy="559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 name="Group 5"/>
          <p:cNvGrpSpPr/>
          <p:nvPr/>
        </p:nvGrpSpPr>
        <p:grpSpPr bwMode="auto">
          <a:xfrm>
            <a:off x="5002039" y="3233205"/>
            <a:ext cx="4193480" cy="2044450"/>
            <a:chOff x="2381" y="3283"/>
            <a:chExt cx="1361" cy="510"/>
          </a:xfrm>
        </p:grpSpPr>
        <p:pic>
          <p:nvPicPr>
            <p:cNvPr id="9" name="Picture 6" descr="gif00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2381" y="3283"/>
              <a:ext cx="2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2608" y="3505"/>
              <a:ext cx="1134" cy="146"/>
            </a:xfrm>
            <a:prstGeom prst="rect">
              <a:avLst/>
            </a:prstGeom>
            <a:noFill/>
            <a:ln w="9525">
              <a:noFill/>
              <a:miter lim="800000"/>
            </a:ln>
            <a:effectLst>
              <a:outerShdw dist="35921" dir="2700000" algn="ctr" rotWithShape="0">
                <a:schemeClr val="bg2"/>
              </a:outerShdw>
            </a:effectLst>
          </p:spPr>
          <p:txBody>
            <a:bodyPr>
              <a:spAutoFit/>
            </a:bodyPr>
            <a:lstStyle/>
            <a:p>
              <a:pPr>
                <a:spcBef>
                  <a:spcPct val="50000"/>
                </a:spcBef>
                <a:defRPr/>
              </a:pPr>
              <a:r>
                <a:rPr lang="zh-CN" altLang="en-US" sz="3200" b="1" dirty="0">
                  <a:solidFill>
                    <a:srgbClr val="44B3BE"/>
                  </a:solidFill>
                  <a:latin typeface="华文行楷" panose="02010800040101010101" pitchFamily="2" charset="-122"/>
                  <a:ea typeface="华文行楷" panose="02010800040101010101" pitchFamily="2" charset="-122"/>
                </a:rPr>
                <a:t>演示</a:t>
              </a:r>
              <a:r>
                <a:rPr lang="en-US" altLang="zh-CN" sz="3200" b="1" dirty="0">
                  <a:solidFill>
                    <a:srgbClr val="44B3BE"/>
                  </a:solidFill>
                  <a:latin typeface="Arial" panose="020B0604020202020204"/>
                  <a:ea typeface="华文行楷" panose="02010800040101010101" pitchFamily="2" charset="-122"/>
                </a:rPr>
                <a:t>……</a:t>
              </a:r>
              <a:endParaRPr lang="en-US" altLang="zh-CN" sz="3200" b="1" dirty="0">
                <a:solidFill>
                  <a:srgbClr val="44B3BE"/>
                </a:solidFill>
                <a:latin typeface="华文行楷" panose="02010800040101010101" pitchFamily="2" charset="-122"/>
                <a:ea typeface="华文行楷" panose="02010800040101010101" pitchFamily="2" charset="-122"/>
              </a:endParaRPr>
            </a:p>
          </p:txBody>
        </p:sp>
      </p:grpSp>
      <p:sp>
        <p:nvSpPr>
          <p:cNvPr id="11" name="内容占位符 2"/>
          <p:cNvSpPr txBox="1"/>
          <p:nvPr/>
        </p:nvSpPr>
        <p:spPr>
          <a:xfrm>
            <a:off x="1388207" y="909514"/>
            <a:ext cx="7735304" cy="2024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1</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论坛用户等级：</a:t>
            </a:r>
            <a:r>
              <a:rPr lang="zh-CN" altLang="en-US" sz="2800" dirty="0">
                <a:latin typeface="微软雅黑" panose="020B0503020204020204" pitchFamily="34" charset="-122"/>
                <a:ea typeface="微软雅黑" panose="020B0503020204020204" pitchFamily="34" charset="-122"/>
              </a:rPr>
              <a:t>参考代码</a:t>
            </a:r>
            <a:endParaRPr lang="en-US" altLang="zh-CN" sz="2800" dirty="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en-US" altLang="zh-CN" sz="2800" dirty="0" err="1">
                <a:latin typeface="微软雅黑" panose="020B0503020204020204" pitchFamily="34" charset="-122"/>
                <a:ea typeface="微软雅黑" panose="020B0503020204020204" pitchFamily="34" charset="-122"/>
              </a:rPr>
              <a:t>DesignPatterns</a:t>
            </a:r>
            <a:r>
              <a:rPr lang="zh-CN" altLang="en-US" sz="2800" dirty="0" smtClean="0">
                <a:latin typeface="微软雅黑" panose="020B0503020204020204" pitchFamily="34" charset="-122"/>
                <a:ea typeface="微软雅黑" panose="020B0503020204020204" pitchFamily="34" charset="-122"/>
              </a:rPr>
              <a:t>之</a:t>
            </a:r>
            <a:r>
              <a:rPr lang="en-US" altLang="zh-CN" sz="2800" dirty="0" smtClean="0">
                <a:latin typeface="微软雅黑" panose="020B0503020204020204" pitchFamily="34" charset="-122"/>
                <a:ea typeface="微软雅黑" panose="020B0503020204020204" pitchFamily="34" charset="-122"/>
              </a:rPr>
              <a:t>state</a:t>
            </a:r>
            <a:r>
              <a:rPr lang="zh-CN" altLang="en-US" sz="2800" dirty="0" smtClean="0">
                <a:latin typeface="微软雅黑" panose="020B0503020204020204" pitchFamily="34" charset="-122"/>
                <a:ea typeface="微软雅黑" panose="020B0503020204020204" pitchFamily="34" charset="-122"/>
              </a:rPr>
              <a:t>包</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99663" y="886651"/>
            <a:ext cx="11288144" cy="54954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信用卡</a:t>
            </a:r>
            <a:r>
              <a:rPr lang="zh-CN" altLang="en-US" sz="2800" b="1" dirty="0">
                <a:latin typeface="微软雅黑" panose="020B0503020204020204" pitchFamily="34" charset="-122"/>
                <a:ea typeface="微软雅黑" panose="020B0503020204020204" pitchFamily="34" charset="-122"/>
              </a:rPr>
              <a:t>业务系统：</a:t>
            </a:r>
            <a:r>
              <a:rPr lang="zh-CN" altLang="en-US" sz="2800" b="1" dirty="0">
                <a:latin typeface="微软雅黑" panose="020B0503020204020204" pitchFamily="34" charset="-122"/>
                <a:ea typeface="微软雅黑" panose="020B0503020204020204" pitchFamily="34" charset="-122"/>
              </a:rPr>
              <a:t>实例说明</a:t>
            </a:r>
            <a:endParaRPr lang="en-US" altLang="zh-CN" sz="2800" b="1" dirty="0">
              <a:latin typeface="微软雅黑" panose="020B0503020204020204" pitchFamily="34" charset="-122"/>
              <a:ea typeface="微软雅黑" panose="020B0503020204020204" pitchFamily="34" charset="-122"/>
            </a:endParaRPr>
          </a:p>
          <a:p>
            <a:pPr marL="914400" lvl="1" indent="-457200" algn="l">
              <a:lnSpc>
                <a:spcPct val="15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某软件公司要为一银行开发一套信用卡业务系统，银行账户</a:t>
            </a:r>
            <a:r>
              <a:rPr lang="en-US" altLang="zh-CN" sz="2800" dirty="0">
                <a:latin typeface="微软雅黑" panose="020B0503020204020204" pitchFamily="34" charset="-122"/>
                <a:ea typeface="微软雅黑" panose="020B0503020204020204" pitchFamily="34" charset="-122"/>
              </a:rPr>
              <a:t>(Account)</a:t>
            </a:r>
            <a:r>
              <a:rPr lang="zh-CN" altLang="en-US" sz="2800" dirty="0">
                <a:latin typeface="微软雅黑" panose="020B0503020204020204" pitchFamily="34" charset="-122"/>
                <a:ea typeface="微软雅黑" panose="020B0503020204020204" pitchFamily="34" charset="-122"/>
              </a:rPr>
              <a:t>是该系统的核心类之一，通过分析，该软件公司开发人员发现在系统中账户存在</a:t>
            </a:r>
            <a:r>
              <a:rPr lang="en-US" altLang="zh-CN" sz="2800" b="1" dirty="0">
                <a:latin typeface="微软雅黑" panose="020B0503020204020204" pitchFamily="34" charset="-122"/>
                <a:ea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rPr>
              <a:t>种状态</a:t>
            </a:r>
            <a:r>
              <a:rPr lang="zh-CN" altLang="en-US" sz="2800" dirty="0">
                <a:latin typeface="微软雅黑" panose="020B0503020204020204" pitchFamily="34" charset="-122"/>
                <a:ea typeface="微软雅黑" panose="020B0503020204020204" pitchFamily="34" charset="-122"/>
              </a:rPr>
              <a:t>，且在</a:t>
            </a:r>
            <a:r>
              <a:rPr lang="zh-CN" altLang="en-US" sz="2800" b="1" dirty="0">
                <a:latin typeface="微软雅黑" panose="020B0503020204020204" pitchFamily="34" charset="-122"/>
                <a:ea typeface="微软雅黑" panose="020B0503020204020204" pitchFamily="34" charset="-122"/>
              </a:rPr>
              <a:t>不同状态下账户存在不同的行为</a:t>
            </a:r>
            <a:r>
              <a:rPr lang="zh-CN" altLang="en-US" sz="2800" dirty="0">
                <a:latin typeface="微软雅黑" panose="020B0503020204020204" pitchFamily="34" charset="-122"/>
                <a:ea typeface="微软雅黑" panose="020B0503020204020204" pitchFamily="34" charset="-122"/>
              </a:rPr>
              <a:t>，具体说明如下：</a:t>
            </a:r>
            <a:endParaRPr lang="zh-CN" altLang="en-US" sz="2800" dirty="0">
              <a:latin typeface="微软雅黑" panose="020B0503020204020204" pitchFamily="34" charset="-122"/>
              <a:ea typeface="微软雅黑" panose="020B0503020204020204" pitchFamily="34" charset="-122"/>
            </a:endParaRPr>
          </a:p>
          <a:p>
            <a:pPr lvl="1" algn="l">
              <a:lnSpc>
                <a:spcPct val="150000"/>
              </a:lnSpc>
              <a:spcBef>
                <a:spcPts val="0"/>
              </a:spcBef>
              <a:buClr>
                <a:srgbClr val="EC7328"/>
              </a:buClr>
            </a:pPr>
            <a:r>
              <a:rPr lang="en-US" altLang="zh-CN" sz="2800" dirty="0">
                <a:latin typeface="微软雅黑" panose="020B0503020204020204" pitchFamily="34" charset="-122"/>
                <a:ea typeface="微软雅黑" panose="020B0503020204020204" pitchFamily="34" charset="-122"/>
              </a:rPr>
              <a:t>(1) </a:t>
            </a:r>
            <a:r>
              <a:rPr lang="zh-CN" altLang="en-US" sz="2800" dirty="0">
                <a:latin typeface="微软雅黑" panose="020B0503020204020204" pitchFamily="34" charset="-122"/>
                <a:ea typeface="微软雅黑" panose="020B0503020204020204" pitchFamily="34" charset="-122"/>
              </a:rPr>
              <a:t>如果账户中余额大于等于</a:t>
            </a:r>
            <a:r>
              <a:rPr lang="en-US" altLang="zh-CN" sz="2800" dirty="0">
                <a:latin typeface="微软雅黑" panose="020B0503020204020204" pitchFamily="34" charset="-122"/>
                <a:ea typeface="微软雅黑" panose="020B0503020204020204" pitchFamily="34" charset="-122"/>
              </a:rPr>
              <a:t>0</a:t>
            </a:r>
            <a:r>
              <a:rPr lang="zh-CN" altLang="en-US" sz="2800" dirty="0">
                <a:latin typeface="微软雅黑" panose="020B0503020204020204" pitchFamily="34" charset="-122"/>
                <a:ea typeface="微软雅黑" panose="020B0503020204020204" pitchFamily="34" charset="-122"/>
              </a:rPr>
              <a:t>，则账户的状态为</a:t>
            </a:r>
            <a:r>
              <a:rPr lang="zh-CN" altLang="en-US" sz="2800" b="1" dirty="0">
                <a:latin typeface="微软雅黑" panose="020B0503020204020204" pitchFamily="34" charset="-122"/>
                <a:ea typeface="微软雅黑" panose="020B0503020204020204" pitchFamily="34" charset="-122"/>
              </a:rPr>
              <a:t>正常状态</a:t>
            </a:r>
            <a:r>
              <a:rPr lang="en-US" altLang="zh-CN" sz="2800" dirty="0">
                <a:latin typeface="微软雅黑" panose="020B0503020204020204" pitchFamily="34" charset="-122"/>
                <a:ea typeface="微软雅黑" panose="020B0503020204020204" pitchFamily="34" charset="-122"/>
              </a:rPr>
              <a:t>(Normal State)</a:t>
            </a:r>
            <a:r>
              <a:rPr lang="zh-CN" altLang="en-US" sz="2800" dirty="0">
                <a:latin typeface="微软雅黑" panose="020B0503020204020204" pitchFamily="34" charset="-122"/>
                <a:ea typeface="微软雅黑" panose="020B0503020204020204" pitchFamily="34" charset="-122"/>
              </a:rPr>
              <a:t>，此时用户</a:t>
            </a:r>
            <a:r>
              <a:rPr lang="zh-CN" altLang="en-US" sz="2800" b="1" dirty="0">
                <a:latin typeface="微软雅黑" panose="020B0503020204020204" pitchFamily="34" charset="-122"/>
                <a:ea typeface="微软雅黑" panose="020B0503020204020204" pitchFamily="34" charset="-122"/>
              </a:rPr>
              <a:t>既可以</a:t>
            </a:r>
            <a:r>
              <a:rPr lang="zh-CN" altLang="en-US" sz="2800" dirty="0">
                <a:latin typeface="微软雅黑" panose="020B0503020204020204" pitchFamily="34" charset="-122"/>
                <a:ea typeface="微软雅黑" panose="020B0503020204020204" pitchFamily="34" charset="-122"/>
              </a:rPr>
              <a:t>向该账户</a:t>
            </a:r>
            <a:r>
              <a:rPr lang="zh-CN" altLang="en-US" sz="2800" b="1" dirty="0">
                <a:latin typeface="微软雅黑" panose="020B0503020204020204" pitchFamily="34" charset="-122"/>
                <a:ea typeface="微软雅黑" panose="020B0503020204020204" pitchFamily="34" charset="-122"/>
              </a:rPr>
              <a:t>存款也可以</a:t>
            </a:r>
            <a:r>
              <a:rPr lang="zh-CN" altLang="en-US" sz="2800" dirty="0">
                <a:latin typeface="微软雅黑" panose="020B0503020204020204" pitchFamily="34" charset="-122"/>
                <a:ea typeface="微软雅黑" panose="020B0503020204020204" pitchFamily="34" charset="-122"/>
              </a:rPr>
              <a:t>从该账户</a:t>
            </a:r>
            <a:r>
              <a:rPr lang="zh-CN" altLang="en-US" sz="2800" b="1" dirty="0">
                <a:latin typeface="微软雅黑" panose="020B0503020204020204" pitchFamily="34" charset="-122"/>
                <a:ea typeface="微软雅黑" panose="020B0503020204020204" pitchFamily="34" charset="-122"/>
              </a:rPr>
              <a:t>取款</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99663" y="886651"/>
            <a:ext cx="11288144" cy="578350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信用卡</a:t>
            </a:r>
            <a:r>
              <a:rPr lang="zh-CN" altLang="en-US" sz="2800" b="1" dirty="0">
                <a:latin typeface="微软雅黑" panose="020B0503020204020204" pitchFamily="34" charset="-122"/>
                <a:ea typeface="微软雅黑" panose="020B0503020204020204" pitchFamily="34" charset="-122"/>
              </a:rPr>
              <a:t>业务系统：</a:t>
            </a:r>
            <a:r>
              <a:rPr lang="zh-CN" altLang="en-US" sz="2800" b="1" dirty="0">
                <a:latin typeface="微软雅黑" panose="020B0503020204020204" pitchFamily="34" charset="-122"/>
                <a:ea typeface="微软雅黑" panose="020B0503020204020204" pitchFamily="34" charset="-122"/>
              </a:rPr>
              <a:t>实例说明</a:t>
            </a:r>
            <a:endParaRPr lang="en-US" altLang="zh-CN" sz="2800" b="1" dirty="0">
              <a:latin typeface="微软雅黑" panose="020B0503020204020204" pitchFamily="34" charset="-122"/>
              <a:ea typeface="微软雅黑" panose="020B0503020204020204" pitchFamily="34" charset="-122"/>
            </a:endParaRPr>
          </a:p>
          <a:p>
            <a:pPr lvl="1" algn="l">
              <a:lnSpc>
                <a:spcPct val="150000"/>
              </a:lnSpc>
              <a:spcBef>
                <a:spcPts val="0"/>
              </a:spcBef>
              <a:buClr>
                <a:srgbClr val="EC7328"/>
              </a:buClr>
            </a:pPr>
            <a:r>
              <a:rPr lang="en-US" altLang="zh-CN" sz="2800" dirty="0" smtClean="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 </a:t>
            </a:r>
            <a:r>
              <a:rPr lang="zh-CN" altLang="en-US" sz="2800" dirty="0">
                <a:latin typeface="微软雅黑" panose="020B0503020204020204" pitchFamily="34" charset="-122"/>
                <a:ea typeface="微软雅黑" panose="020B0503020204020204" pitchFamily="34" charset="-122"/>
              </a:rPr>
              <a:t>如果账户中余额小于</a:t>
            </a:r>
            <a:r>
              <a:rPr lang="en-US" altLang="zh-CN" sz="2800" dirty="0">
                <a:latin typeface="微软雅黑" panose="020B0503020204020204" pitchFamily="34" charset="-122"/>
                <a:ea typeface="微软雅黑" panose="020B0503020204020204" pitchFamily="34" charset="-122"/>
              </a:rPr>
              <a:t>0</a:t>
            </a:r>
            <a:r>
              <a:rPr lang="zh-CN" altLang="en-US" sz="2800" dirty="0">
                <a:latin typeface="微软雅黑" panose="020B0503020204020204" pitchFamily="34" charset="-122"/>
                <a:ea typeface="微软雅黑" panose="020B0503020204020204" pitchFamily="34" charset="-122"/>
              </a:rPr>
              <a:t>，并且大于</a:t>
            </a:r>
            <a:r>
              <a:rPr lang="en-US" altLang="zh-CN" sz="2800" dirty="0">
                <a:latin typeface="微软雅黑" panose="020B0503020204020204" pitchFamily="34" charset="-122"/>
                <a:ea typeface="微软雅黑" panose="020B0503020204020204" pitchFamily="34" charset="-122"/>
              </a:rPr>
              <a:t>-2000</a:t>
            </a:r>
            <a:r>
              <a:rPr lang="zh-CN" altLang="en-US" sz="2800" dirty="0">
                <a:latin typeface="微软雅黑" panose="020B0503020204020204" pitchFamily="34" charset="-122"/>
                <a:ea typeface="微软雅黑" panose="020B0503020204020204" pitchFamily="34" charset="-122"/>
              </a:rPr>
              <a:t>，则账户的状态为</a:t>
            </a:r>
            <a:r>
              <a:rPr lang="zh-CN" altLang="en-US" sz="2800" b="1" dirty="0">
                <a:latin typeface="微软雅黑" panose="020B0503020204020204" pitchFamily="34" charset="-122"/>
                <a:ea typeface="微软雅黑" panose="020B0503020204020204" pitchFamily="34" charset="-122"/>
              </a:rPr>
              <a:t>透支状态</a:t>
            </a:r>
            <a:r>
              <a:rPr lang="en-US" altLang="zh-CN" sz="2800" dirty="0">
                <a:latin typeface="微软雅黑" panose="020B0503020204020204" pitchFamily="34" charset="-122"/>
                <a:ea typeface="微软雅黑" panose="020B0503020204020204" pitchFamily="34" charset="-122"/>
              </a:rPr>
              <a:t>(Overdraft State)</a:t>
            </a:r>
            <a:r>
              <a:rPr lang="zh-CN" altLang="en-US" sz="2800" dirty="0">
                <a:latin typeface="微软雅黑" panose="020B0503020204020204" pitchFamily="34" charset="-122"/>
                <a:ea typeface="微软雅黑" panose="020B0503020204020204" pitchFamily="34" charset="-122"/>
              </a:rPr>
              <a:t>，此时用户</a:t>
            </a:r>
            <a:r>
              <a:rPr lang="zh-CN" altLang="en-US" sz="2800" b="1" dirty="0">
                <a:latin typeface="微软雅黑" panose="020B0503020204020204" pitchFamily="34" charset="-122"/>
                <a:ea typeface="微软雅黑" panose="020B0503020204020204" pitchFamily="34" charset="-122"/>
              </a:rPr>
              <a:t>既可以</a:t>
            </a:r>
            <a:r>
              <a:rPr lang="zh-CN" altLang="en-US" sz="2800" dirty="0">
                <a:latin typeface="微软雅黑" panose="020B0503020204020204" pitchFamily="34" charset="-122"/>
                <a:ea typeface="微软雅黑" panose="020B0503020204020204" pitchFamily="34" charset="-122"/>
              </a:rPr>
              <a:t>向该账户</a:t>
            </a:r>
            <a:r>
              <a:rPr lang="zh-CN" altLang="en-US" sz="2800" b="1" dirty="0">
                <a:latin typeface="微软雅黑" panose="020B0503020204020204" pitchFamily="34" charset="-122"/>
                <a:ea typeface="微软雅黑" panose="020B0503020204020204" pitchFamily="34" charset="-122"/>
              </a:rPr>
              <a:t>存款也可以</a:t>
            </a:r>
            <a:r>
              <a:rPr lang="zh-CN" altLang="en-US" sz="2800" dirty="0">
                <a:latin typeface="微软雅黑" panose="020B0503020204020204" pitchFamily="34" charset="-122"/>
                <a:ea typeface="微软雅黑" panose="020B0503020204020204" pitchFamily="34" charset="-122"/>
              </a:rPr>
              <a:t>从该账户</a:t>
            </a:r>
            <a:r>
              <a:rPr lang="zh-CN" altLang="en-US" sz="2800" b="1" dirty="0">
                <a:latin typeface="微软雅黑" panose="020B0503020204020204" pitchFamily="34" charset="-122"/>
                <a:ea typeface="微软雅黑" panose="020B0503020204020204" pitchFamily="34" charset="-122"/>
              </a:rPr>
              <a:t>取款</a:t>
            </a:r>
            <a:r>
              <a:rPr lang="zh-CN" altLang="en-US" sz="2800" dirty="0">
                <a:latin typeface="微软雅黑" panose="020B0503020204020204" pitchFamily="34" charset="-122"/>
                <a:ea typeface="微软雅黑" panose="020B0503020204020204" pitchFamily="34" charset="-122"/>
              </a:rPr>
              <a:t>，但需要按天</a:t>
            </a:r>
            <a:r>
              <a:rPr lang="zh-CN" altLang="en-US" sz="2800" b="1" dirty="0">
                <a:latin typeface="微软雅黑" panose="020B0503020204020204" pitchFamily="34" charset="-122"/>
                <a:ea typeface="微软雅黑" panose="020B0503020204020204" pitchFamily="34" charset="-122"/>
              </a:rPr>
              <a:t>计算利息</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lvl="1" algn="l">
              <a:lnSpc>
                <a:spcPct val="150000"/>
              </a:lnSpc>
              <a:spcBef>
                <a:spcPts val="0"/>
              </a:spcBef>
              <a:buClr>
                <a:srgbClr val="EC7328"/>
              </a:buClr>
            </a:pPr>
            <a:r>
              <a:rPr lang="en-US" altLang="zh-CN" sz="2800" dirty="0">
                <a:latin typeface="微软雅黑" panose="020B0503020204020204" pitchFamily="34" charset="-122"/>
                <a:ea typeface="微软雅黑" panose="020B0503020204020204" pitchFamily="34" charset="-122"/>
              </a:rPr>
              <a:t>(3) </a:t>
            </a:r>
            <a:r>
              <a:rPr lang="zh-CN" altLang="en-US" sz="2800" dirty="0">
                <a:latin typeface="微软雅黑" panose="020B0503020204020204" pitchFamily="34" charset="-122"/>
                <a:ea typeface="微软雅黑" panose="020B0503020204020204" pitchFamily="34" charset="-122"/>
              </a:rPr>
              <a:t>如果账户中余额等于</a:t>
            </a:r>
            <a:r>
              <a:rPr lang="en-US" altLang="zh-CN" sz="2800" dirty="0">
                <a:latin typeface="微软雅黑" panose="020B0503020204020204" pitchFamily="34" charset="-122"/>
                <a:ea typeface="微软雅黑" panose="020B0503020204020204" pitchFamily="34" charset="-122"/>
              </a:rPr>
              <a:t>-2000</a:t>
            </a:r>
            <a:r>
              <a:rPr lang="zh-CN" altLang="en-US" sz="2800" dirty="0">
                <a:latin typeface="微软雅黑" panose="020B0503020204020204" pitchFamily="34" charset="-122"/>
                <a:ea typeface="微软雅黑" panose="020B0503020204020204" pitchFamily="34" charset="-122"/>
              </a:rPr>
              <a:t>，那么账户的状态为</a:t>
            </a:r>
            <a:r>
              <a:rPr lang="zh-CN" altLang="en-US" sz="2800" b="1" dirty="0">
                <a:latin typeface="微软雅黑" panose="020B0503020204020204" pitchFamily="34" charset="-122"/>
                <a:ea typeface="微软雅黑" panose="020B0503020204020204" pitchFamily="34" charset="-122"/>
              </a:rPr>
              <a:t>受限状态</a:t>
            </a:r>
            <a:r>
              <a:rPr lang="en-US" altLang="zh-CN" sz="2800" dirty="0">
                <a:latin typeface="微软雅黑" panose="020B0503020204020204" pitchFamily="34" charset="-122"/>
                <a:ea typeface="微软雅黑" panose="020B0503020204020204" pitchFamily="34" charset="-122"/>
              </a:rPr>
              <a:t>(Restricted State)</a:t>
            </a:r>
            <a:r>
              <a:rPr lang="zh-CN" altLang="en-US" sz="2800" dirty="0">
                <a:latin typeface="微软雅黑" panose="020B0503020204020204" pitchFamily="34" charset="-122"/>
                <a:ea typeface="微软雅黑" panose="020B0503020204020204" pitchFamily="34" charset="-122"/>
              </a:rPr>
              <a:t>，此时用户</a:t>
            </a:r>
            <a:r>
              <a:rPr lang="zh-CN" altLang="en-US" sz="2800" b="1" dirty="0">
                <a:latin typeface="微软雅黑" panose="020B0503020204020204" pitchFamily="34" charset="-122"/>
                <a:ea typeface="微软雅黑" panose="020B0503020204020204" pitchFamily="34" charset="-122"/>
              </a:rPr>
              <a:t>只能</a:t>
            </a:r>
            <a:r>
              <a:rPr lang="zh-CN" altLang="en-US" sz="2800" dirty="0">
                <a:latin typeface="微软雅黑" panose="020B0503020204020204" pitchFamily="34" charset="-122"/>
                <a:ea typeface="微软雅黑" panose="020B0503020204020204" pitchFamily="34" charset="-122"/>
              </a:rPr>
              <a:t>向该账户</a:t>
            </a:r>
            <a:r>
              <a:rPr lang="zh-CN" altLang="en-US" sz="2800" b="1" dirty="0">
                <a:latin typeface="微软雅黑" panose="020B0503020204020204" pitchFamily="34" charset="-122"/>
                <a:ea typeface="微软雅黑" panose="020B0503020204020204" pitchFamily="34" charset="-122"/>
              </a:rPr>
              <a:t>存款</a:t>
            </a:r>
            <a:r>
              <a:rPr lang="zh-CN" altLang="en-US" sz="2800"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不能</a:t>
            </a:r>
            <a:r>
              <a:rPr lang="zh-CN" altLang="en-US" sz="2800" dirty="0">
                <a:latin typeface="微软雅黑" panose="020B0503020204020204" pitchFamily="34" charset="-122"/>
                <a:ea typeface="微软雅黑" panose="020B0503020204020204" pitchFamily="34" charset="-122"/>
              </a:rPr>
              <a:t>再从中</a:t>
            </a:r>
            <a:r>
              <a:rPr lang="zh-CN" altLang="en-US" sz="2800" b="1" dirty="0">
                <a:latin typeface="微软雅黑" panose="020B0503020204020204" pitchFamily="34" charset="-122"/>
                <a:ea typeface="微软雅黑" panose="020B0503020204020204" pitchFamily="34" charset="-122"/>
              </a:rPr>
              <a:t>取款</a:t>
            </a:r>
            <a:r>
              <a:rPr lang="zh-CN" altLang="en-US" sz="2800" dirty="0">
                <a:latin typeface="微软雅黑" panose="020B0503020204020204" pitchFamily="34" charset="-122"/>
                <a:ea typeface="微软雅黑" panose="020B0503020204020204" pitchFamily="34" charset="-122"/>
              </a:rPr>
              <a:t>，同时也将按天</a:t>
            </a:r>
            <a:r>
              <a:rPr lang="zh-CN" altLang="en-US" sz="2800" b="1" dirty="0">
                <a:latin typeface="微软雅黑" panose="020B0503020204020204" pitchFamily="34" charset="-122"/>
                <a:ea typeface="微软雅黑" panose="020B0503020204020204" pitchFamily="34" charset="-122"/>
              </a:rPr>
              <a:t>计算利息</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lvl="1" algn="l">
              <a:lnSpc>
                <a:spcPct val="150000"/>
              </a:lnSpc>
              <a:spcBef>
                <a:spcPts val="0"/>
              </a:spcBef>
              <a:buClr>
                <a:srgbClr val="EC7328"/>
              </a:buClr>
            </a:pPr>
            <a:r>
              <a:rPr lang="en-US" altLang="zh-CN" sz="2800" dirty="0">
                <a:latin typeface="微软雅黑" panose="020B0503020204020204" pitchFamily="34" charset="-122"/>
                <a:ea typeface="微软雅黑" panose="020B0503020204020204" pitchFamily="34" charset="-122"/>
              </a:rPr>
              <a:t>(4) </a:t>
            </a:r>
            <a:r>
              <a:rPr lang="zh-CN" altLang="en-US" sz="2800" b="1" dirty="0">
                <a:latin typeface="微软雅黑" panose="020B0503020204020204" pitchFamily="34" charset="-122"/>
                <a:ea typeface="微软雅黑" panose="020B0503020204020204" pitchFamily="34" charset="-122"/>
              </a:rPr>
              <a:t>根据余额的不同，以上</a:t>
            </a:r>
            <a:r>
              <a:rPr lang="en-US" altLang="zh-CN" sz="2800" b="1" dirty="0">
                <a:latin typeface="微软雅黑" panose="020B0503020204020204" pitchFamily="34" charset="-122"/>
                <a:ea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rPr>
              <a:t>种状态可发生相互转换</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lvl="1" algn="l">
              <a:lnSpc>
                <a:spcPct val="150000"/>
              </a:lnSpc>
              <a:spcBef>
                <a:spcPts val="0"/>
              </a:spcBef>
              <a:buClr>
                <a:srgbClr val="EC7328"/>
              </a:buClr>
            </a:pPr>
            <a:r>
              <a:rPr lang="zh-CN" altLang="en-US" sz="2800" dirty="0">
                <a:latin typeface="微软雅黑" panose="020B0503020204020204" pitchFamily="34" charset="-122"/>
                <a:ea typeface="微软雅黑" panose="020B0503020204020204" pitchFamily="34" charset="-122"/>
              </a:rPr>
              <a:t>现使用状态模式设计并实现银行账户状态的转换。</a:t>
            </a:r>
            <a:endParaRPr lang="zh-CN" altLang="en-US" sz="2800" dirty="0">
              <a:latin typeface="微软雅黑" panose="020B0503020204020204" pitchFamily="34" charset="-122"/>
              <a:ea typeface="微软雅黑" panose="020B0503020204020204" pitchFamily="34" charset="-122"/>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1058615" y="549474"/>
            <a:ext cx="10424048" cy="79208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信用卡业务系统</a:t>
            </a:r>
            <a:r>
              <a:rPr lang="zh-CN" altLang="en-US" sz="2800" dirty="0" smtClean="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实例</a:t>
            </a:r>
            <a:r>
              <a:rPr lang="zh-CN" altLang="en-US" sz="2800" dirty="0" smtClean="0">
                <a:latin typeface="微软雅黑" panose="020B0503020204020204" pitchFamily="34" charset="-122"/>
                <a:ea typeface="微软雅黑" panose="020B0503020204020204" pitchFamily="34" charset="-122"/>
              </a:rPr>
              <a:t>分析</a:t>
            </a:r>
            <a:endParaRPr lang="en-US" altLang="zh-CN" sz="2800" dirty="0" smtClean="0">
              <a:latin typeface="微软雅黑" panose="020B0503020204020204" pitchFamily="34" charset="-122"/>
              <a:ea typeface="微软雅黑" panose="020B0503020204020204" pitchFamily="34" charset="-122"/>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Group 12"/>
          <p:cNvGrpSpPr>
            <a:grpSpLocks noChangeAspect="1"/>
          </p:cNvGrpSpPr>
          <p:nvPr/>
        </p:nvGrpSpPr>
        <p:grpSpPr bwMode="auto">
          <a:xfrm>
            <a:off x="152399" y="1269554"/>
            <a:ext cx="11923439" cy="5590034"/>
            <a:chOff x="144" y="1584"/>
            <a:chExt cx="5520" cy="2379"/>
          </a:xfrm>
        </p:grpSpPr>
        <p:sp>
          <p:nvSpPr>
            <p:cNvPr id="7" name="AutoShape 11"/>
            <p:cNvSpPr>
              <a:spLocks noChangeAspect="1" noChangeArrowheads="1" noTextEdit="1"/>
            </p:cNvSpPr>
            <p:nvPr/>
          </p:nvSpPr>
          <p:spPr bwMode="auto">
            <a:xfrm>
              <a:off x="144" y="1584"/>
              <a:ext cx="5448" cy="2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Line 13"/>
            <p:cNvSpPr>
              <a:spLocks noChangeShapeType="1"/>
            </p:cNvSpPr>
            <p:nvPr/>
          </p:nvSpPr>
          <p:spPr bwMode="auto">
            <a:xfrm>
              <a:off x="1706" y="2143"/>
              <a:ext cx="2858"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Freeform 14"/>
            <p:cNvSpPr/>
            <p:nvPr/>
          </p:nvSpPr>
          <p:spPr bwMode="auto">
            <a:xfrm>
              <a:off x="3887" y="2125"/>
              <a:ext cx="77" cy="36"/>
            </a:xfrm>
            <a:custGeom>
              <a:avLst/>
              <a:gdLst>
                <a:gd name="T0" fmla="*/ 77 w 77"/>
                <a:gd name="T1" fmla="*/ 18 h 36"/>
                <a:gd name="T2" fmla="*/ 0 w 77"/>
                <a:gd name="T3" fmla="*/ 36 h 36"/>
                <a:gd name="T4" fmla="*/ 0 w 77"/>
                <a:gd name="T5" fmla="*/ 0 h 36"/>
                <a:gd name="T6" fmla="*/ 77 w 77"/>
                <a:gd name="T7" fmla="*/ 18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 h="36">
                  <a:moveTo>
                    <a:pt x="77" y="18"/>
                  </a:moveTo>
                  <a:lnTo>
                    <a:pt x="0" y="36"/>
                  </a:lnTo>
                  <a:lnTo>
                    <a:pt x="0" y="0"/>
                  </a:lnTo>
                  <a:lnTo>
                    <a:pt x="77" y="18"/>
                  </a:lnTo>
                  <a:close/>
                </a:path>
              </a:pathLst>
            </a:custGeom>
            <a:solidFill>
              <a:srgbClr val="000000"/>
            </a:solidFill>
            <a:ln w="0">
              <a:solidFill>
                <a:srgbClr val="000000"/>
              </a:solidFill>
              <a:prstDash val="solid"/>
              <a:round/>
            </a:ln>
          </p:spPr>
          <p:txBody>
            <a:bodyPr/>
            <a:lstStyle/>
            <a:p>
              <a:endParaRPr lang="zh-CN" altLang="en-US"/>
            </a:p>
          </p:txBody>
        </p:sp>
        <p:sp>
          <p:nvSpPr>
            <p:cNvPr id="11" name="Rectangle 15"/>
            <p:cNvSpPr>
              <a:spLocks noChangeArrowheads="1"/>
            </p:cNvSpPr>
            <p:nvPr/>
          </p:nvSpPr>
          <p:spPr bwMode="auto">
            <a:xfrm>
              <a:off x="2035" y="1929"/>
              <a:ext cx="190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200">
                  <a:solidFill>
                    <a:srgbClr val="000000"/>
                  </a:solidFill>
                  <a:latin typeface="Arial" panose="020B0604020202020204" pitchFamily="34" charset="0"/>
                  <a:ea typeface="宋体" panose="02010600030101010101" pitchFamily="2" charset="-122"/>
                </a:rPr>
                <a:t>withdraw</a:t>
              </a:r>
              <a:r>
                <a:rPr lang="zh-CN" altLang="zh-CN" sz="1200">
                  <a:solidFill>
                    <a:srgbClr val="000000"/>
                  </a:solidFill>
                  <a:latin typeface="Arial" panose="020B0604020202020204" pitchFamily="34" charset="0"/>
                  <a:ea typeface="宋体" panose="02010600030101010101" pitchFamily="2" charset="-122"/>
                </a:rPr>
                <a:t>[balance &gt; -2000 and balance &lt; 0]/ </a:t>
              </a:r>
              <a:endParaRPr lang="zh-CN" altLang="zh-CN" sz="1800">
                <a:solidFill>
                  <a:schemeClr val="tx1"/>
                </a:solidFill>
                <a:latin typeface="Arial" panose="020B0604020202020204" pitchFamily="34" charset="0"/>
                <a:ea typeface="宋体" panose="02010600030101010101" pitchFamily="2" charset="-122"/>
              </a:endParaRPr>
            </a:p>
          </p:txBody>
        </p:sp>
        <p:sp>
          <p:nvSpPr>
            <p:cNvPr id="12" name="Rectangle 16"/>
            <p:cNvSpPr>
              <a:spLocks noChangeArrowheads="1"/>
            </p:cNvSpPr>
            <p:nvPr/>
          </p:nvSpPr>
          <p:spPr bwMode="auto">
            <a:xfrm>
              <a:off x="2688" y="2042"/>
              <a:ext cx="44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200">
                  <a:solidFill>
                    <a:srgbClr val="000000"/>
                  </a:solidFill>
                  <a:latin typeface="Arial" panose="020B0604020202020204" pitchFamily="34" charset="0"/>
                  <a:ea typeface="宋体" panose="02010600030101010101" pitchFamily="2" charset="-122"/>
                </a:rPr>
                <a:t>w</a:t>
              </a:r>
              <a:r>
                <a:rPr lang="zh-CN" altLang="zh-CN" sz="1200">
                  <a:solidFill>
                    <a:srgbClr val="000000"/>
                  </a:solidFill>
                  <a:latin typeface="Arial" panose="020B0604020202020204" pitchFamily="34" charset="0"/>
                  <a:ea typeface="宋体" panose="02010600030101010101" pitchFamily="2" charset="-122"/>
                </a:rPr>
                <a:t>ithdraw</a:t>
              </a:r>
              <a:r>
                <a:rPr lang="en-US" altLang="zh-CN" sz="12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sp>
          <p:nvSpPr>
            <p:cNvPr id="13" name="Line 17"/>
            <p:cNvSpPr>
              <a:spLocks noChangeShapeType="1"/>
            </p:cNvSpPr>
            <p:nvPr/>
          </p:nvSpPr>
          <p:spPr bwMode="auto">
            <a:xfrm>
              <a:off x="1445" y="1685"/>
              <a:ext cx="6" cy="59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Freeform 18"/>
            <p:cNvSpPr/>
            <p:nvPr/>
          </p:nvSpPr>
          <p:spPr bwMode="auto">
            <a:xfrm>
              <a:off x="1427" y="1864"/>
              <a:ext cx="36" cy="77"/>
            </a:xfrm>
            <a:custGeom>
              <a:avLst/>
              <a:gdLst>
                <a:gd name="T0" fmla="*/ 18 w 36"/>
                <a:gd name="T1" fmla="*/ 77 h 77"/>
                <a:gd name="T2" fmla="*/ 0 w 36"/>
                <a:gd name="T3" fmla="*/ 0 h 77"/>
                <a:gd name="T4" fmla="*/ 36 w 36"/>
                <a:gd name="T5" fmla="*/ 0 h 77"/>
                <a:gd name="T6" fmla="*/ 18 w 36"/>
                <a:gd name="T7" fmla="*/ 77 h 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77">
                  <a:moveTo>
                    <a:pt x="18" y="77"/>
                  </a:moveTo>
                  <a:lnTo>
                    <a:pt x="0" y="0"/>
                  </a:lnTo>
                  <a:lnTo>
                    <a:pt x="36" y="0"/>
                  </a:lnTo>
                  <a:lnTo>
                    <a:pt x="18" y="77"/>
                  </a:lnTo>
                  <a:close/>
                </a:path>
              </a:pathLst>
            </a:custGeom>
            <a:solidFill>
              <a:srgbClr val="000000"/>
            </a:solidFill>
            <a:ln w="0">
              <a:solidFill>
                <a:srgbClr val="000000"/>
              </a:solidFill>
              <a:prstDash val="solid"/>
              <a:round/>
            </a:ln>
          </p:spPr>
          <p:txBody>
            <a:bodyPr/>
            <a:lstStyle/>
            <a:p>
              <a:endParaRPr lang="zh-CN" altLang="en-US"/>
            </a:p>
          </p:txBody>
        </p:sp>
        <p:sp>
          <p:nvSpPr>
            <p:cNvPr id="15" name="Line 19"/>
            <p:cNvSpPr>
              <a:spLocks noChangeShapeType="1"/>
            </p:cNvSpPr>
            <p:nvPr/>
          </p:nvSpPr>
          <p:spPr bwMode="auto">
            <a:xfrm flipH="1">
              <a:off x="1522" y="2339"/>
              <a:ext cx="268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Freeform 20"/>
            <p:cNvSpPr/>
            <p:nvPr/>
          </p:nvSpPr>
          <p:spPr bwMode="auto">
            <a:xfrm>
              <a:off x="1944" y="2322"/>
              <a:ext cx="83" cy="35"/>
            </a:xfrm>
            <a:custGeom>
              <a:avLst/>
              <a:gdLst>
                <a:gd name="T0" fmla="*/ 0 w 83"/>
                <a:gd name="T1" fmla="*/ 17 h 35"/>
                <a:gd name="T2" fmla="*/ 83 w 83"/>
                <a:gd name="T3" fmla="*/ 0 h 35"/>
                <a:gd name="T4" fmla="*/ 83 w 83"/>
                <a:gd name="T5" fmla="*/ 35 h 35"/>
                <a:gd name="T6" fmla="*/ 0 w 83"/>
                <a:gd name="T7" fmla="*/ 17 h 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35">
                  <a:moveTo>
                    <a:pt x="0" y="17"/>
                  </a:moveTo>
                  <a:lnTo>
                    <a:pt x="83" y="0"/>
                  </a:lnTo>
                  <a:lnTo>
                    <a:pt x="83" y="35"/>
                  </a:lnTo>
                  <a:lnTo>
                    <a:pt x="0" y="17"/>
                  </a:lnTo>
                  <a:close/>
                </a:path>
              </a:pathLst>
            </a:custGeom>
            <a:solidFill>
              <a:srgbClr val="000000"/>
            </a:solidFill>
            <a:ln w="0">
              <a:solidFill>
                <a:srgbClr val="000000"/>
              </a:solidFill>
              <a:prstDash val="solid"/>
              <a:round/>
            </a:ln>
          </p:spPr>
          <p:txBody>
            <a:bodyPr/>
            <a:lstStyle/>
            <a:p>
              <a:endParaRPr lang="zh-CN" altLang="en-US"/>
            </a:p>
          </p:txBody>
        </p:sp>
        <p:sp>
          <p:nvSpPr>
            <p:cNvPr id="17" name="Rectangle 21"/>
            <p:cNvSpPr>
              <a:spLocks noChangeArrowheads="1"/>
            </p:cNvSpPr>
            <p:nvPr/>
          </p:nvSpPr>
          <p:spPr bwMode="auto">
            <a:xfrm>
              <a:off x="2449" y="2336"/>
              <a:ext cx="13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200">
                  <a:solidFill>
                    <a:srgbClr val="000000"/>
                  </a:solidFill>
                  <a:latin typeface="Arial" panose="020B0604020202020204" pitchFamily="34" charset="0"/>
                  <a:ea typeface="宋体" panose="02010600030101010101" pitchFamily="2" charset="-122"/>
                </a:rPr>
                <a:t>deposit</a:t>
              </a:r>
              <a:r>
                <a:rPr lang="zh-CN" altLang="zh-CN" sz="1200">
                  <a:solidFill>
                    <a:srgbClr val="000000"/>
                  </a:solidFill>
                  <a:latin typeface="Arial" panose="020B0604020202020204" pitchFamily="34" charset="0"/>
                  <a:ea typeface="宋体" panose="02010600030101010101" pitchFamily="2" charset="-122"/>
                </a:rPr>
                <a:t>[balance &gt;= 0]/ deposit</a:t>
              </a:r>
              <a:r>
                <a:rPr lang="en-US" altLang="zh-CN" sz="12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sp>
          <p:nvSpPr>
            <p:cNvPr id="18" name="Freeform 22"/>
            <p:cNvSpPr/>
            <p:nvPr/>
          </p:nvSpPr>
          <p:spPr bwMode="auto">
            <a:xfrm>
              <a:off x="1261" y="2470"/>
              <a:ext cx="2073" cy="1261"/>
            </a:xfrm>
            <a:custGeom>
              <a:avLst/>
              <a:gdLst>
                <a:gd name="T0" fmla="*/ 0 w 2073"/>
                <a:gd name="T1" fmla="*/ 0 h 1261"/>
                <a:gd name="T2" fmla="*/ 0 w 2073"/>
                <a:gd name="T3" fmla="*/ 1261 h 1261"/>
                <a:gd name="T4" fmla="*/ 2073 w 2073"/>
                <a:gd name="T5" fmla="*/ 1261 h 1261"/>
                <a:gd name="T6" fmla="*/ 0 60000 65536"/>
                <a:gd name="T7" fmla="*/ 0 60000 65536"/>
                <a:gd name="T8" fmla="*/ 0 60000 65536"/>
              </a:gdLst>
              <a:ahLst/>
              <a:cxnLst>
                <a:cxn ang="T6">
                  <a:pos x="T0" y="T1"/>
                </a:cxn>
                <a:cxn ang="T7">
                  <a:pos x="T2" y="T3"/>
                </a:cxn>
                <a:cxn ang="T8">
                  <a:pos x="T4" y="T5"/>
                </a:cxn>
              </a:cxnLst>
              <a:rect l="0" t="0" r="r" b="b"/>
              <a:pathLst>
                <a:path w="2073" h="1261">
                  <a:moveTo>
                    <a:pt x="0" y="0"/>
                  </a:moveTo>
                  <a:lnTo>
                    <a:pt x="0" y="1261"/>
                  </a:lnTo>
                  <a:lnTo>
                    <a:pt x="2073" y="1261"/>
                  </a:lnTo>
                </a:path>
              </a:pathLst>
            </a:custGeom>
            <a:noFill/>
            <a:ln w="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Freeform 23"/>
            <p:cNvSpPr/>
            <p:nvPr/>
          </p:nvSpPr>
          <p:spPr bwMode="auto">
            <a:xfrm>
              <a:off x="2526" y="3713"/>
              <a:ext cx="78" cy="36"/>
            </a:xfrm>
            <a:custGeom>
              <a:avLst/>
              <a:gdLst>
                <a:gd name="T0" fmla="*/ 78 w 78"/>
                <a:gd name="T1" fmla="*/ 18 h 36"/>
                <a:gd name="T2" fmla="*/ 0 w 78"/>
                <a:gd name="T3" fmla="*/ 36 h 36"/>
                <a:gd name="T4" fmla="*/ 0 w 78"/>
                <a:gd name="T5" fmla="*/ 0 h 36"/>
                <a:gd name="T6" fmla="*/ 78 w 78"/>
                <a:gd name="T7" fmla="*/ 18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8" h="36">
                  <a:moveTo>
                    <a:pt x="78" y="18"/>
                  </a:moveTo>
                  <a:lnTo>
                    <a:pt x="0" y="36"/>
                  </a:lnTo>
                  <a:lnTo>
                    <a:pt x="0" y="0"/>
                  </a:lnTo>
                  <a:lnTo>
                    <a:pt x="78" y="18"/>
                  </a:lnTo>
                  <a:close/>
                </a:path>
              </a:pathLst>
            </a:custGeom>
            <a:solidFill>
              <a:srgbClr val="000000"/>
            </a:solidFill>
            <a:ln w="0">
              <a:solidFill>
                <a:srgbClr val="000000"/>
              </a:solidFill>
              <a:prstDash val="solid"/>
              <a:round/>
            </a:ln>
          </p:spPr>
          <p:txBody>
            <a:bodyPr/>
            <a:lstStyle/>
            <a:p>
              <a:endParaRPr lang="zh-CN" altLang="en-US"/>
            </a:p>
          </p:txBody>
        </p:sp>
        <p:sp>
          <p:nvSpPr>
            <p:cNvPr id="20" name="Rectangle 24"/>
            <p:cNvSpPr>
              <a:spLocks noChangeArrowheads="1"/>
            </p:cNvSpPr>
            <p:nvPr/>
          </p:nvSpPr>
          <p:spPr bwMode="auto">
            <a:xfrm>
              <a:off x="173" y="2950"/>
              <a:ext cx="168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200">
                  <a:solidFill>
                    <a:srgbClr val="000000"/>
                  </a:solidFill>
                  <a:latin typeface="Arial" panose="020B0604020202020204" pitchFamily="34" charset="0"/>
                  <a:ea typeface="宋体" panose="02010600030101010101" pitchFamily="2" charset="-122"/>
                </a:rPr>
                <a:t>withdraw</a:t>
              </a:r>
              <a:r>
                <a:rPr lang="zh-CN" altLang="zh-CN" sz="1200">
                  <a:solidFill>
                    <a:srgbClr val="000000"/>
                  </a:solidFill>
                  <a:latin typeface="Arial" panose="020B0604020202020204" pitchFamily="34" charset="0"/>
                  <a:ea typeface="宋体" panose="02010600030101010101" pitchFamily="2" charset="-122"/>
                </a:rPr>
                <a:t>[balance == -2000]/ withdraw</a:t>
              </a:r>
              <a:r>
                <a:rPr lang="en-US" altLang="zh-CN" sz="12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sp>
          <p:nvSpPr>
            <p:cNvPr id="21" name="Freeform 25"/>
            <p:cNvSpPr/>
            <p:nvPr/>
          </p:nvSpPr>
          <p:spPr bwMode="auto">
            <a:xfrm>
              <a:off x="3174" y="2417"/>
              <a:ext cx="1081" cy="981"/>
            </a:xfrm>
            <a:custGeom>
              <a:avLst/>
              <a:gdLst>
                <a:gd name="T0" fmla="*/ 1081 w 1081"/>
                <a:gd name="T1" fmla="*/ 0 h 981"/>
                <a:gd name="T2" fmla="*/ 1081 w 1081"/>
                <a:gd name="T3" fmla="*/ 981 h 981"/>
                <a:gd name="T4" fmla="*/ 0 w 1081"/>
                <a:gd name="T5" fmla="*/ 981 h 981"/>
                <a:gd name="T6" fmla="*/ 0 60000 65536"/>
                <a:gd name="T7" fmla="*/ 0 60000 65536"/>
                <a:gd name="T8" fmla="*/ 0 60000 65536"/>
              </a:gdLst>
              <a:ahLst/>
              <a:cxnLst>
                <a:cxn ang="T6">
                  <a:pos x="T0" y="T1"/>
                </a:cxn>
                <a:cxn ang="T7">
                  <a:pos x="T2" y="T3"/>
                </a:cxn>
                <a:cxn ang="T8">
                  <a:pos x="T4" y="T5"/>
                </a:cxn>
              </a:cxnLst>
              <a:rect l="0" t="0" r="r" b="b"/>
              <a:pathLst>
                <a:path w="1081" h="981">
                  <a:moveTo>
                    <a:pt x="1081" y="0"/>
                  </a:moveTo>
                  <a:lnTo>
                    <a:pt x="1081" y="981"/>
                  </a:lnTo>
                  <a:lnTo>
                    <a:pt x="0" y="981"/>
                  </a:lnTo>
                </a:path>
              </a:pathLst>
            </a:custGeom>
            <a:noFill/>
            <a:ln w="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 name="Freeform 26"/>
            <p:cNvSpPr/>
            <p:nvPr/>
          </p:nvSpPr>
          <p:spPr bwMode="auto">
            <a:xfrm>
              <a:off x="3703" y="3380"/>
              <a:ext cx="77" cy="36"/>
            </a:xfrm>
            <a:custGeom>
              <a:avLst/>
              <a:gdLst>
                <a:gd name="T0" fmla="*/ 0 w 77"/>
                <a:gd name="T1" fmla="*/ 18 h 36"/>
                <a:gd name="T2" fmla="*/ 77 w 77"/>
                <a:gd name="T3" fmla="*/ 0 h 36"/>
                <a:gd name="T4" fmla="*/ 77 w 77"/>
                <a:gd name="T5" fmla="*/ 36 h 36"/>
                <a:gd name="T6" fmla="*/ 0 w 77"/>
                <a:gd name="T7" fmla="*/ 18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 h="36">
                  <a:moveTo>
                    <a:pt x="0" y="18"/>
                  </a:moveTo>
                  <a:lnTo>
                    <a:pt x="77" y="0"/>
                  </a:lnTo>
                  <a:lnTo>
                    <a:pt x="77" y="36"/>
                  </a:lnTo>
                  <a:lnTo>
                    <a:pt x="0" y="18"/>
                  </a:lnTo>
                  <a:close/>
                </a:path>
              </a:pathLst>
            </a:custGeom>
            <a:solidFill>
              <a:srgbClr val="000000"/>
            </a:solidFill>
            <a:ln w="0">
              <a:solidFill>
                <a:srgbClr val="000000"/>
              </a:solidFill>
              <a:prstDash val="solid"/>
              <a:round/>
            </a:ln>
          </p:spPr>
          <p:txBody>
            <a:bodyPr/>
            <a:lstStyle/>
            <a:p>
              <a:endParaRPr lang="zh-CN" altLang="en-US"/>
            </a:p>
          </p:txBody>
        </p:sp>
        <p:sp>
          <p:nvSpPr>
            <p:cNvPr id="23" name="Rectangle 27"/>
            <p:cNvSpPr>
              <a:spLocks noChangeArrowheads="1"/>
            </p:cNvSpPr>
            <p:nvPr/>
          </p:nvSpPr>
          <p:spPr bwMode="auto">
            <a:xfrm>
              <a:off x="3195" y="2874"/>
              <a:ext cx="168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200">
                  <a:solidFill>
                    <a:srgbClr val="000000"/>
                  </a:solidFill>
                  <a:latin typeface="Arial" panose="020B0604020202020204" pitchFamily="34" charset="0"/>
                  <a:ea typeface="宋体" panose="02010600030101010101" pitchFamily="2" charset="-122"/>
                </a:rPr>
                <a:t>withdraw</a:t>
              </a:r>
              <a:r>
                <a:rPr lang="zh-CN" altLang="zh-CN" sz="1200">
                  <a:solidFill>
                    <a:srgbClr val="000000"/>
                  </a:solidFill>
                  <a:latin typeface="Arial" panose="020B0604020202020204" pitchFamily="34" charset="0"/>
                  <a:ea typeface="宋体" panose="02010600030101010101" pitchFamily="2" charset="-122"/>
                </a:rPr>
                <a:t>[balance == -2000]/ withdraw</a:t>
              </a:r>
              <a:r>
                <a:rPr lang="en-US" altLang="zh-CN" sz="12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sp>
          <p:nvSpPr>
            <p:cNvPr id="24" name="Freeform 28"/>
            <p:cNvSpPr/>
            <p:nvPr/>
          </p:nvSpPr>
          <p:spPr bwMode="auto">
            <a:xfrm>
              <a:off x="1671" y="2304"/>
              <a:ext cx="1117" cy="1183"/>
            </a:xfrm>
            <a:custGeom>
              <a:avLst/>
              <a:gdLst>
                <a:gd name="T0" fmla="*/ 1117 w 1117"/>
                <a:gd name="T1" fmla="*/ 1183 h 1183"/>
                <a:gd name="T2" fmla="*/ 0 w 1117"/>
                <a:gd name="T3" fmla="*/ 1183 h 1183"/>
                <a:gd name="T4" fmla="*/ 0 w 1117"/>
                <a:gd name="T5" fmla="*/ 0 h 1183"/>
                <a:gd name="T6" fmla="*/ 0 60000 65536"/>
                <a:gd name="T7" fmla="*/ 0 60000 65536"/>
                <a:gd name="T8" fmla="*/ 0 60000 65536"/>
              </a:gdLst>
              <a:ahLst/>
              <a:cxnLst>
                <a:cxn ang="T6">
                  <a:pos x="T0" y="T1"/>
                </a:cxn>
                <a:cxn ang="T7">
                  <a:pos x="T2" y="T3"/>
                </a:cxn>
                <a:cxn ang="T8">
                  <a:pos x="T4" y="T5"/>
                </a:cxn>
              </a:cxnLst>
              <a:rect l="0" t="0" r="r" b="b"/>
              <a:pathLst>
                <a:path w="1117" h="1183">
                  <a:moveTo>
                    <a:pt x="1117" y="1183"/>
                  </a:moveTo>
                  <a:lnTo>
                    <a:pt x="0" y="1183"/>
                  </a:lnTo>
                  <a:lnTo>
                    <a:pt x="0" y="0"/>
                  </a:lnTo>
                </a:path>
              </a:pathLst>
            </a:custGeom>
            <a:noFill/>
            <a:ln w="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Freeform 29"/>
            <p:cNvSpPr/>
            <p:nvPr/>
          </p:nvSpPr>
          <p:spPr bwMode="auto">
            <a:xfrm>
              <a:off x="1653" y="2512"/>
              <a:ext cx="36" cy="77"/>
            </a:xfrm>
            <a:custGeom>
              <a:avLst/>
              <a:gdLst>
                <a:gd name="T0" fmla="*/ 18 w 36"/>
                <a:gd name="T1" fmla="*/ 0 h 77"/>
                <a:gd name="T2" fmla="*/ 36 w 36"/>
                <a:gd name="T3" fmla="*/ 77 h 77"/>
                <a:gd name="T4" fmla="*/ 0 w 36"/>
                <a:gd name="T5" fmla="*/ 77 h 77"/>
                <a:gd name="T6" fmla="*/ 18 w 36"/>
                <a:gd name="T7" fmla="*/ 0 h 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77">
                  <a:moveTo>
                    <a:pt x="18" y="0"/>
                  </a:moveTo>
                  <a:lnTo>
                    <a:pt x="36" y="77"/>
                  </a:lnTo>
                  <a:lnTo>
                    <a:pt x="0" y="77"/>
                  </a:lnTo>
                  <a:lnTo>
                    <a:pt x="18" y="0"/>
                  </a:lnTo>
                  <a:close/>
                </a:path>
              </a:pathLst>
            </a:custGeom>
            <a:solidFill>
              <a:srgbClr val="000000"/>
            </a:solidFill>
            <a:ln w="0">
              <a:solidFill>
                <a:srgbClr val="000000"/>
              </a:solidFill>
              <a:prstDash val="solid"/>
              <a:round/>
            </a:ln>
          </p:spPr>
          <p:txBody>
            <a:bodyPr/>
            <a:lstStyle/>
            <a:p>
              <a:endParaRPr lang="zh-CN" altLang="en-US"/>
            </a:p>
          </p:txBody>
        </p:sp>
        <p:sp>
          <p:nvSpPr>
            <p:cNvPr id="26" name="Rectangle 30"/>
            <p:cNvSpPr>
              <a:spLocks noChangeArrowheads="1"/>
            </p:cNvSpPr>
            <p:nvPr/>
          </p:nvSpPr>
          <p:spPr bwMode="auto">
            <a:xfrm>
              <a:off x="1334" y="3148"/>
              <a:ext cx="13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200">
                  <a:solidFill>
                    <a:srgbClr val="000000"/>
                  </a:solidFill>
                  <a:latin typeface="Arial" panose="020B0604020202020204" pitchFamily="34" charset="0"/>
                  <a:ea typeface="宋体" panose="02010600030101010101" pitchFamily="2" charset="-122"/>
                </a:rPr>
                <a:t>deposit</a:t>
              </a:r>
              <a:r>
                <a:rPr lang="zh-CN" altLang="zh-CN" sz="1200">
                  <a:solidFill>
                    <a:srgbClr val="000000"/>
                  </a:solidFill>
                  <a:latin typeface="Arial" panose="020B0604020202020204" pitchFamily="34" charset="0"/>
                  <a:ea typeface="宋体" panose="02010600030101010101" pitchFamily="2" charset="-122"/>
                </a:rPr>
                <a:t>[balance &gt;= 0]/ deposit</a:t>
              </a:r>
              <a:r>
                <a:rPr lang="en-US" altLang="zh-CN" sz="12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sp>
          <p:nvSpPr>
            <p:cNvPr id="27" name="Freeform 31"/>
            <p:cNvSpPr/>
            <p:nvPr/>
          </p:nvSpPr>
          <p:spPr bwMode="auto">
            <a:xfrm>
              <a:off x="3518" y="2197"/>
              <a:ext cx="1414" cy="1546"/>
            </a:xfrm>
            <a:custGeom>
              <a:avLst/>
              <a:gdLst>
                <a:gd name="T0" fmla="*/ 0 w 1414"/>
                <a:gd name="T1" fmla="*/ 1546 h 1546"/>
                <a:gd name="T2" fmla="*/ 1414 w 1414"/>
                <a:gd name="T3" fmla="*/ 1546 h 1546"/>
                <a:gd name="T4" fmla="*/ 1414 w 1414"/>
                <a:gd name="T5" fmla="*/ 0 h 1546"/>
                <a:gd name="T6" fmla="*/ 0 60000 65536"/>
                <a:gd name="T7" fmla="*/ 0 60000 65536"/>
                <a:gd name="T8" fmla="*/ 0 60000 65536"/>
              </a:gdLst>
              <a:ahLst/>
              <a:cxnLst>
                <a:cxn ang="T6">
                  <a:pos x="T0" y="T1"/>
                </a:cxn>
                <a:cxn ang="T7">
                  <a:pos x="T2" y="T3"/>
                </a:cxn>
                <a:cxn ang="T8">
                  <a:pos x="T4" y="T5"/>
                </a:cxn>
              </a:cxnLst>
              <a:rect l="0" t="0" r="r" b="b"/>
              <a:pathLst>
                <a:path w="1414" h="1546">
                  <a:moveTo>
                    <a:pt x="0" y="1546"/>
                  </a:moveTo>
                  <a:lnTo>
                    <a:pt x="1414" y="1546"/>
                  </a:lnTo>
                  <a:lnTo>
                    <a:pt x="1414" y="0"/>
                  </a:lnTo>
                </a:path>
              </a:pathLst>
            </a:custGeom>
            <a:noFill/>
            <a:ln w="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 name="Freeform 32"/>
            <p:cNvSpPr/>
            <p:nvPr/>
          </p:nvSpPr>
          <p:spPr bwMode="auto">
            <a:xfrm>
              <a:off x="4915" y="2512"/>
              <a:ext cx="35" cy="77"/>
            </a:xfrm>
            <a:custGeom>
              <a:avLst/>
              <a:gdLst>
                <a:gd name="T0" fmla="*/ 17 w 35"/>
                <a:gd name="T1" fmla="*/ 0 h 77"/>
                <a:gd name="T2" fmla="*/ 35 w 35"/>
                <a:gd name="T3" fmla="*/ 77 h 77"/>
                <a:gd name="T4" fmla="*/ 0 w 35"/>
                <a:gd name="T5" fmla="*/ 77 h 77"/>
                <a:gd name="T6" fmla="*/ 17 w 35"/>
                <a:gd name="T7" fmla="*/ 0 h 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77">
                  <a:moveTo>
                    <a:pt x="17" y="0"/>
                  </a:moveTo>
                  <a:lnTo>
                    <a:pt x="35" y="77"/>
                  </a:lnTo>
                  <a:lnTo>
                    <a:pt x="0" y="77"/>
                  </a:lnTo>
                  <a:lnTo>
                    <a:pt x="17" y="0"/>
                  </a:lnTo>
                  <a:close/>
                </a:path>
              </a:pathLst>
            </a:custGeom>
            <a:solidFill>
              <a:srgbClr val="000000"/>
            </a:solidFill>
            <a:ln w="0">
              <a:solidFill>
                <a:srgbClr val="000000"/>
              </a:solidFill>
              <a:prstDash val="solid"/>
              <a:round/>
            </a:ln>
          </p:spPr>
          <p:txBody>
            <a:bodyPr/>
            <a:lstStyle/>
            <a:p>
              <a:endParaRPr lang="zh-CN" altLang="en-US"/>
            </a:p>
          </p:txBody>
        </p:sp>
        <p:sp>
          <p:nvSpPr>
            <p:cNvPr id="29" name="Rectangle 33"/>
            <p:cNvSpPr>
              <a:spLocks noChangeArrowheads="1"/>
            </p:cNvSpPr>
            <p:nvPr/>
          </p:nvSpPr>
          <p:spPr bwMode="auto">
            <a:xfrm>
              <a:off x="3832" y="3611"/>
              <a:ext cx="18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200">
                  <a:solidFill>
                    <a:srgbClr val="000000"/>
                  </a:solidFill>
                  <a:latin typeface="Arial" panose="020B0604020202020204" pitchFamily="34" charset="0"/>
                  <a:ea typeface="宋体" panose="02010600030101010101" pitchFamily="2" charset="-122"/>
                </a:rPr>
                <a:t>deposit</a:t>
              </a:r>
              <a:r>
                <a:rPr lang="zh-CN" altLang="zh-CN" sz="1200">
                  <a:solidFill>
                    <a:srgbClr val="000000"/>
                  </a:solidFill>
                  <a:latin typeface="Arial" panose="020B0604020202020204" pitchFamily="34" charset="0"/>
                  <a:ea typeface="宋体" panose="02010600030101010101" pitchFamily="2" charset="-122"/>
                </a:rPr>
                <a:t>[balance &gt; -2000 and balance &lt; 0]/ </a:t>
              </a:r>
              <a:endParaRPr lang="zh-CN" altLang="zh-CN" sz="1800">
                <a:solidFill>
                  <a:schemeClr val="tx1"/>
                </a:solidFill>
                <a:latin typeface="Arial" panose="020B0604020202020204" pitchFamily="34" charset="0"/>
                <a:ea typeface="宋体" panose="02010600030101010101" pitchFamily="2" charset="-122"/>
              </a:endParaRPr>
            </a:p>
          </p:txBody>
        </p:sp>
        <p:sp>
          <p:nvSpPr>
            <p:cNvPr id="30" name="Rectangle 34"/>
            <p:cNvSpPr>
              <a:spLocks noChangeArrowheads="1"/>
            </p:cNvSpPr>
            <p:nvPr/>
          </p:nvSpPr>
          <p:spPr bwMode="auto">
            <a:xfrm>
              <a:off x="4505" y="3724"/>
              <a:ext cx="37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en-US" altLang="zh-CN" sz="1200">
                  <a:solidFill>
                    <a:srgbClr val="000000"/>
                  </a:solidFill>
                  <a:latin typeface="Arial" panose="020B0604020202020204" pitchFamily="34" charset="0"/>
                  <a:ea typeface="宋体" panose="02010600030101010101" pitchFamily="2" charset="-122"/>
                </a:rPr>
                <a:t>d</a:t>
              </a:r>
              <a:r>
                <a:rPr lang="zh-CN" altLang="zh-CN" sz="1200">
                  <a:solidFill>
                    <a:srgbClr val="000000"/>
                  </a:solidFill>
                  <a:latin typeface="Arial" panose="020B0604020202020204" pitchFamily="34" charset="0"/>
                  <a:ea typeface="宋体" panose="02010600030101010101" pitchFamily="2" charset="-122"/>
                </a:rPr>
                <a:t>eposit</a:t>
              </a:r>
              <a:r>
                <a:rPr lang="en-US" altLang="zh-CN" sz="12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pic>
          <p:nvPicPr>
            <p:cNvPr id="31" name="Picture 3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1" y="1941"/>
              <a:ext cx="879"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AutoShape 36"/>
            <p:cNvSpPr>
              <a:spLocks noChangeArrowheads="1"/>
            </p:cNvSpPr>
            <p:nvPr/>
          </p:nvSpPr>
          <p:spPr bwMode="auto">
            <a:xfrm>
              <a:off x="1071" y="1941"/>
              <a:ext cx="873" cy="571"/>
            </a:xfrm>
            <a:prstGeom prst="roundRect">
              <a:avLst>
                <a:gd name="adj" fmla="val 12500"/>
              </a:avLst>
            </a:prstGeom>
            <a:noFill/>
            <a:ln w="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33" name="Rectangle 37"/>
            <p:cNvSpPr>
              <a:spLocks noChangeArrowheads="1"/>
            </p:cNvSpPr>
            <p:nvPr/>
          </p:nvSpPr>
          <p:spPr bwMode="auto">
            <a:xfrm>
              <a:off x="1219" y="1953"/>
              <a:ext cx="67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NormalState</a:t>
              </a:r>
              <a:endParaRPr lang="zh-CN" altLang="zh-CN" sz="1800">
                <a:solidFill>
                  <a:schemeClr val="tx1"/>
                </a:solidFill>
                <a:latin typeface="Arial" panose="020B0604020202020204" pitchFamily="34" charset="0"/>
                <a:ea typeface="宋体" panose="02010600030101010101" pitchFamily="2" charset="-122"/>
              </a:endParaRPr>
            </a:p>
          </p:txBody>
        </p:sp>
        <p:sp>
          <p:nvSpPr>
            <p:cNvPr id="34" name="Line 38"/>
            <p:cNvSpPr>
              <a:spLocks noChangeShapeType="1"/>
            </p:cNvSpPr>
            <p:nvPr/>
          </p:nvSpPr>
          <p:spPr bwMode="auto">
            <a:xfrm>
              <a:off x="1071" y="2096"/>
              <a:ext cx="873"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Rectangle 39"/>
            <p:cNvSpPr>
              <a:spLocks noChangeArrowheads="1"/>
            </p:cNvSpPr>
            <p:nvPr/>
          </p:nvSpPr>
          <p:spPr bwMode="auto">
            <a:xfrm>
              <a:off x="1136" y="2107"/>
              <a:ext cx="63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deposit</a:t>
              </a:r>
              <a:endParaRPr lang="zh-CN" altLang="zh-CN" sz="1800">
                <a:solidFill>
                  <a:schemeClr val="tx1"/>
                </a:solidFill>
                <a:latin typeface="Arial" panose="020B0604020202020204" pitchFamily="34" charset="0"/>
                <a:ea typeface="宋体" panose="02010600030101010101" pitchFamily="2" charset="-122"/>
              </a:endParaRPr>
            </a:p>
          </p:txBody>
        </p:sp>
        <p:sp>
          <p:nvSpPr>
            <p:cNvPr id="36" name="Rectangle 40"/>
            <p:cNvSpPr>
              <a:spLocks noChangeArrowheads="1"/>
            </p:cNvSpPr>
            <p:nvPr/>
          </p:nvSpPr>
          <p:spPr bwMode="auto">
            <a:xfrm>
              <a:off x="1136" y="2238"/>
              <a:ext cx="713"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withdraw</a:t>
              </a:r>
              <a:endParaRPr lang="zh-CN" altLang="zh-CN" sz="1800">
                <a:solidFill>
                  <a:schemeClr val="tx1"/>
                </a:solidFill>
                <a:latin typeface="Arial" panose="020B0604020202020204" pitchFamily="34" charset="0"/>
                <a:ea typeface="宋体" panose="02010600030101010101" pitchFamily="2" charset="-122"/>
              </a:endParaRPr>
            </a:p>
          </p:txBody>
        </p:sp>
        <p:sp>
          <p:nvSpPr>
            <p:cNvPr id="37" name="Rectangle 41"/>
            <p:cNvSpPr>
              <a:spLocks noChangeArrowheads="1"/>
            </p:cNvSpPr>
            <p:nvPr/>
          </p:nvSpPr>
          <p:spPr bwMode="auto">
            <a:xfrm>
              <a:off x="1136" y="2369"/>
              <a:ext cx="832"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stateCheck</a:t>
              </a:r>
              <a:endParaRPr lang="zh-CN" altLang="zh-CN" sz="1800">
                <a:solidFill>
                  <a:schemeClr val="tx1"/>
                </a:solidFill>
                <a:latin typeface="Arial" panose="020B0604020202020204" pitchFamily="34" charset="0"/>
                <a:ea typeface="宋体" panose="02010600030101010101" pitchFamily="2" charset="-122"/>
              </a:endParaRPr>
            </a:p>
          </p:txBody>
        </p:sp>
        <p:sp>
          <p:nvSpPr>
            <p:cNvPr id="38" name="Rectangle 42"/>
            <p:cNvSpPr>
              <a:spLocks noChangeArrowheads="1"/>
            </p:cNvSpPr>
            <p:nvPr/>
          </p:nvSpPr>
          <p:spPr bwMode="auto">
            <a:xfrm>
              <a:off x="1136" y="2494"/>
              <a:ext cx="143"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pic>
          <p:nvPicPr>
            <p:cNvPr id="39" name="Picture 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4" y="1810"/>
              <a:ext cx="1123" cy="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AutoShape 44"/>
            <p:cNvSpPr>
              <a:spLocks noChangeArrowheads="1"/>
            </p:cNvSpPr>
            <p:nvPr/>
          </p:nvSpPr>
          <p:spPr bwMode="auto">
            <a:xfrm>
              <a:off x="3964" y="1810"/>
              <a:ext cx="1117" cy="702"/>
            </a:xfrm>
            <a:prstGeom prst="roundRect">
              <a:avLst>
                <a:gd name="adj" fmla="val 12713"/>
              </a:avLst>
            </a:prstGeom>
            <a:noFill/>
            <a:ln w="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41" name="Rectangle 45"/>
            <p:cNvSpPr>
              <a:spLocks noChangeArrowheads="1"/>
            </p:cNvSpPr>
            <p:nvPr/>
          </p:nvSpPr>
          <p:spPr bwMode="auto">
            <a:xfrm>
              <a:off x="4184" y="1822"/>
              <a:ext cx="77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OverdraftState</a:t>
              </a:r>
              <a:endParaRPr lang="zh-CN" altLang="zh-CN" sz="1800">
                <a:solidFill>
                  <a:schemeClr val="tx1"/>
                </a:solidFill>
                <a:latin typeface="Arial" panose="020B0604020202020204" pitchFamily="34" charset="0"/>
                <a:ea typeface="宋体" panose="02010600030101010101" pitchFamily="2" charset="-122"/>
              </a:endParaRPr>
            </a:p>
          </p:txBody>
        </p:sp>
        <p:sp>
          <p:nvSpPr>
            <p:cNvPr id="42" name="Line 46"/>
            <p:cNvSpPr>
              <a:spLocks noChangeShapeType="1"/>
            </p:cNvSpPr>
            <p:nvPr/>
          </p:nvSpPr>
          <p:spPr bwMode="auto">
            <a:xfrm>
              <a:off x="3964" y="1965"/>
              <a:ext cx="111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 name="Rectangle 47"/>
            <p:cNvSpPr>
              <a:spLocks noChangeArrowheads="1"/>
            </p:cNvSpPr>
            <p:nvPr/>
          </p:nvSpPr>
          <p:spPr bwMode="auto">
            <a:xfrm>
              <a:off x="4035" y="1977"/>
              <a:ext cx="63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deposit</a:t>
              </a:r>
              <a:endParaRPr lang="zh-CN" altLang="zh-CN" sz="1800">
                <a:solidFill>
                  <a:schemeClr val="tx1"/>
                </a:solidFill>
                <a:latin typeface="Arial" panose="020B0604020202020204" pitchFamily="34" charset="0"/>
                <a:ea typeface="宋体" panose="02010600030101010101" pitchFamily="2" charset="-122"/>
              </a:endParaRPr>
            </a:p>
          </p:txBody>
        </p:sp>
        <p:sp>
          <p:nvSpPr>
            <p:cNvPr id="44" name="Rectangle 48"/>
            <p:cNvSpPr>
              <a:spLocks noChangeArrowheads="1"/>
            </p:cNvSpPr>
            <p:nvPr/>
          </p:nvSpPr>
          <p:spPr bwMode="auto">
            <a:xfrm>
              <a:off x="4035" y="2107"/>
              <a:ext cx="713"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withdraw</a:t>
              </a:r>
              <a:endParaRPr lang="zh-CN" altLang="zh-CN" sz="1800">
                <a:solidFill>
                  <a:schemeClr val="tx1"/>
                </a:solidFill>
                <a:latin typeface="Arial" panose="020B0604020202020204" pitchFamily="34" charset="0"/>
                <a:ea typeface="宋体" panose="02010600030101010101" pitchFamily="2" charset="-122"/>
              </a:endParaRPr>
            </a:p>
          </p:txBody>
        </p:sp>
        <p:sp>
          <p:nvSpPr>
            <p:cNvPr id="45" name="Rectangle 49"/>
            <p:cNvSpPr>
              <a:spLocks noChangeArrowheads="1"/>
            </p:cNvSpPr>
            <p:nvPr/>
          </p:nvSpPr>
          <p:spPr bwMode="auto">
            <a:xfrm>
              <a:off x="4035" y="2238"/>
              <a:ext cx="1075"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computeInterest</a:t>
              </a:r>
              <a:endParaRPr lang="zh-CN" altLang="zh-CN" sz="1800">
                <a:solidFill>
                  <a:schemeClr val="tx1"/>
                </a:solidFill>
                <a:latin typeface="Arial" panose="020B0604020202020204" pitchFamily="34" charset="0"/>
                <a:ea typeface="宋体" panose="02010600030101010101" pitchFamily="2" charset="-122"/>
              </a:endParaRPr>
            </a:p>
          </p:txBody>
        </p:sp>
        <p:sp>
          <p:nvSpPr>
            <p:cNvPr id="46" name="Rectangle 50"/>
            <p:cNvSpPr>
              <a:spLocks noChangeArrowheads="1"/>
            </p:cNvSpPr>
            <p:nvPr/>
          </p:nvSpPr>
          <p:spPr bwMode="auto">
            <a:xfrm>
              <a:off x="4035" y="2369"/>
              <a:ext cx="832"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stateCheck</a:t>
              </a:r>
              <a:endParaRPr lang="zh-CN" altLang="zh-CN" sz="1800">
                <a:solidFill>
                  <a:schemeClr val="tx1"/>
                </a:solidFill>
                <a:latin typeface="Arial" panose="020B0604020202020204" pitchFamily="34" charset="0"/>
                <a:ea typeface="宋体" panose="02010600030101010101" pitchFamily="2" charset="-122"/>
              </a:endParaRPr>
            </a:p>
          </p:txBody>
        </p:sp>
        <p:sp>
          <p:nvSpPr>
            <p:cNvPr id="47" name="Rectangle 51"/>
            <p:cNvSpPr>
              <a:spLocks noChangeArrowheads="1"/>
            </p:cNvSpPr>
            <p:nvPr/>
          </p:nvSpPr>
          <p:spPr bwMode="auto">
            <a:xfrm>
              <a:off x="4035" y="2494"/>
              <a:ext cx="143"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pic>
          <p:nvPicPr>
            <p:cNvPr id="48" name="Picture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4" y="3261"/>
              <a:ext cx="1105"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AutoShape 53"/>
            <p:cNvSpPr>
              <a:spLocks noChangeArrowheads="1"/>
            </p:cNvSpPr>
            <p:nvPr/>
          </p:nvSpPr>
          <p:spPr bwMode="auto">
            <a:xfrm>
              <a:off x="2604" y="3261"/>
              <a:ext cx="1099" cy="571"/>
            </a:xfrm>
            <a:prstGeom prst="roundRect">
              <a:avLst>
                <a:gd name="adj" fmla="val 12500"/>
              </a:avLst>
            </a:prstGeom>
            <a:noFill/>
            <a:ln w="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50" name="Rectangle 54"/>
            <p:cNvSpPr>
              <a:spLocks noChangeArrowheads="1"/>
            </p:cNvSpPr>
            <p:nvPr/>
          </p:nvSpPr>
          <p:spPr bwMode="auto">
            <a:xfrm>
              <a:off x="2794" y="3273"/>
              <a:ext cx="82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RestrictedState</a:t>
              </a:r>
              <a:endParaRPr lang="zh-CN" altLang="zh-CN" sz="1800">
                <a:solidFill>
                  <a:schemeClr val="tx1"/>
                </a:solidFill>
                <a:latin typeface="Arial" panose="020B0604020202020204" pitchFamily="34" charset="0"/>
                <a:ea typeface="宋体" panose="02010600030101010101" pitchFamily="2" charset="-122"/>
              </a:endParaRPr>
            </a:p>
          </p:txBody>
        </p:sp>
        <p:sp>
          <p:nvSpPr>
            <p:cNvPr id="51" name="Line 55"/>
            <p:cNvSpPr>
              <a:spLocks noChangeShapeType="1"/>
            </p:cNvSpPr>
            <p:nvPr/>
          </p:nvSpPr>
          <p:spPr bwMode="auto">
            <a:xfrm>
              <a:off x="2604" y="3416"/>
              <a:ext cx="1099"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 name="Rectangle 56"/>
            <p:cNvSpPr>
              <a:spLocks noChangeArrowheads="1"/>
            </p:cNvSpPr>
            <p:nvPr/>
          </p:nvSpPr>
          <p:spPr bwMode="auto">
            <a:xfrm>
              <a:off x="2669" y="3428"/>
              <a:ext cx="63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deposit</a:t>
              </a:r>
              <a:endParaRPr lang="zh-CN" altLang="zh-CN" sz="1800">
                <a:solidFill>
                  <a:schemeClr val="tx1"/>
                </a:solidFill>
                <a:latin typeface="Arial" panose="020B0604020202020204" pitchFamily="34" charset="0"/>
                <a:ea typeface="宋体" panose="02010600030101010101" pitchFamily="2" charset="-122"/>
              </a:endParaRPr>
            </a:p>
          </p:txBody>
        </p:sp>
        <p:sp>
          <p:nvSpPr>
            <p:cNvPr id="53" name="Rectangle 57"/>
            <p:cNvSpPr>
              <a:spLocks noChangeArrowheads="1"/>
            </p:cNvSpPr>
            <p:nvPr/>
          </p:nvSpPr>
          <p:spPr bwMode="auto">
            <a:xfrm>
              <a:off x="2669" y="3559"/>
              <a:ext cx="1075"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computeInterest</a:t>
              </a:r>
              <a:endParaRPr lang="zh-CN" altLang="zh-CN" sz="1800">
                <a:solidFill>
                  <a:schemeClr val="tx1"/>
                </a:solidFill>
                <a:latin typeface="Arial" panose="020B0604020202020204" pitchFamily="34" charset="0"/>
                <a:ea typeface="宋体" panose="02010600030101010101" pitchFamily="2" charset="-122"/>
              </a:endParaRPr>
            </a:p>
          </p:txBody>
        </p:sp>
        <p:sp>
          <p:nvSpPr>
            <p:cNvPr id="54" name="Rectangle 58"/>
            <p:cNvSpPr>
              <a:spLocks noChangeArrowheads="1"/>
            </p:cNvSpPr>
            <p:nvPr/>
          </p:nvSpPr>
          <p:spPr bwMode="auto">
            <a:xfrm>
              <a:off x="2669" y="3690"/>
              <a:ext cx="832"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do / stateCheck</a:t>
              </a:r>
              <a:endParaRPr lang="zh-CN" altLang="zh-CN" sz="1800">
                <a:solidFill>
                  <a:schemeClr val="tx1"/>
                </a:solidFill>
                <a:latin typeface="Arial" panose="020B0604020202020204" pitchFamily="34" charset="0"/>
                <a:ea typeface="宋体" panose="02010600030101010101" pitchFamily="2" charset="-122"/>
              </a:endParaRPr>
            </a:p>
          </p:txBody>
        </p:sp>
        <p:sp>
          <p:nvSpPr>
            <p:cNvPr id="55" name="Rectangle 59"/>
            <p:cNvSpPr>
              <a:spLocks noChangeArrowheads="1"/>
            </p:cNvSpPr>
            <p:nvPr/>
          </p:nvSpPr>
          <p:spPr bwMode="auto">
            <a:xfrm>
              <a:off x="2669" y="3814"/>
              <a:ext cx="143"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zh-CN" sz="1300">
                  <a:solidFill>
                    <a:srgbClr val="000000"/>
                  </a:solidFill>
                  <a:latin typeface="Arial" panose="020B0604020202020204" pitchFamily="34" charset="0"/>
                  <a:ea typeface="宋体" panose="02010600030101010101" pitchFamily="2" charset="-122"/>
                </a:rPr>
                <a:t>...</a:t>
              </a:r>
              <a:endParaRPr lang="zh-CN" altLang="zh-CN" sz="1800">
                <a:solidFill>
                  <a:schemeClr val="tx1"/>
                </a:solidFill>
                <a:latin typeface="Arial" panose="020B0604020202020204" pitchFamily="34" charset="0"/>
                <a:ea typeface="宋体" panose="02010600030101010101" pitchFamily="2" charset="-122"/>
              </a:endParaRPr>
            </a:p>
          </p:txBody>
        </p:sp>
        <p:sp>
          <p:nvSpPr>
            <p:cNvPr id="56" name="Oval 60"/>
            <p:cNvSpPr>
              <a:spLocks noChangeArrowheads="1"/>
            </p:cNvSpPr>
            <p:nvPr/>
          </p:nvSpPr>
          <p:spPr bwMode="auto">
            <a:xfrm>
              <a:off x="1398" y="1584"/>
              <a:ext cx="95" cy="95"/>
            </a:xfrm>
            <a:prstGeom prst="ellipse">
              <a:avLst/>
            </a:prstGeom>
            <a:solidFill>
              <a:srgbClr val="000000"/>
            </a:solidFill>
            <a:ln w="0">
              <a:solidFill>
                <a:srgbClr val="000000"/>
              </a:solidFill>
              <a:round/>
            </a:ln>
          </p:spPr>
          <p:txBody>
            <a:bodyPr/>
            <a:lstStyle>
              <a:lvl1pPr>
                <a:lnSpc>
                  <a:spcPct val="120000"/>
                </a:lnSpc>
                <a:spcBef>
                  <a:spcPct val="20000"/>
                </a:spcBef>
                <a:buClr>
                  <a:srgbClr val="FF3300"/>
                </a:buClr>
                <a:buFont typeface="Wingdings" panose="05000000000000000000" pitchFamily="2" charset="2"/>
                <a:buChar char="w"/>
                <a:defRPr sz="3200">
                  <a:solidFill>
                    <a:srgbClr val="080808"/>
                  </a:solidFill>
                  <a:latin typeface="Tahoma" panose="020B0604030504040204" pitchFamily="34" charset="0"/>
                  <a:ea typeface="隶书" panose="02010509060101010101" pitchFamily="49" charset="-122"/>
                </a:defRPr>
              </a:lvl1pPr>
              <a:lvl2pPr marL="742950" indent="-285750">
                <a:lnSpc>
                  <a:spcPct val="120000"/>
                </a:lnSpc>
                <a:spcBef>
                  <a:spcPct val="20000"/>
                </a:spcBef>
                <a:buClr>
                  <a:srgbClr val="0000FF"/>
                </a:buClr>
                <a:buFont typeface="Wingdings" panose="05000000000000000000" pitchFamily="2" charset="2"/>
                <a:buChar char="ü"/>
                <a:defRPr sz="24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buChar char=""/>
                <a:defRPr sz="2000">
                  <a:solidFill>
                    <a:srgbClr val="333333"/>
                  </a:solidFill>
                  <a:latin typeface="Tahoma" panose="020B0604030504040204" pitchFamily="34" charset="0"/>
                  <a:ea typeface="黑体" panose="02010609060101010101" pitchFamily="49" charset="-122"/>
                </a:defRPr>
              </a:lvl3pPr>
              <a:lvl4pPr marL="1600200" indent="-228600">
                <a:spcBef>
                  <a:spcPct val="20000"/>
                </a:spcBef>
                <a:buChar char="–"/>
                <a:defRPr sz="2000">
                  <a:solidFill>
                    <a:srgbClr val="4D4D4D"/>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4D4D4D"/>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endParaRPr lang="zh-CN" altLang="en-US" sz="1800">
                <a:solidFill>
                  <a:schemeClr val="tx1"/>
                </a:solidFill>
                <a:latin typeface="Arial" panose="020B0604020202020204" pitchFamily="34" charset="0"/>
                <a:ea typeface="宋体" panose="02010600030101010101" pitchFamily="2" charset="-122"/>
              </a:endParaRPr>
            </a:p>
          </p:txBody>
        </p:sp>
      </p:grpSp>
    </p:spTree>
  </p:cSld>
  <p:clrMapOvr>
    <a:masterClrMapping/>
  </p:clrMapOvr>
  <p:transition spd="slow" advTm="0">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0248" y="785502"/>
            <a:ext cx="10517559" cy="5740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1028167" y="900913"/>
            <a:ext cx="9823536" cy="2024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信用卡业务系统：</a:t>
            </a:r>
            <a:r>
              <a:rPr lang="zh-CN" altLang="en-US" sz="2800" dirty="0" smtClean="0">
                <a:latin typeface="微软雅黑" panose="020B0503020204020204" pitchFamily="34" charset="-122"/>
                <a:ea typeface="微软雅黑" panose="020B0503020204020204" pitchFamily="34" charset="-122"/>
              </a:rPr>
              <a:t>参考代码</a:t>
            </a:r>
            <a:endParaRPr lang="en-US" altLang="zh-CN" sz="2800" dirty="0" smtClean="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en-US" altLang="zh-CN" sz="2800" dirty="0" err="1" smtClean="0">
                <a:latin typeface="微软雅黑" panose="020B0503020204020204" pitchFamily="34" charset="-122"/>
                <a:ea typeface="微软雅黑" panose="020B0503020204020204" pitchFamily="34" charset="-122"/>
              </a:rPr>
              <a:t>DesignPatterns</a:t>
            </a:r>
            <a:r>
              <a:rPr lang="zh-CN" altLang="en-US" sz="2800" dirty="0" smtClean="0">
                <a:latin typeface="微软雅黑" panose="020B0503020204020204" pitchFamily="34" charset="-122"/>
                <a:ea typeface="微软雅黑" panose="020B0503020204020204" pitchFamily="34" charset="-122"/>
              </a:rPr>
              <a:t>之</a:t>
            </a:r>
            <a:r>
              <a:rPr lang="en-US" altLang="zh-CN" sz="2800" dirty="0" smtClean="0">
                <a:latin typeface="微软雅黑" panose="020B0503020204020204" pitchFamily="34" charset="-122"/>
                <a:ea typeface="微软雅黑" panose="020B0503020204020204" pitchFamily="34" charset="-122"/>
              </a:rPr>
              <a:t>state </a:t>
            </a:r>
            <a:r>
              <a:rPr lang="en-US" altLang="zh-CN" sz="2800" dirty="0">
                <a:latin typeface="微软雅黑" panose="020B0503020204020204" pitchFamily="34" charset="-122"/>
                <a:ea typeface="微软雅黑" panose="020B0503020204020204" pitchFamily="34" charset="-122"/>
              </a:rPr>
              <a:t>2</a:t>
            </a:r>
            <a:r>
              <a:rPr lang="zh-CN" altLang="en-US" sz="2800" dirty="0" smtClean="0">
                <a:latin typeface="微软雅黑" panose="020B0503020204020204" pitchFamily="34" charset="-122"/>
                <a:ea typeface="微软雅黑" panose="020B0503020204020204" pitchFamily="34" charset="-122"/>
              </a:rPr>
              <a:t>包</a:t>
            </a:r>
            <a:endParaRPr lang="en-US" altLang="zh-CN" sz="2400" b="1" dirty="0" smtClean="0">
              <a:latin typeface="微软雅黑" panose="020B0503020204020204" pitchFamily="34" charset="-122"/>
              <a:ea typeface="微软雅黑" panose="020B0503020204020204" pitchFamily="34" charset="-122"/>
            </a:endParaRPr>
          </a:p>
        </p:txBody>
      </p:sp>
      <p:grpSp>
        <p:nvGrpSpPr>
          <p:cNvPr id="8" name="Group 5"/>
          <p:cNvGrpSpPr/>
          <p:nvPr/>
        </p:nvGrpSpPr>
        <p:grpSpPr bwMode="auto">
          <a:xfrm>
            <a:off x="4031468" y="3141762"/>
            <a:ext cx="4193480" cy="2044450"/>
            <a:chOff x="2381" y="3283"/>
            <a:chExt cx="1361" cy="510"/>
          </a:xfrm>
        </p:grpSpPr>
        <p:pic>
          <p:nvPicPr>
            <p:cNvPr id="9" name="Picture 6" descr="gif00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2381" y="3283"/>
              <a:ext cx="2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2608" y="3505"/>
              <a:ext cx="1134" cy="146"/>
            </a:xfrm>
            <a:prstGeom prst="rect">
              <a:avLst/>
            </a:prstGeom>
            <a:noFill/>
            <a:ln w="9525">
              <a:noFill/>
              <a:miter lim="800000"/>
            </a:ln>
            <a:effectLst>
              <a:outerShdw dist="35921" dir="2700000" algn="ctr" rotWithShape="0">
                <a:schemeClr val="bg2"/>
              </a:outerShdw>
            </a:effectLst>
          </p:spPr>
          <p:txBody>
            <a:bodyPr>
              <a:spAutoFit/>
            </a:bodyPr>
            <a:lstStyle/>
            <a:p>
              <a:pPr>
                <a:spcBef>
                  <a:spcPct val="50000"/>
                </a:spcBef>
                <a:defRPr/>
              </a:pPr>
              <a:r>
                <a:rPr lang="zh-CN" altLang="en-US" sz="3200" b="1" dirty="0">
                  <a:solidFill>
                    <a:srgbClr val="44B3BE"/>
                  </a:solidFill>
                  <a:latin typeface="华文行楷" panose="02010800040101010101" pitchFamily="2" charset="-122"/>
                  <a:ea typeface="华文行楷" panose="02010800040101010101" pitchFamily="2" charset="-122"/>
                </a:rPr>
                <a:t>演示</a:t>
              </a:r>
              <a:r>
                <a:rPr lang="en-US" altLang="zh-CN" sz="3200" b="1" dirty="0">
                  <a:solidFill>
                    <a:srgbClr val="44B3BE"/>
                  </a:solidFill>
                  <a:latin typeface="Arial" panose="020B0604020202020204"/>
                  <a:ea typeface="华文行楷" panose="02010800040101010101" pitchFamily="2" charset="-122"/>
                </a:rPr>
                <a:t>……</a:t>
              </a:r>
              <a:endParaRPr lang="en-US" altLang="zh-CN" sz="3200" b="1" dirty="0">
                <a:solidFill>
                  <a:srgbClr val="44B3BE"/>
                </a:solidFill>
                <a:latin typeface="华文行楷" panose="02010800040101010101" pitchFamily="2" charset="-122"/>
                <a:ea typeface="华文行楷" panose="02010800040101010101" pitchFamily="2" charset="-122"/>
              </a:endParaRPr>
            </a:p>
          </p:txBody>
        </p:sp>
      </p:grpSp>
      <p:sp>
        <p:nvSpPr>
          <p:cNvPr id="11"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99663" y="909514"/>
            <a:ext cx="11360152" cy="564212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状态模式优点：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solidFill>
                  <a:srgbClr val="EC7328"/>
                </a:solidFill>
                <a:latin typeface="微软雅黑" panose="020B0503020204020204" pitchFamily="34" charset="-122"/>
                <a:ea typeface="微软雅黑" panose="020B0503020204020204" pitchFamily="34" charset="-122"/>
              </a:rPr>
              <a:t>封装</a:t>
            </a:r>
            <a:r>
              <a:rPr lang="zh-CN" altLang="en-US" sz="2800" dirty="0">
                <a:solidFill>
                  <a:srgbClr val="EC7328"/>
                </a:solidFill>
                <a:latin typeface="微软雅黑" panose="020B0503020204020204" pitchFamily="34" charset="-122"/>
                <a:ea typeface="微软雅黑" panose="020B0503020204020204" pitchFamily="34" charset="-122"/>
              </a:rPr>
              <a:t>了状态的转换规则</a:t>
            </a:r>
            <a:r>
              <a:rPr lang="zh-CN" altLang="en-US" sz="2800" dirty="0">
                <a:latin typeface="微软雅黑" panose="020B0503020204020204" pitchFamily="34" charset="-122"/>
                <a:ea typeface="微软雅黑" panose="020B0503020204020204" pitchFamily="34" charset="-122"/>
              </a:rPr>
              <a:t>，可以对状态转换代码进行</a:t>
            </a:r>
            <a:r>
              <a:rPr lang="zh-CN" altLang="en-US" sz="2800" dirty="0">
                <a:solidFill>
                  <a:srgbClr val="EC7328"/>
                </a:solidFill>
                <a:latin typeface="微软雅黑" panose="020B0503020204020204" pitchFamily="34" charset="-122"/>
                <a:ea typeface="微软雅黑" panose="020B0503020204020204" pitchFamily="34" charset="-122"/>
              </a:rPr>
              <a:t>集中管理</a:t>
            </a:r>
            <a:r>
              <a:rPr lang="zh-CN" altLang="en-US" sz="2800" dirty="0">
                <a:latin typeface="微软雅黑" panose="020B0503020204020204" pitchFamily="34" charset="-122"/>
                <a:ea typeface="微软雅黑" panose="020B0503020204020204" pitchFamily="34" charset="-122"/>
              </a:rPr>
              <a:t>，而不是分散在一个个业务方法中</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将所有与某个状态有关的行为放到一个类中</a:t>
            </a:r>
            <a:r>
              <a:rPr lang="zh-CN" altLang="en-US" sz="2800" dirty="0">
                <a:latin typeface="微软雅黑" panose="020B0503020204020204" pitchFamily="34" charset="-122"/>
                <a:ea typeface="微软雅黑" panose="020B0503020204020204" pitchFamily="34" charset="-122"/>
              </a:rPr>
              <a:t>，只需要注入一个不同的状态对象即可使环境对象拥有不同的行为</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允许状态转换逻辑与状态对象合成一体，而不是提供一个巨大的条件语句块</a:t>
            </a:r>
            <a:r>
              <a:rPr lang="zh-CN" altLang="en-US" sz="2800" dirty="0">
                <a:latin typeface="微软雅黑" panose="020B0503020204020204" pitchFamily="34" charset="-122"/>
                <a:ea typeface="微软雅黑" panose="020B0503020204020204" pitchFamily="34" charset="-122"/>
              </a:rPr>
              <a:t>，可以避免使用庞大的条件语句来将业务方法和状态转换代码交织在一起</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可让</a:t>
            </a:r>
            <a:r>
              <a:rPr lang="zh-CN" altLang="en-US" sz="2800" dirty="0">
                <a:latin typeface="微软雅黑" panose="020B0503020204020204" pitchFamily="34" charset="-122"/>
                <a:ea typeface="微软雅黑" panose="020B0503020204020204" pitchFamily="34" charset="-122"/>
              </a:rPr>
              <a:t>多个环境对象</a:t>
            </a:r>
            <a:r>
              <a:rPr lang="zh-CN" altLang="en-US" sz="2800" dirty="0">
                <a:solidFill>
                  <a:srgbClr val="EC7328"/>
                </a:solidFill>
                <a:latin typeface="微软雅黑" panose="020B0503020204020204" pitchFamily="34" charset="-122"/>
                <a:ea typeface="微软雅黑" panose="020B0503020204020204" pitchFamily="34" charset="-122"/>
              </a:rPr>
              <a:t>共享一个状态对象</a:t>
            </a:r>
            <a:r>
              <a:rPr lang="zh-CN" altLang="en-US" sz="2800" dirty="0">
                <a:latin typeface="微软雅黑" panose="020B0503020204020204" pitchFamily="34" charset="-122"/>
                <a:ea typeface="微软雅黑" panose="020B0503020204020204" pitchFamily="34" charset="-122"/>
              </a:rPr>
              <a:t>，从而</a:t>
            </a:r>
            <a:r>
              <a:rPr lang="zh-CN" altLang="en-US" sz="2800" dirty="0">
                <a:solidFill>
                  <a:srgbClr val="EC7328"/>
                </a:solidFill>
                <a:latin typeface="微软雅黑" panose="020B0503020204020204" pitchFamily="34" charset="-122"/>
                <a:ea typeface="微软雅黑" panose="020B0503020204020204" pitchFamily="34" charset="-122"/>
              </a:rPr>
              <a:t>减少系统中对象的个数</a:t>
            </a:r>
            <a:endParaRPr lang="en-US" altLang="zh-CN" sz="2800" dirty="0" smtClean="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571671" y="1053530"/>
            <a:ext cx="11144128" cy="56421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状态模式缺点：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会</a:t>
            </a:r>
            <a:r>
              <a:rPr lang="zh-CN" altLang="en-US" sz="2800" dirty="0">
                <a:solidFill>
                  <a:srgbClr val="EC7328"/>
                </a:solidFill>
                <a:latin typeface="微软雅黑" panose="020B0503020204020204" pitchFamily="34" charset="-122"/>
                <a:ea typeface="微软雅黑" panose="020B0503020204020204" pitchFamily="34" charset="-122"/>
              </a:rPr>
              <a:t>增加系统中类和对象的个数</a:t>
            </a:r>
            <a:r>
              <a:rPr lang="zh-CN" altLang="en-US" sz="2800" dirty="0">
                <a:latin typeface="微软雅黑" panose="020B0503020204020204" pitchFamily="34" charset="-122"/>
                <a:ea typeface="微软雅黑" panose="020B0503020204020204" pitchFamily="34" charset="-122"/>
              </a:rPr>
              <a:t>，导致系统运行开销增大</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结构与实现都较为复杂，</a:t>
            </a:r>
            <a:r>
              <a:rPr lang="zh-CN" altLang="en-US" sz="2800" dirty="0">
                <a:solidFill>
                  <a:srgbClr val="EC7328"/>
                </a:solidFill>
                <a:latin typeface="微软雅黑" panose="020B0503020204020204" pitchFamily="34" charset="-122"/>
                <a:ea typeface="微软雅黑" panose="020B0503020204020204" pitchFamily="34" charset="-122"/>
              </a:rPr>
              <a:t>如果使用不当将导致程序结构和代码混乱，增加系统设计的难度</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对开闭原则的支持并不太好</a:t>
            </a:r>
            <a:r>
              <a:rPr lang="zh-CN" altLang="en-US" sz="2800" dirty="0">
                <a:latin typeface="微软雅黑" panose="020B0503020204020204" pitchFamily="34" charset="-122"/>
                <a:ea typeface="微软雅黑" panose="020B0503020204020204" pitchFamily="34" charset="-122"/>
              </a:rPr>
              <a:t>，增加新的状态类需要修改负责状态转换的源代码，否则无法转换到新增状态；而且修改某个状态类的行为也需要修改对应类的源代码</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643679" y="1100034"/>
            <a:ext cx="11144128" cy="4490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在</a:t>
            </a:r>
            <a:r>
              <a:rPr lang="zh-CN" altLang="en-US" sz="2800" b="1" dirty="0">
                <a:latin typeface="微软雅黑" panose="020B0503020204020204" pitchFamily="34" charset="-122"/>
                <a:ea typeface="微软雅黑" panose="020B0503020204020204" pitchFamily="34" charset="-122"/>
              </a:rPr>
              <a:t>以下情况下可以</a:t>
            </a:r>
            <a:r>
              <a:rPr lang="zh-CN" altLang="en-US" sz="2800" b="1" dirty="0" smtClean="0">
                <a:latin typeface="微软雅黑" panose="020B0503020204020204" pitchFamily="34" charset="-122"/>
                <a:ea typeface="微软雅黑" panose="020B0503020204020204" pitchFamily="34" charset="-122"/>
              </a:rPr>
              <a:t>使用状态模式</a:t>
            </a:r>
            <a:r>
              <a:rPr lang="zh-CN" altLang="en-US" sz="2800" b="1" dirty="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solidFill>
                  <a:srgbClr val="EC7328"/>
                </a:solidFill>
                <a:latin typeface="微软雅黑" panose="020B0503020204020204" pitchFamily="34" charset="-122"/>
                <a:ea typeface="微软雅黑" panose="020B0503020204020204" pitchFamily="34" charset="-122"/>
              </a:rPr>
              <a:t>对象</a:t>
            </a:r>
            <a:r>
              <a:rPr lang="zh-CN" altLang="en-US" sz="2800" dirty="0">
                <a:solidFill>
                  <a:srgbClr val="EC7328"/>
                </a:solidFill>
                <a:latin typeface="微软雅黑" panose="020B0503020204020204" pitchFamily="34" charset="-122"/>
                <a:ea typeface="微软雅黑" panose="020B0503020204020204" pitchFamily="34" charset="-122"/>
              </a:rPr>
              <a:t>的行为依赖于它的状态</a:t>
            </a:r>
            <a:r>
              <a:rPr lang="zh-CN" altLang="en-US" sz="2800" dirty="0">
                <a:latin typeface="微软雅黑" panose="020B0503020204020204" pitchFamily="34" charset="-122"/>
                <a:ea typeface="微软雅黑" panose="020B0503020204020204" pitchFamily="34" charset="-122"/>
              </a:rPr>
              <a:t>（例如某些属性值），</a:t>
            </a:r>
            <a:r>
              <a:rPr lang="zh-CN" altLang="en-US" sz="2800" dirty="0">
                <a:solidFill>
                  <a:srgbClr val="EC7328"/>
                </a:solidFill>
                <a:latin typeface="微软雅黑" panose="020B0503020204020204" pitchFamily="34" charset="-122"/>
                <a:ea typeface="微软雅黑" panose="020B0503020204020204" pitchFamily="34" charset="-122"/>
              </a:rPr>
              <a:t>状态的改变将导致行为的变化</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在代码中包含大量与对象状态有关的条件语句</a:t>
            </a:r>
            <a:r>
              <a:rPr lang="zh-CN" altLang="en-US" sz="2800" dirty="0">
                <a:latin typeface="微软雅黑" panose="020B0503020204020204" pitchFamily="34" charset="-122"/>
                <a:ea typeface="微软雅黑" panose="020B0503020204020204" pitchFamily="34" charset="-122"/>
              </a:rPr>
              <a:t>，这些条件语句的出现会导致代码的可维护性和灵活性变差，不能方便地增加和删除状态，并且导致客户类与类库之间的耦合</a:t>
            </a:r>
            <a:r>
              <a:rPr lang="zh-CN" altLang="en-US" sz="2800" dirty="0" smtClean="0">
                <a:latin typeface="微软雅黑" panose="020B0503020204020204" pitchFamily="34" charset="-122"/>
                <a:ea typeface="微软雅黑" panose="020B0503020204020204" pitchFamily="34" charset="-122"/>
              </a:rPr>
              <a:t>增强</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886949" y="829370"/>
            <a:ext cx="10972866" cy="4616648"/>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模式应用</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1</a:t>
            </a:r>
            <a:r>
              <a:rPr lang="zh-CN" altLang="en-US" sz="2800" dirty="0" smtClean="0">
                <a:latin typeface="微软雅黑" panose="020B0503020204020204" pitchFamily="34" charset="-122"/>
                <a:ea typeface="微软雅黑" panose="020B0503020204020204" pitchFamily="34" charset="-122"/>
              </a:rPr>
              <a:t>）状态</a:t>
            </a:r>
            <a:r>
              <a:rPr lang="zh-CN" altLang="en-US" sz="2800" dirty="0">
                <a:latin typeface="微软雅黑" panose="020B0503020204020204" pitchFamily="34" charset="-122"/>
                <a:ea typeface="微软雅黑" panose="020B0503020204020204" pitchFamily="34" charset="-122"/>
              </a:rPr>
              <a:t>模式在工作流或游戏等类型的软件中得以广泛使用，甚至可以用于这些系统的核心功能设计，如在政府</a:t>
            </a:r>
            <a:r>
              <a:rPr lang="en-US" altLang="zh-CN" sz="2800" dirty="0">
                <a:latin typeface="微软雅黑" panose="020B0503020204020204" pitchFamily="34" charset="-122"/>
                <a:ea typeface="微软雅黑" panose="020B0503020204020204" pitchFamily="34" charset="-122"/>
              </a:rPr>
              <a:t>OA</a:t>
            </a:r>
            <a:r>
              <a:rPr lang="zh-CN" altLang="en-US" sz="2800" dirty="0">
                <a:latin typeface="微软雅黑" panose="020B0503020204020204" pitchFamily="34" charset="-122"/>
                <a:ea typeface="微软雅黑" panose="020B0503020204020204" pitchFamily="34" charset="-122"/>
              </a:rPr>
              <a:t>办公系统中，一个批文的状态有多种：尚未办理、正在办理、正在批示、正在审核、已经完成等各种状态，而且批文状态不同时对批文的操作也有所差异。使用状态模式可以描述工作流对象（如批文）的状态转换以及不同状态下它所具备的行为</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886949" y="829370"/>
            <a:ext cx="10972866" cy="4616648"/>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模式应用</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a:lnSpc>
                <a:spcPct val="150000"/>
              </a:lnSpc>
            </a:pPr>
            <a:r>
              <a:rPr lang="zh-CN" altLang="en-US" sz="2800" dirty="0" smtClean="0">
                <a:latin typeface="微软雅黑" panose="020B0503020204020204" pitchFamily="34" charset="-122"/>
                <a:ea typeface="微软雅黑" panose="020B0503020204020204" pitchFamily="34" charset="-122"/>
              </a:rPr>
              <a:t>（</a:t>
            </a:r>
            <a:r>
              <a:rPr lang="en-US" altLang="zh-CN" sz="2800" dirty="0" smtClean="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）在目前主流的</a:t>
            </a:r>
            <a:r>
              <a:rPr lang="en-US" altLang="zh-CN" sz="2800" dirty="0">
                <a:latin typeface="微软雅黑" panose="020B0503020204020204" pitchFamily="34" charset="-122"/>
                <a:ea typeface="微软雅黑" panose="020B0503020204020204" pitchFamily="34" charset="-122"/>
              </a:rPr>
              <a:t>RPG</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Role Play Game</a:t>
            </a:r>
            <a:r>
              <a:rPr lang="zh-CN" altLang="en-US" sz="2800" dirty="0">
                <a:latin typeface="微软雅黑" panose="020B0503020204020204" pitchFamily="34" charset="-122"/>
                <a:ea typeface="微软雅黑" panose="020B0503020204020204" pitchFamily="34" charset="-122"/>
              </a:rPr>
              <a:t>，角色扮演游戏）中，使用状态模式可以对游侠角色进行控制，游戏角色的升级伴随着其状态的变化和行为的变化。对于游戏程序本身也可以通过状态模式进行总控，一个游戏活动包括开始、运行、结束等状态，通过对状态的控制可以控制系统的行为，决定游戏的各个方面，因此可以使用状态模式对整个游戏的架构进行设计与实现</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p:cNvSpPr/>
          <p:nvPr/>
        </p:nvSpPr>
        <p:spPr>
          <a:xfrm>
            <a:off x="1130623" y="807889"/>
            <a:ext cx="6336704" cy="523220"/>
          </a:xfrm>
          <a:prstGeom prst="rect">
            <a:avLst/>
          </a:prstGeom>
        </p:spPr>
        <p:txBody>
          <a:bodyPr wrap="square">
            <a:spAutoFit/>
          </a:bodyPr>
          <a:lstStyle/>
          <a:p>
            <a:r>
              <a:rPr lang="en-US" altLang="zh-CN" sz="2800" b="1" dirty="0" smtClean="0">
                <a:latin typeface="微软雅黑" panose="020B0503020204020204" pitchFamily="34" charset="-122"/>
                <a:ea typeface="微软雅黑" panose="020B0503020204020204" pitchFamily="34" charset="-122"/>
              </a:rPr>
              <a:t>1. </a:t>
            </a:r>
            <a:r>
              <a:rPr lang="zh-CN" altLang="en-US" sz="2800" b="1" dirty="0" smtClean="0">
                <a:latin typeface="微软雅黑" panose="020B0503020204020204" pitchFamily="34" charset="-122"/>
                <a:ea typeface="微软雅黑" panose="020B0503020204020204" pitchFamily="34" charset="-122"/>
              </a:rPr>
              <a:t>共享状态</a:t>
            </a:r>
            <a:endParaRPr lang="zh-CN" altLang="en-US" sz="2800" b="1" dirty="0">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a:xfrm>
            <a:off x="554559" y="1413570"/>
            <a:ext cx="10830743" cy="4114800"/>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动机</a:t>
            </a:r>
            <a:endParaRPr lang="en-US" altLang="zh-CN" sz="2800" b="1" dirty="0" smtClean="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在有些情况下，</a:t>
            </a:r>
            <a:r>
              <a:rPr lang="zh-CN" altLang="en-US" sz="2800" dirty="0" smtClean="0">
                <a:solidFill>
                  <a:srgbClr val="FF3300"/>
                </a:solidFill>
                <a:latin typeface="微软雅黑" panose="020B0503020204020204" pitchFamily="34" charset="-122"/>
                <a:ea typeface="微软雅黑" panose="020B0503020204020204" pitchFamily="34" charset="-122"/>
              </a:rPr>
              <a:t>多个环境对象可能需要共享同一个状态</a:t>
            </a:r>
            <a:endParaRPr lang="en-US" altLang="zh-CN" sz="2800" dirty="0" smtClean="0">
              <a:solidFill>
                <a:srgbClr val="FF3300"/>
              </a:solidFill>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如果希望在系统中实现多个环境对象共享一个或多个状态对象，那么需要</a:t>
            </a:r>
            <a:r>
              <a:rPr lang="zh-CN" altLang="en-US" sz="2800" dirty="0" smtClean="0">
                <a:solidFill>
                  <a:srgbClr val="FF3300"/>
                </a:solidFill>
                <a:latin typeface="微软雅黑" panose="020B0503020204020204" pitchFamily="34" charset="-122"/>
                <a:ea typeface="微软雅黑" panose="020B0503020204020204" pitchFamily="34" charset="-122"/>
              </a:rPr>
              <a:t>将这些状态对象定义为环境类的静态成员对象</a:t>
            </a:r>
            <a:endParaRPr lang="en-US" altLang="zh-CN" sz="2800"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p:cNvSpPr/>
          <p:nvPr/>
        </p:nvSpPr>
        <p:spPr>
          <a:xfrm>
            <a:off x="1130623" y="807889"/>
            <a:ext cx="6336704" cy="523220"/>
          </a:xfrm>
          <a:prstGeom prst="rect">
            <a:avLst/>
          </a:prstGeom>
        </p:spPr>
        <p:txBody>
          <a:bodyPr wrap="square">
            <a:spAutoFit/>
          </a:bodyPr>
          <a:lstStyle/>
          <a:p>
            <a:r>
              <a:rPr lang="en-US" altLang="zh-CN" sz="2800" b="1" dirty="0" smtClean="0">
                <a:latin typeface="微软雅黑" panose="020B0503020204020204" pitchFamily="34" charset="-122"/>
                <a:ea typeface="微软雅黑" panose="020B0503020204020204" pitchFamily="34" charset="-122"/>
              </a:rPr>
              <a:t>1. </a:t>
            </a:r>
            <a:r>
              <a:rPr lang="zh-CN" altLang="en-US" sz="2800" b="1" dirty="0" smtClean="0">
                <a:latin typeface="微软雅黑" panose="020B0503020204020204" pitchFamily="34" charset="-122"/>
                <a:ea typeface="微软雅黑" panose="020B0503020204020204" pitchFamily="34" charset="-122"/>
              </a:rPr>
              <a:t>共享状态</a:t>
            </a:r>
            <a:endParaRPr lang="zh-CN" altLang="en-US" sz="2800" b="1" dirty="0">
              <a:latin typeface="微软雅黑" panose="020B0503020204020204" pitchFamily="34" charset="-122"/>
              <a:ea typeface="微软雅黑" panose="020B0503020204020204" pitchFamily="34" charset="-122"/>
            </a:endParaRPr>
          </a:p>
        </p:txBody>
      </p:sp>
      <p:pic>
        <p:nvPicPr>
          <p:cNvPr id="6"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0768" y="1403117"/>
            <a:ext cx="11013023" cy="505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1075727" y="621482"/>
            <a:ext cx="10496056" cy="588549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pPr>
            <a:r>
              <a:rPr lang="en-US" altLang="zh-CN" sz="2800" b="1" dirty="0" smtClean="0">
                <a:latin typeface="微软雅黑" panose="020B0503020204020204" pitchFamily="34" charset="-122"/>
                <a:ea typeface="微软雅黑" panose="020B0503020204020204" pitchFamily="34" charset="-122"/>
              </a:rPr>
              <a:t>2. </a:t>
            </a:r>
            <a:r>
              <a:rPr lang="zh-CN" altLang="en-US" sz="2800" b="1" dirty="0" smtClean="0">
                <a:latin typeface="微软雅黑" panose="020B0503020204020204" pitchFamily="34" charset="-122"/>
                <a:ea typeface="微软雅黑" panose="020B0503020204020204" pitchFamily="34" charset="-122"/>
              </a:rPr>
              <a:t>简单状态模式与可切换状态的状态模式</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1</a:t>
            </a:r>
            <a:r>
              <a:rPr lang="zh-CN" altLang="en-US" sz="2800" b="1" dirty="0" smtClean="0">
                <a:latin typeface="微软雅黑" panose="020B0503020204020204" pitchFamily="34" charset="-122"/>
                <a:ea typeface="微软雅黑" panose="020B0503020204020204" pitchFamily="34" charset="-122"/>
              </a:rPr>
              <a:t>）简单状态模式</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简单状态模式是指状态都相互独立．</a:t>
            </a:r>
            <a:r>
              <a:rPr lang="zh-CN" altLang="en-US" sz="2800" b="1" dirty="0">
                <a:latin typeface="微软雅黑" panose="020B0503020204020204" pitchFamily="34" charset="-122"/>
                <a:ea typeface="微软雅黑" panose="020B0503020204020204" pitchFamily="34" charset="-122"/>
              </a:rPr>
              <a:t>状态之间无须进行转换</a:t>
            </a:r>
            <a:r>
              <a:rPr lang="zh-CN" altLang="en-US" sz="2800" dirty="0">
                <a:latin typeface="微软雅黑" panose="020B0503020204020204" pitchFamily="34" charset="-122"/>
                <a:ea typeface="微软雅黑" panose="020B0503020204020204" pitchFamily="34" charset="-122"/>
              </a:rPr>
              <a:t>的状态模式，这</a:t>
            </a:r>
            <a:r>
              <a:rPr lang="zh-CN" altLang="en-US" sz="2800" dirty="0" smtClean="0">
                <a:latin typeface="微软雅黑" panose="020B0503020204020204" pitchFamily="34" charset="-122"/>
                <a:ea typeface="微软雅黑" panose="020B0503020204020204" pitchFamily="34" charset="-122"/>
              </a:rPr>
              <a:t>是最简单</a:t>
            </a:r>
            <a:r>
              <a:rPr lang="zh-CN" altLang="en-US" sz="2800" dirty="0">
                <a:latin typeface="微软雅黑" panose="020B0503020204020204" pitchFamily="34" charset="-122"/>
                <a:ea typeface="微软雅黑" panose="020B0503020204020204" pitchFamily="34" charset="-122"/>
              </a:rPr>
              <a:t>的一种状态模式。对于这种状态模式，</a:t>
            </a:r>
            <a:r>
              <a:rPr lang="zh-CN" altLang="en-US" sz="2800" b="1" dirty="0">
                <a:latin typeface="微软雅黑" panose="020B0503020204020204" pitchFamily="34" charset="-122"/>
                <a:ea typeface="微软雅黑" panose="020B0503020204020204" pitchFamily="34" charset="-122"/>
              </a:rPr>
              <a:t>每个状态类都封装与状态相关的操作，而无须关心状态的切换</a:t>
            </a:r>
            <a:r>
              <a:rPr lang="zh-CN" altLang="en-US" sz="2800" dirty="0">
                <a:latin typeface="微软雅黑" panose="020B0503020204020204" pitchFamily="34" charset="-122"/>
                <a:ea typeface="微软雅黑" panose="020B0503020204020204" pitchFamily="34" charset="-122"/>
              </a:rPr>
              <a:t>，可以在</a:t>
            </a:r>
            <a:r>
              <a:rPr lang="zh-CN" altLang="en-US" sz="2800" b="1" dirty="0">
                <a:latin typeface="微软雅黑" panose="020B0503020204020204" pitchFamily="34" charset="-122"/>
                <a:ea typeface="微软雅黑" panose="020B0503020204020204" pitchFamily="34" charset="-122"/>
              </a:rPr>
              <a:t>客户端直接实例化状态类，然后将状态对象设置到环境类中</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客户端</a:t>
            </a:r>
            <a:r>
              <a:rPr lang="zh-CN" altLang="en-US" sz="2800" dirty="0">
                <a:latin typeface="微软雅黑" panose="020B0503020204020204" pitchFamily="34" charset="-122"/>
                <a:ea typeface="微软雅黑" panose="020B0503020204020204" pitchFamily="34" charset="-122"/>
              </a:rPr>
              <a:t>可以针对抽象状态类进行编程，而将具体状态类写到配置文件中，同时增加新的状态</a:t>
            </a:r>
            <a:r>
              <a:rPr lang="zh-CN" altLang="en-US" sz="2800" dirty="0" smtClean="0">
                <a:latin typeface="微软雅黑" panose="020B0503020204020204" pitchFamily="34" charset="-122"/>
                <a:ea typeface="微软雅黑" panose="020B0503020204020204" pitchFamily="34" charset="-122"/>
              </a:rPr>
              <a:t>类</a:t>
            </a:r>
            <a:r>
              <a:rPr lang="zh-CN" altLang="en-US" sz="2800" dirty="0">
                <a:latin typeface="微软雅黑" panose="020B0503020204020204" pitchFamily="34" charset="-122"/>
                <a:ea typeface="微软雅黑" panose="020B0503020204020204" pitchFamily="34" charset="-122"/>
              </a:rPr>
              <a:t>遵循“开闭原则”</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但是在大部分状态模式</a:t>
            </a:r>
            <a:r>
              <a:rPr lang="zh-CN" altLang="en-US" sz="2800" dirty="0" smtClean="0">
                <a:latin typeface="微软雅黑" panose="020B0503020204020204" pitchFamily="34" charset="-122"/>
                <a:ea typeface="微软雅黑" panose="020B0503020204020204" pitchFamily="34" charset="-122"/>
              </a:rPr>
              <a:t>中，状态</a:t>
            </a:r>
            <a:r>
              <a:rPr lang="zh-CN" altLang="en-US" sz="2800" dirty="0">
                <a:latin typeface="微软雅黑" panose="020B0503020204020204" pitchFamily="34" charset="-122"/>
                <a:ea typeface="微软雅黑" panose="020B0503020204020204" pitchFamily="34" charset="-122"/>
              </a:rPr>
              <a:t>之间是可以进行相互转换</a:t>
            </a:r>
            <a:r>
              <a:rPr lang="zh-CN" altLang="en-US" sz="2800" dirty="0" smtClean="0">
                <a:latin typeface="微软雅黑" panose="020B0503020204020204" pitchFamily="34" charset="-122"/>
                <a:ea typeface="微软雅黑" panose="020B0503020204020204" pitchFamily="34" charset="-122"/>
              </a:rPr>
              <a:t>的。</a:t>
            </a:r>
            <a:endParaRPr lang="en-US" altLang="zh-CN" sz="2800"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1075727" y="784663"/>
            <a:ext cx="10496056" cy="552545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2800" b="1" dirty="0" smtClean="0">
                <a:latin typeface="微软雅黑" panose="020B0503020204020204" pitchFamily="34" charset="-122"/>
                <a:ea typeface="微软雅黑" panose="020B0503020204020204" pitchFamily="34" charset="-122"/>
              </a:rPr>
              <a:t>2. </a:t>
            </a:r>
            <a:r>
              <a:rPr lang="zh-CN" altLang="en-US" sz="2800" b="1" dirty="0" smtClean="0">
                <a:latin typeface="微软雅黑" panose="020B0503020204020204" pitchFamily="34" charset="-122"/>
                <a:ea typeface="微软雅黑" panose="020B0503020204020204" pitchFamily="34" charset="-122"/>
              </a:rPr>
              <a:t>简单状态模式与可切换状态的状态模式</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）可切换状态的状态模式</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实现状态切换时，在具体状态类内部需要调用环境类</a:t>
            </a:r>
            <a:r>
              <a:rPr lang="en-US" altLang="zh-CN" sz="2800" dirty="0" smtClean="0">
                <a:latin typeface="微软雅黑" panose="020B0503020204020204" pitchFamily="34" charset="-122"/>
                <a:ea typeface="微软雅黑" panose="020B0503020204020204" pitchFamily="34" charset="-122"/>
              </a:rPr>
              <a:t>Context</a:t>
            </a:r>
            <a:r>
              <a:rPr lang="zh-CN" altLang="en-US" sz="2800" dirty="0" smtClean="0">
                <a:latin typeface="微软雅黑" panose="020B0503020204020204" pitchFamily="34" charset="-122"/>
                <a:ea typeface="微软雅黑" panose="020B0503020204020204" pitchFamily="34" charset="-122"/>
              </a:rPr>
              <a:t>的</a:t>
            </a:r>
            <a:r>
              <a:rPr lang="en-US" altLang="zh-CN" sz="2800" dirty="0" err="1" smtClean="0">
                <a:latin typeface="微软雅黑" panose="020B0503020204020204" pitchFamily="34" charset="-122"/>
                <a:ea typeface="微软雅黑" panose="020B0503020204020204" pitchFamily="34" charset="-122"/>
              </a:rPr>
              <a:t>setState</a:t>
            </a:r>
            <a:r>
              <a:rPr lang="en-US" altLang="zh-CN" sz="2800" dirty="0" smtClean="0">
                <a:latin typeface="微软雅黑" panose="020B0503020204020204" pitchFamily="34" charset="-122"/>
                <a:ea typeface="微软雅黑" panose="020B0503020204020204" pitchFamily="34" charset="-122"/>
              </a:rPr>
              <a:t>( )</a:t>
            </a:r>
            <a:r>
              <a:rPr lang="zh-CN" altLang="en-US" sz="2800" dirty="0" smtClean="0">
                <a:latin typeface="微软雅黑" panose="020B0503020204020204" pitchFamily="34" charset="-122"/>
                <a:ea typeface="微软雅黑" panose="020B0503020204020204" pitchFamily="34" charset="-122"/>
              </a:rPr>
              <a:t>方法进行状态的转换操作</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增加新的状态类需要修改其他状态类甚至环境类的源码</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对于</a:t>
            </a:r>
            <a:r>
              <a:rPr lang="zh-CN" altLang="en-US" sz="2800" b="1" dirty="0">
                <a:latin typeface="微软雅黑" panose="020B0503020204020204" pitchFamily="34" charset="-122"/>
                <a:ea typeface="微软雅黑" panose="020B0503020204020204" pitchFamily="34" charset="-122"/>
              </a:rPr>
              <a:t>客户端而言，无须关心状态类</a:t>
            </a:r>
            <a:r>
              <a:rPr lang="zh-CN" altLang="en-US" sz="2800" dirty="0">
                <a:latin typeface="微软雅黑" panose="020B0503020204020204" pitchFamily="34" charset="-122"/>
                <a:ea typeface="微软雅黑" panose="020B0503020204020204" pitchFamily="34" charset="-122"/>
              </a:rPr>
              <a:t>，可以</a:t>
            </a:r>
            <a:r>
              <a:rPr lang="zh-CN" altLang="en-US" sz="2800" b="1" dirty="0">
                <a:latin typeface="微软雅黑" panose="020B0503020204020204" pitchFamily="34" charset="-122"/>
                <a:ea typeface="微软雅黑" panose="020B0503020204020204" pitchFamily="34" charset="-122"/>
              </a:rPr>
              <a:t>为环境类设置默认的状态类</a:t>
            </a:r>
            <a:r>
              <a:rPr lang="zh-CN" altLang="en-US" sz="2800"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将状态的转换工作交给环境类（或具体状态类）</a:t>
            </a:r>
            <a:r>
              <a:rPr lang="zh-CN" altLang="en-US" sz="2800" dirty="0">
                <a:latin typeface="微软雅黑" panose="020B0503020204020204" pitchFamily="34" charset="-122"/>
                <a:ea typeface="微软雅黑" panose="020B0503020204020204" pitchFamily="34" charset="-122"/>
              </a:rPr>
              <a:t>来完成，具体的转换细节对于客户端而言是透明</a:t>
            </a:r>
            <a:r>
              <a:rPr lang="zh-CN" altLang="en-US" sz="2800" dirty="0" smtClean="0">
                <a:latin typeface="微软雅黑" panose="020B0503020204020204" pitchFamily="34" charset="-122"/>
                <a:ea typeface="微软雅黑" panose="020B0503020204020204" pitchFamily="34" charset="-122"/>
              </a:rPr>
              <a:t>的</a:t>
            </a:r>
            <a:endParaRPr lang="en-US" altLang="zh-CN" sz="28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698575" y="784663"/>
            <a:ext cx="10496056" cy="466135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lvl="1" algn="l">
              <a:spcBef>
                <a:spcPts val="1000"/>
              </a:spcBef>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）可</a:t>
            </a:r>
            <a:r>
              <a:rPr lang="zh-CN" altLang="en-US" sz="2800" b="1" dirty="0">
                <a:latin typeface="微软雅黑" panose="020B0503020204020204" pitchFamily="34" charset="-122"/>
                <a:ea typeface="微软雅黑" panose="020B0503020204020204" pitchFamily="34" charset="-122"/>
              </a:rPr>
              <a:t>切换状态的状态</a:t>
            </a:r>
            <a:r>
              <a:rPr lang="zh-CN" altLang="en-US" sz="2800" b="1" dirty="0" smtClean="0">
                <a:latin typeface="微软雅黑" panose="020B0503020204020204" pitchFamily="34" charset="-122"/>
                <a:ea typeface="微软雅黑" panose="020B0503020204020204" pitchFamily="34" charset="-122"/>
              </a:rPr>
              <a:t>模式</a:t>
            </a:r>
            <a:endParaRPr lang="zh-CN" altLang="en-US" sz="3000" dirty="0" smtClean="0">
              <a:latin typeface="微软雅黑" panose="020B0503020204020204" pitchFamily="34" charset="-122"/>
              <a:ea typeface="微软雅黑" panose="020B0503020204020204" pitchFamily="34" charset="-122"/>
            </a:endParaRPr>
          </a:p>
          <a:p>
            <a:pPr marL="800100" lvl="1" indent="-342900" algn="l">
              <a:lnSpc>
                <a:spcPct val="120000"/>
              </a:lnSpc>
              <a:spcBef>
                <a:spcPts val="0"/>
              </a:spcBef>
              <a:buClr>
                <a:srgbClr val="EC7328"/>
              </a:buClr>
              <a:buFont typeface="Wingdings" panose="05000000000000000000" pitchFamily="2" charset="2"/>
              <a:buChar char="ü"/>
            </a:pPr>
            <a:r>
              <a:rPr lang="en-US" altLang="zh-CN" sz="2600" dirty="0" smtClean="0">
                <a:solidFill>
                  <a:srgbClr val="EC7328"/>
                </a:solidFill>
                <a:latin typeface="微软雅黑" panose="020B0503020204020204" pitchFamily="34" charset="-122"/>
                <a:ea typeface="微软雅黑" panose="020B0503020204020204" pitchFamily="34" charset="-122"/>
              </a:rPr>
              <a:t> </a:t>
            </a:r>
            <a:r>
              <a:rPr lang="zh-CN" altLang="en-US" sz="2600" b="1" dirty="0" smtClean="0">
                <a:solidFill>
                  <a:srgbClr val="FF0000"/>
                </a:solidFill>
                <a:latin typeface="微软雅黑" panose="020B0503020204020204" pitchFamily="34" charset="-122"/>
                <a:ea typeface="微软雅黑" panose="020B0503020204020204" pitchFamily="34" charset="-122"/>
              </a:rPr>
              <a:t>统一由环境类来负责状态之间的转换，环境类充当状态管理器</a:t>
            </a:r>
            <a:r>
              <a:rPr lang="en-US" altLang="zh-CN" sz="2600" b="1" dirty="0" smtClean="0">
                <a:solidFill>
                  <a:srgbClr val="FF0000"/>
                </a:solidFill>
                <a:latin typeface="微软雅黑" panose="020B0503020204020204" pitchFamily="34" charset="-122"/>
                <a:ea typeface="微软雅黑" panose="020B0503020204020204" pitchFamily="34" charset="-122"/>
              </a:rPr>
              <a:t>(State Manager)</a:t>
            </a:r>
            <a:r>
              <a:rPr lang="zh-CN" altLang="en-US" sz="2600" b="1" dirty="0" smtClean="0">
                <a:solidFill>
                  <a:srgbClr val="FF0000"/>
                </a:solidFill>
                <a:latin typeface="微软雅黑" panose="020B0503020204020204" pitchFamily="34" charset="-122"/>
                <a:ea typeface="微软雅黑" panose="020B0503020204020204" pitchFamily="34" charset="-122"/>
              </a:rPr>
              <a:t>角色</a:t>
            </a:r>
            <a:endParaRPr lang="zh-CN" altLang="en-US" sz="2600" b="1" dirty="0" smtClean="0">
              <a:solidFill>
                <a:srgbClr val="FF0000"/>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1778695" y="2205658"/>
          <a:ext cx="9001000" cy="4389120"/>
        </p:xfrm>
        <a:graphic>
          <a:graphicData uri="http://schemas.openxmlformats.org/drawingml/2006/table">
            <a:tbl>
              <a:tblPr/>
              <a:tblGrid>
                <a:gridCol w="9001000"/>
              </a:tblGrid>
              <a:tr h="1564432">
                <a:tc>
                  <a:txBody>
                    <a:bodyPr/>
                    <a:lstStyle/>
                    <a:p>
                      <a:pPr algn="just">
                        <a:lnSpc>
                          <a:spcPct val="100000"/>
                        </a:lnSpc>
                        <a:spcAft>
                          <a:spcPts val="0"/>
                        </a:spcAft>
                      </a:pPr>
                      <a:r>
                        <a:rPr lang="en-US" altLang="zh-CN" sz="2800" b="1" kern="100" dirty="0" smtClean="0">
                          <a:latin typeface="Times New Roman" panose="02020603050405020304"/>
                          <a:ea typeface="+mn-ea"/>
                        </a:rPr>
                        <a:t>public void </a:t>
                      </a:r>
                      <a:r>
                        <a:rPr lang="en-US" altLang="zh-CN" sz="2800" b="1" kern="100" dirty="0" err="1" smtClean="0">
                          <a:latin typeface="Times New Roman" panose="02020603050405020304"/>
                          <a:ea typeface="+mn-ea"/>
                        </a:rPr>
                        <a:t>changeState</a:t>
                      </a:r>
                      <a:r>
                        <a:rPr lang="en-US" altLang="zh-CN" sz="2800" b="1" kern="100" dirty="0" smtClean="0">
                          <a:latin typeface="Times New Roman" panose="02020603050405020304"/>
                          <a:ea typeface="+mn-ea"/>
                        </a:rPr>
                        <a:t>()</a:t>
                      </a:r>
                      <a:endParaRPr lang="en-US" altLang="zh-CN" sz="2800" b="1" kern="100" dirty="0" smtClean="0">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a:t>
                      </a:r>
                      <a:endParaRPr lang="en-US" altLang="zh-CN" sz="2800" b="1" kern="100" dirty="0" smtClean="0">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          //</a:t>
                      </a:r>
                      <a:r>
                        <a:rPr lang="zh-CN" altLang="en-US" sz="2800" b="1" kern="100" dirty="0" smtClean="0">
                          <a:latin typeface="Times New Roman" panose="02020603050405020304"/>
                          <a:ea typeface="+mn-ea"/>
                        </a:rPr>
                        <a:t>判断属性值，根据属性值进行状态转换</a:t>
                      </a:r>
                      <a:endParaRPr lang="zh-CN" altLang="en-US" sz="2800" b="1" kern="100" dirty="0" smtClean="0">
                        <a:latin typeface="Times New Roman" panose="02020603050405020304"/>
                        <a:ea typeface="+mn-ea"/>
                      </a:endParaRPr>
                    </a:p>
                    <a:p>
                      <a:pPr algn="just">
                        <a:lnSpc>
                          <a:spcPct val="100000"/>
                        </a:lnSpc>
                        <a:spcAft>
                          <a:spcPts val="0"/>
                        </a:spcAft>
                      </a:pPr>
                      <a:r>
                        <a:rPr lang="en-US" altLang="zh-CN" sz="2800" b="1" kern="100" dirty="0" smtClean="0">
                          <a:solidFill>
                            <a:srgbClr val="FF0000"/>
                          </a:solidFill>
                          <a:latin typeface="Times New Roman" panose="02020603050405020304"/>
                          <a:ea typeface="+mn-ea"/>
                        </a:rPr>
                        <a:t>        if (value == 0)</a:t>
                      </a:r>
                      <a:endParaRPr lang="en-US" altLang="zh-CN" sz="28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solidFill>
                            <a:srgbClr val="FF0000"/>
                          </a:solidFill>
                          <a:latin typeface="Times New Roman" panose="02020603050405020304"/>
                          <a:ea typeface="+mn-ea"/>
                        </a:rPr>
                        <a:t>        {</a:t>
                      </a:r>
                      <a:endParaRPr lang="en-US" altLang="zh-CN" sz="28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solidFill>
                            <a:srgbClr val="FF0000"/>
                          </a:solidFill>
                          <a:latin typeface="Times New Roman" panose="02020603050405020304"/>
                          <a:ea typeface="+mn-ea"/>
                        </a:rPr>
                        <a:t>	</a:t>
                      </a:r>
                      <a:r>
                        <a:rPr lang="en-US" altLang="zh-CN" sz="3200" b="1" kern="100" dirty="0" err="1" smtClean="0">
                          <a:solidFill>
                            <a:srgbClr val="FF0000"/>
                          </a:solidFill>
                          <a:latin typeface="Times New Roman" panose="02020603050405020304"/>
                          <a:ea typeface="+mn-ea"/>
                        </a:rPr>
                        <a:t>this.setState</a:t>
                      </a:r>
                      <a:r>
                        <a:rPr lang="en-US" altLang="zh-CN" sz="3200" b="1" kern="100" dirty="0" smtClean="0">
                          <a:solidFill>
                            <a:srgbClr val="FF0000"/>
                          </a:solidFill>
                          <a:latin typeface="Times New Roman" panose="02020603050405020304"/>
                          <a:ea typeface="+mn-ea"/>
                        </a:rPr>
                        <a:t>(new </a:t>
                      </a:r>
                      <a:r>
                        <a:rPr lang="en-US" altLang="zh-CN" sz="3200" b="1" kern="100" dirty="0" err="1" smtClean="0">
                          <a:solidFill>
                            <a:srgbClr val="FF0000"/>
                          </a:solidFill>
                          <a:latin typeface="Times New Roman" panose="02020603050405020304"/>
                          <a:ea typeface="+mn-ea"/>
                        </a:rPr>
                        <a:t>ConcreteStateA</a:t>
                      </a:r>
                      <a:r>
                        <a:rPr lang="en-US" altLang="zh-CN" sz="3200" b="1" kern="100" dirty="0" smtClean="0">
                          <a:solidFill>
                            <a:srgbClr val="FF0000"/>
                          </a:solidFill>
                          <a:latin typeface="Times New Roman" panose="02020603050405020304"/>
                          <a:ea typeface="+mn-ea"/>
                        </a:rPr>
                        <a:t>( ));          </a:t>
                      </a:r>
                      <a:r>
                        <a:rPr lang="en-US" altLang="zh-CN" sz="2800" b="1" kern="100" dirty="0" smtClean="0">
                          <a:solidFill>
                            <a:srgbClr val="FF0000"/>
                          </a:solidFill>
                          <a:latin typeface="Times New Roman" panose="02020603050405020304"/>
                          <a:ea typeface="+mn-ea"/>
                        </a:rPr>
                        <a:t>}</a:t>
                      </a:r>
                      <a:endParaRPr lang="en-US" altLang="zh-CN" sz="28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solidFill>
                            <a:srgbClr val="FF0000"/>
                          </a:solidFill>
                          <a:latin typeface="Times New Roman" panose="02020603050405020304"/>
                          <a:ea typeface="+mn-ea"/>
                        </a:rPr>
                        <a:t>          else if (value == 1)</a:t>
                      </a:r>
                      <a:endParaRPr lang="en-US" altLang="zh-CN" sz="28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solidFill>
                            <a:srgbClr val="FF0000"/>
                          </a:solidFill>
                          <a:latin typeface="Times New Roman" panose="02020603050405020304"/>
                          <a:ea typeface="+mn-ea"/>
                        </a:rPr>
                        <a:t>        {</a:t>
                      </a:r>
                      <a:endParaRPr lang="en-US" altLang="zh-CN" sz="28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solidFill>
                            <a:srgbClr val="FF0000"/>
                          </a:solidFill>
                          <a:latin typeface="Times New Roman" panose="02020603050405020304"/>
                          <a:ea typeface="+mn-ea"/>
                        </a:rPr>
                        <a:t>	</a:t>
                      </a:r>
                      <a:r>
                        <a:rPr lang="en-US" altLang="zh-CN" sz="3200" b="1" kern="100" dirty="0" err="1" smtClean="0">
                          <a:solidFill>
                            <a:srgbClr val="FF0000"/>
                          </a:solidFill>
                          <a:latin typeface="Times New Roman" panose="02020603050405020304"/>
                          <a:ea typeface="+mn-ea"/>
                        </a:rPr>
                        <a:t>this.setState</a:t>
                      </a:r>
                      <a:r>
                        <a:rPr lang="en-US" altLang="zh-CN" sz="3200" b="1" kern="100" dirty="0" smtClean="0">
                          <a:solidFill>
                            <a:srgbClr val="FF0000"/>
                          </a:solidFill>
                          <a:latin typeface="Times New Roman" panose="02020603050405020304"/>
                          <a:ea typeface="+mn-ea"/>
                        </a:rPr>
                        <a:t>(new </a:t>
                      </a:r>
                      <a:r>
                        <a:rPr lang="en-US" altLang="zh-CN" sz="3200" b="1" kern="100" dirty="0" err="1" smtClean="0">
                          <a:solidFill>
                            <a:srgbClr val="FF0000"/>
                          </a:solidFill>
                          <a:latin typeface="Times New Roman" panose="02020603050405020304"/>
                          <a:ea typeface="+mn-ea"/>
                        </a:rPr>
                        <a:t>ConcreteStateB</a:t>
                      </a:r>
                      <a:r>
                        <a:rPr lang="en-US" altLang="zh-CN" sz="3200" b="1" kern="100" dirty="0" smtClean="0">
                          <a:solidFill>
                            <a:srgbClr val="FF0000"/>
                          </a:solidFill>
                          <a:latin typeface="Times New Roman" panose="02020603050405020304"/>
                          <a:ea typeface="+mn-ea"/>
                        </a:rPr>
                        <a:t>( ));  </a:t>
                      </a:r>
                      <a:r>
                        <a:rPr lang="en-US" altLang="zh-CN" sz="2800" b="1" kern="100" dirty="0" smtClean="0">
                          <a:solidFill>
                            <a:srgbClr val="FF0000"/>
                          </a:solidFill>
                          <a:latin typeface="Times New Roman" panose="02020603050405020304"/>
                          <a:ea typeface="+mn-ea"/>
                        </a:rPr>
                        <a:t>        }</a:t>
                      </a:r>
                      <a:endParaRPr lang="en-US" altLang="zh-CN" sz="28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          ......     }</a:t>
                      </a:r>
                      <a:endParaRPr lang="en-US" altLang="zh-CN" sz="28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698575" y="784663"/>
            <a:ext cx="10496056" cy="466135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lvl="1" algn="l">
              <a:spcBef>
                <a:spcPts val="1000"/>
              </a:spcBef>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）可</a:t>
            </a:r>
            <a:r>
              <a:rPr lang="zh-CN" altLang="en-US" sz="2800" b="1" dirty="0">
                <a:latin typeface="微软雅黑" panose="020B0503020204020204" pitchFamily="34" charset="-122"/>
                <a:ea typeface="微软雅黑" panose="020B0503020204020204" pitchFamily="34" charset="-122"/>
              </a:rPr>
              <a:t>切换状态的状态</a:t>
            </a:r>
            <a:r>
              <a:rPr lang="zh-CN" altLang="en-US" sz="2800" b="1" dirty="0" smtClean="0">
                <a:latin typeface="微软雅黑" panose="020B0503020204020204" pitchFamily="34" charset="-122"/>
                <a:ea typeface="微软雅黑" panose="020B0503020204020204" pitchFamily="34" charset="-122"/>
              </a:rPr>
              <a:t>模式</a:t>
            </a:r>
            <a:endParaRPr lang="zh-CN" altLang="en-US" sz="30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600" b="1" dirty="0" smtClean="0">
                <a:solidFill>
                  <a:srgbClr val="FF0000"/>
                </a:solidFill>
                <a:latin typeface="微软雅黑" panose="020B0503020204020204" pitchFamily="34" charset="-122"/>
                <a:ea typeface="微软雅黑" panose="020B0503020204020204" pitchFamily="34" charset="-122"/>
              </a:rPr>
              <a:t>由</a:t>
            </a:r>
            <a:r>
              <a:rPr lang="zh-CN" altLang="en-US" sz="2600" b="1" dirty="0">
                <a:solidFill>
                  <a:srgbClr val="FF0000"/>
                </a:solidFill>
                <a:latin typeface="微软雅黑" panose="020B0503020204020204" pitchFamily="34" charset="-122"/>
                <a:ea typeface="微软雅黑" panose="020B0503020204020204" pitchFamily="34" charset="-122"/>
              </a:rPr>
              <a:t>具体状态类来负责状态之间的转换</a:t>
            </a:r>
            <a:r>
              <a:rPr lang="zh-CN" altLang="en-US" sz="2600" b="1" dirty="0">
                <a:latin typeface="微软雅黑" panose="020B0503020204020204" pitchFamily="34" charset="-122"/>
                <a:ea typeface="微软雅黑" panose="020B0503020204020204" pitchFamily="34" charset="-122"/>
              </a:rPr>
              <a:t>，可以在具体状态类的业务方法中判断环境类的某些属性值，再根据情况为环境类</a:t>
            </a:r>
            <a:r>
              <a:rPr lang="zh-CN" altLang="en-US" sz="2600" b="1" dirty="0" smtClean="0">
                <a:latin typeface="微软雅黑" panose="020B0503020204020204" pitchFamily="34" charset="-122"/>
                <a:ea typeface="微软雅黑" panose="020B0503020204020204" pitchFamily="34" charset="-122"/>
              </a:rPr>
              <a:t>设置新</a:t>
            </a:r>
            <a:r>
              <a:rPr lang="zh-CN" altLang="en-US" sz="2600" b="1" dirty="0">
                <a:latin typeface="微软雅黑" panose="020B0503020204020204" pitchFamily="34" charset="-122"/>
                <a:ea typeface="微软雅黑" panose="020B0503020204020204" pitchFamily="34" charset="-122"/>
              </a:rPr>
              <a:t>的</a:t>
            </a:r>
            <a:r>
              <a:rPr lang="zh-CN" altLang="en-US" sz="2600" b="1" dirty="0" smtClean="0">
                <a:latin typeface="微软雅黑" panose="020B0503020204020204" pitchFamily="34" charset="-122"/>
                <a:ea typeface="微软雅黑" panose="020B0503020204020204" pitchFamily="34" charset="-122"/>
              </a:rPr>
              <a:t>状态对象，实现状态</a:t>
            </a:r>
            <a:r>
              <a:rPr lang="zh-CN" altLang="en-US" sz="2600" b="1" dirty="0">
                <a:latin typeface="微软雅黑" panose="020B0503020204020204" pitchFamily="34" charset="-122"/>
                <a:ea typeface="微软雅黑" panose="020B0503020204020204" pitchFamily="34" charset="-122"/>
              </a:rPr>
              <a:t>转换</a:t>
            </a:r>
            <a:endParaRPr lang="zh-CN" altLang="en-US" sz="2600" b="1"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1778695" y="3141762"/>
          <a:ext cx="9001000" cy="3621024"/>
        </p:xfrm>
        <a:graphic>
          <a:graphicData uri="http://schemas.openxmlformats.org/drawingml/2006/table">
            <a:tbl>
              <a:tblPr/>
              <a:tblGrid>
                <a:gridCol w="9001000"/>
              </a:tblGrid>
              <a:tr h="1564432">
                <a:tc>
                  <a:txBody>
                    <a:bodyPr/>
                    <a:lstStyle/>
                    <a:p>
                      <a:pPr algn="just">
                        <a:lnSpc>
                          <a:spcPct val="100000"/>
                        </a:lnSpc>
                        <a:spcAft>
                          <a:spcPts val="0"/>
                        </a:spcAft>
                      </a:pPr>
                      <a:r>
                        <a:rPr lang="en-US" altLang="zh-CN" sz="2800" b="1" kern="100" dirty="0" smtClean="0">
                          <a:latin typeface="Times New Roman" panose="02020603050405020304"/>
                          <a:ea typeface="+mn-ea"/>
                        </a:rPr>
                        <a:t>public void </a:t>
                      </a:r>
                      <a:r>
                        <a:rPr lang="en-US" altLang="zh-CN" sz="2800" b="1" kern="100" dirty="0" err="1" smtClean="0">
                          <a:latin typeface="Times New Roman" panose="02020603050405020304"/>
                          <a:ea typeface="+mn-ea"/>
                        </a:rPr>
                        <a:t>changeState</a:t>
                      </a:r>
                      <a:r>
                        <a:rPr lang="en-US" altLang="zh-CN" sz="2800" b="1" kern="100" dirty="0" smtClean="0">
                          <a:latin typeface="Times New Roman" panose="02020603050405020304"/>
                          <a:ea typeface="+mn-ea"/>
                        </a:rPr>
                        <a:t>(Context </a:t>
                      </a:r>
                      <a:r>
                        <a:rPr lang="en-US" altLang="zh-CN" sz="2800" b="1" kern="100" dirty="0" err="1" smtClean="0">
                          <a:latin typeface="Times New Roman" panose="02020603050405020304"/>
                          <a:ea typeface="+mn-ea"/>
                        </a:rPr>
                        <a:t>ctx</a:t>
                      </a:r>
                      <a:r>
                        <a:rPr lang="en-US" altLang="zh-CN" sz="2800" b="1" kern="100" dirty="0" smtClean="0">
                          <a:latin typeface="Times New Roman" panose="02020603050405020304"/>
                          <a:ea typeface="+mn-ea"/>
                        </a:rPr>
                        <a:t>) {</a:t>
                      </a:r>
                      <a:endParaRPr lang="en-US" altLang="zh-CN" sz="2800" b="1" kern="100" dirty="0" smtClean="0">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        //</a:t>
                      </a:r>
                      <a:r>
                        <a:rPr lang="zh-CN" altLang="en-US" sz="2800" b="1" kern="100" dirty="0" smtClean="0">
                          <a:latin typeface="Times New Roman" panose="02020603050405020304"/>
                          <a:ea typeface="+mn-ea"/>
                        </a:rPr>
                        <a:t>根据环境对象中的属性值进行状态转换</a:t>
                      </a:r>
                      <a:endParaRPr lang="zh-CN" altLang="en-US" sz="2800" b="1" kern="100" dirty="0" smtClean="0">
                        <a:latin typeface="Times New Roman" panose="02020603050405020304"/>
                        <a:ea typeface="+mn-ea"/>
                      </a:endParaRPr>
                    </a:p>
                    <a:p>
                      <a:pPr algn="just">
                        <a:lnSpc>
                          <a:spcPct val="120000"/>
                        </a:lnSpc>
                        <a:spcAft>
                          <a:spcPts val="0"/>
                        </a:spcAft>
                      </a:pPr>
                      <a:r>
                        <a:rPr lang="zh-CN" altLang="en-US" sz="3200" b="1" kern="100" dirty="0" smtClean="0">
                          <a:solidFill>
                            <a:srgbClr val="FF0000"/>
                          </a:solidFill>
                          <a:latin typeface="Times New Roman" panose="02020603050405020304"/>
                          <a:ea typeface="+mn-ea"/>
                        </a:rPr>
                        <a:t>        </a:t>
                      </a:r>
                      <a:r>
                        <a:rPr lang="en-US" altLang="zh-CN" sz="3200" b="1" kern="100" dirty="0" smtClean="0">
                          <a:solidFill>
                            <a:srgbClr val="FF0000"/>
                          </a:solidFill>
                          <a:latin typeface="Times New Roman" panose="02020603050405020304"/>
                          <a:ea typeface="+mn-ea"/>
                        </a:rPr>
                        <a:t>if (</a:t>
                      </a:r>
                      <a:r>
                        <a:rPr lang="en-US" altLang="zh-CN" sz="3200" b="1" kern="100" dirty="0" err="1" smtClean="0">
                          <a:solidFill>
                            <a:srgbClr val="FF0000"/>
                          </a:solidFill>
                          <a:latin typeface="Times New Roman" panose="02020603050405020304"/>
                          <a:ea typeface="+mn-ea"/>
                        </a:rPr>
                        <a:t>ctx.getValue</a:t>
                      </a:r>
                      <a:r>
                        <a:rPr lang="en-US" altLang="zh-CN" sz="3200" b="1" kern="100" dirty="0" smtClean="0">
                          <a:solidFill>
                            <a:srgbClr val="FF0000"/>
                          </a:solidFill>
                          <a:latin typeface="Times New Roman" panose="02020603050405020304"/>
                          <a:ea typeface="+mn-ea"/>
                        </a:rPr>
                        <a:t>() == 1) {</a:t>
                      </a:r>
                      <a:endParaRPr lang="en-US" altLang="zh-CN" sz="3200" b="1" kern="100" dirty="0" smtClean="0">
                        <a:solidFill>
                          <a:srgbClr val="FF0000"/>
                        </a:solidFill>
                        <a:latin typeface="Times New Roman" panose="02020603050405020304"/>
                        <a:ea typeface="+mn-ea"/>
                      </a:endParaRPr>
                    </a:p>
                    <a:p>
                      <a:pPr algn="just">
                        <a:lnSpc>
                          <a:spcPct val="120000"/>
                        </a:lnSpc>
                        <a:spcAft>
                          <a:spcPts val="0"/>
                        </a:spcAft>
                      </a:pPr>
                      <a:r>
                        <a:rPr lang="en-US" altLang="zh-CN" sz="3200" b="1" kern="100" dirty="0" smtClean="0">
                          <a:solidFill>
                            <a:srgbClr val="FF0000"/>
                          </a:solidFill>
                          <a:latin typeface="Times New Roman" panose="02020603050405020304"/>
                          <a:ea typeface="+mn-ea"/>
                        </a:rPr>
                        <a:t>            </a:t>
                      </a:r>
                      <a:r>
                        <a:rPr lang="en-US" altLang="zh-CN" sz="3200" b="1" kern="100" dirty="0" err="1" smtClean="0">
                          <a:solidFill>
                            <a:srgbClr val="FF0000"/>
                          </a:solidFill>
                          <a:latin typeface="Times New Roman" panose="02020603050405020304"/>
                          <a:ea typeface="+mn-ea"/>
                        </a:rPr>
                        <a:t>ctx.setState</a:t>
                      </a:r>
                      <a:r>
                        <a:rPr lang="en-US" altLang="zh-CN" sz="3200" b="1" kern="100" dirty="0" smtClean="0">
                          <a:solidFill>
                            <a:srgbClr val="FF0000"/>
                          </a:solidFill>
                          <a:latin typeface="Times New Roman" panose="02020603050405020304"/>
                          <a:ea typeface="+mn-ea"/>
                        </a:rPr>
                        <a:t>(new </a:t>
                      </a:r>
                      <a:r>
                        <a:rPr lang="en-US" altLang="zh-CN" sz="3200" b="1" kern="100" dirty="0" err="1" smtClean="0">
                          <a:solidFill>
                            <a:srgbClr val="FF0000"/>
                          </a:solidFill>
                          <a:latin typeface="Times New Roman" panose="02020603050405020304"/>
                          <a:ea typeface="+mn-ea"/>
                        </a:rPr>
                        <a:t>ConcreteStateB</a:t>
                      </a:r>
                      <a:r>
                        <a:rPr lang="en-US" altLang="zh-CN" sz="3200" b="1" kern="100" dirty="0" smtClean="0">
                          <a:solidFill>
                            <a:srgbClr val="FF0000"/>
                          </a:solidFill>
                          <a:latin typeface="Times New Roman" panose="02020603050405020304"/>
                          <a:ea typeface="+mn-ea"/>
                        </a:rPr>
                        <a:t>( ));        }</a:t>
                      </a:r>
                      <a:endParaRPr lang="en-US" altLang="zh-CN" sz="3200" b="1" kern="100" dirty="0" smtClean="0">
                        <a:solidFill>
                          <a:srgbClr val="FF0000"/>
                        </a:solidFill>
                        <a:latin typeface="Times New Roman" panose="02020603050405020304"/>
                        <a:ea typeface="+mn-ea"/>
                      </a:endParaRPr>
                    </a:p>
                    <a:p>
                      <a:pPr algn="just">
                        <a:lnSpc>
                          <a:spcPct val="120000"/>
                        </a:lnSpc>
                        <a:spcAft>
                          <a:spcPts val="0"/>
                        </a:spcAft>
                      </a:pPr>
                      <a:r>
                        <a:rPr lang="en-US" altLang="zh-CN" sz="3200" b="1" kern="100" dirty="0" smtClean="0">
                          <a:solidFill>
                            <a:srgbClr val="FF0000"/>
                          </a:solidFill>
                          <a:latin typeface="Times New Roman" panose="02020603050405020304"/>
                          <a:ea typeface="+mn-ea"/>
                        </a:rPr>
                        <a:t>        else if (</a:t>
                      </a:r>
                      <a:r>
                        <a:rPr lang="en-US" altLang="zh-CN" sz="3200" b="1" kern="100" dirty="0" err="1" smtClean="0">
                          <a:solidFill>
                            <a:srgbClr val="FF0000"/>
                          </a:solidFill>
                          <a:latin typeface="Times New Roman" panose="02020603050405020304"/>
                          <a:ea typeface="+mn-ea"/>
                        </a:rPr>
                        <a:t>ctx.getValue</a:t>
                      </a:r>
                      <a:r>
                        <a:rPr lang="en-US" altLang="zh-CN" sz="3200" b="1" kern="100" dirty="0" smtClean="0">
                          <a:solidFill>
                            <a:srgbClr val="FF0000"/>
                          </a:solidFill>
                          <a:latin typeface="Times New Roman" panose="02020603050405020304"/>
                          <a:ea typeface="+mn-ea"/>
                        </a:rPr>
                        <a:t>() == 2) {</a:t>
                      </a:r>
                      <a:endParaRPr lang="en-US" altLang="zh-CN" sz="3200" b="1" kern="100" dirty="0" smtClean="0">
                        <a:solidFill>
                          <a:srgbClr val="FF0000"/>
                        </a:solidFill>
                        <a:latin typeface="Times New Roman" panose="02020603050405020304"/>
                        <a:ea typeface="+mn-ea"/>
                      </a:endParaRPr>
                    </a:p>
                    <a:p>
                      <a:pPr algn="just">
                        <a:lnSpc>
                          <a:spcPct val="120000"/>
                        </a:lnSpc>
                        <a:spcAft>
                          <a:spcPts val="0"/>
                        </a:spcAft>
                      </a:pPr>
                      <a:r>
                        <a:rPr lang="en-US" altLang="zh-CN" sz="3200" b="1" kern="100" dirty="0" smtClean="0">
                          <a:solidFill>
                            <a:srgbClr val="FF0000"/>
                          </a:solidFill>
                          <a:latin typeface="Times New Roman" panose="02020603050405020304"/>
                          <a:ea typeface="+mn-ea"/>
                        </a:rPr>
                        <a:t>            </a:t>
                      </a:r>
                      <a:r>
                        <a:rPr lang="en-US" altLang="zh-CN" sz="3200" b="1" kern="100" dirty="0" err="1" smtClean="0">
                          <a:solidFill>
                            <a:srgbClr val="FF0000"/>
                          </a:solidFill>
                          <a:latin typeface="Times New Roman" panose="02020603050405020304"/>
                          <a:ea typeface="+mn-ea"/>
                        </a:rPr>
                        <a:t>ctx.setState</a:t>
                      </a:r>
                      <a:r>
                        <a:rPr lang="en-US" altLang="zh-CN" sz="3200" b="1" kern="100" dirty="0" smtClean="0">
                          <a:solidFill>
                            <a:srgbClr val="FF0000"/>
                          </a:solidFill>
                          <a:latin typeface="Times New Roman" panose="02020603050405020304"/>
                          <a:ea typeface="+mn-ea"/>
                        </a:rPr>
                        <a:t>(new </a:t>
                      </a:r>
                      <a:r>
                        <a:rPr lang="en-US" altLang="zh-CN" sz="3200" b="1" kern="100" dirty="0" err="1" smtClean="0">
                          <a:solidFill>
                            <a:srgbClr val="FF0000"/>
                          </a:solidFill>
                          <a:latin typeface="Times New Roman" panose="02020603050405020304"/>
                          <a:ea typeface="+mn-ea"/>
                        </a:rPr>
                        <a:t>ConcreteStateC</a:t>
                      </a:r>
                      <a:r>
                        <a:rPr lang="en-US" altLang="zh-CN" sz="3200" b="1" kern="100" dirty="0" smtClean="0">
                          <a:solidFill>
                            <a:srgbClr val="FF0000"/>
                          </a:solidFill>
                          <a:latin typeface="Times New Roman" panose="02020603050405020304"/>
                          <a:ea typeface="+mn-ea"/>
                        </a:rPr>
                        <a:t>( ));        }</a:t>
                      </a:r>
                      <a:endParaRPr lang="en-US" altLang="zh-CN" sz="3200" b="1" kern="100" dirty="0" smtClean="0">
                        <a:solidFill>
                          <a:srgbClr val="FF0000"/>
                        </a:solidFill>
                        <a:latin typeface="Times New Roman" panose="02020603050405020304"/>
                        <a:ea typeface="+mn-ea"/>
                      </a:endParaRPr>
                    </a:p>
                    <a:p>
                      <a:pPr algn="just">
                        <a:lnSpc>
                          <a:spcPct val="100000"/>
                        </a:lnSpc>
                        <a:spcAft>
                          <a:spcPts val="0"/>
                        </a:spcAft>
                      </a:pPr>
                      <a:r>
                        <a:rPr lang="en-US" altLang="zh-CN" sz="2800" b="1" kern="100" dirty="0" smtClean="0">
                          <a:latin typeface="Times New Roman" panose="02020603050405020304"/>
                          <a:ea typeface="+mn-ea"/>
                        </a:rPr>
                        <a:t>        ......    }</a:t>
                      </a:r>
                      <a:endParaRPr lang="en-US" altLang="zh-CN" sz="28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7567" y="1014090"/>
            <a:ext cx="7620000" cy="50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wipe/>
  </p:transition>
  <p:timing>
    <p:tnLst>
      <p:par>
        <p:cTn id="1" dur="indefinite" restart="never" nodeType="tmRoot"/>
      </p:par>
    </p:tnLst>
  </p:timing>
</p:sld>
</file>

<file path=ppt/tags/tag1.xml><?xml version="1.0" encoding="utf-8"?>
<p:tagLst xmlns:p="http://schemas.openxmlformats.org/presentationml/2006/main">
  <p:tag name="ISPRING_ULTRA_SCORM_SLIDE_COUNT" val="4"/>
  <p:tag name="ISPRING_PRESENTATION_TITLE" val="PowerPoint 演示文稿"/>
  <p:tag name="ISPRING_RESOURCE_PATHS_HASH_PRESENTER" val="af3f2d575d923f6e4ff64f325e7b41567660d7"/>
  <p:tag name="commondata" val="eyJoZGlkIjoiZmIwNTgzN2VkODcyMGZjYmE5ZDczYWZmOTUyYTJjOTMifQ=="/>
</p:tagLst>
</file>

<file path=ppt/theme/theme1.xml><?xml version="1.0" encoding="utf-8"?>
<a:theme xmlns:a="http://schemas.openxmlformats.org/drawingml/2006/main" name="第一PPT，www.1ppt.com">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5875</Words>
  <Application>WPS 演示</Application>
  <PresentationFormat>自定义</PresentationFormat>
  <Paragraphs>398</Paragraphs>
  <Slides>37</Slides>
  <Notes>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37</vt:i4>
      </vt:variant>
    </vt:vector>
  </HeadingPairs>
  <TitlesOfParts>
    <vt:vector size="55" baseType="lpstr">
      <vt:lpstr>Arial</vt:lpstr>
      <vt:lpstr>宋体</vt:lpstr>
      <vt:lpstr>Wingdings</vt:lpstr>
      <vt:lpstr>Eras Bold ITC</vt:lpstr>
      <vt:lpstr>微软雅黑</vt:lpstr>
      <vt:lpstr>Arial Unicode MS</vt:lpstr>
      <vt:lpstr>Times New Roman</vt:lpstr>
      <vt:lpstr>黑体</vt:lpstr>
      <vt:lpstr>Times New Roman</vt:lpstr>
      <vt:lpstr>Arial Unicode MS</vt:lpstr>
      <vt:lpstr>Calibri</vt:lpstr>
      <vt:lpstr>华文行楷</vt:lpstr>
      <vt:lpstr>Arial</vt:lpstr>
      <vt:lpstr>Tahoma</vt:lpstr>
      <vt:lpstr>隶书</vt:lpstr>
      <vt:lpstr>楷体_GB2312</vt:lpstr>
      <vt:lpstr>新宋体</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蓝色简洁</dc:title>
  <dc:creator>第一PPT</dc:creator>
  <cp:keywords>www.1ppt.com</cp:keywords>
  <cp:lastModifiedBy>i-sugars</cp:lastModifiedBy>
  <cp:revision>432</cp:revision>
  <dcterms:created xsi:type="dcterms:W3CDTF">2014-08-23T07:50:00Z</dcterms:created>
  <dcterms:modified xsi:type="dcterms:W3CDTF">2024-10-22T18:03:51Z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643776E5A2E9454FB093799C3D94E123_12</vt:lpwstr>
  </property>
  <property fmtid="{D5CDD505-2E9C-101B-9397-08002B2CF9AE}" pid="3" name="KSOProductBuildVer">
    <vt:lpwstr>2052-12.1.0.18608</vt:lpwstr>
  </property>
</Properties>
</file>