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42" r:id="rId3"/>
    <p:sldId id="469" r:id="rId5"/>
    <p:sldId id="601" r:id="rId6"/>
    <p:sldId id="602" r:id="rId7"/>
    <p:sldId id="603" r:id="rId8"/>
    <p:sldId id="437" r:id="rId9"/>
    <p:sldId id="600" r:id="rId10"/>
    <p:sldId id="560" r:id="rId11"/>
    <p:sldId id="536" r:id="rId12"/>
    <p:sldId id="579" r:id="rId13"/>
    <p:sldId id="604" r:id="rId14"/>
    <p:sldId id="607" r:id="rId15"/>
    <p:sldId id="571" r:id="rId16"/>
    <p:sldId id="472" r:id="rId17"/>
    <p:sldId id="605" r:id="rId18"/>
    <p:sldId id="608" r:id="rId19"/>
    <p:sldId id="587" r:id="rId20"/>
    <p:sldId id="606" r:id="rId21"/>
    <p:sldId id="447" r:id="rId22"/>
    <p:sldId id="584" r:id="rId23"/>
    <p:sldId id="548" r:id="rId24"/>
    <p:sldId id="549" r:id="rId25"/>
    <p:sldId id="599" r:id="rId26"/>
    <p:sldId id="551" r:id="rId27"/>
    <p:sldId id="609" r:id="rId28"/>
    <p:sldId id="614" r:id="rId29"/>
    <p:sldId id="615" r:id="rId30"/>
    <p:sldId id="616" r:id="rId31"/>
    <p:sldId id="448" r:id="rId32"/>
    <p:sldId id="565" r:id="rId33"/>
    <p:sldId id="553" r:id="rId34"/>
    <p:sldId id="554" r:id="rId35"/>
    <p:sldId id="555" r:id="rId36"/>
    <p:sldId id="588" r:id="rId37"/>
    <p:sldId id="610" r:id="rId38"/>
    <p:sldId id="591" r:id="rId39"/>
    <p:sldId id="611" r:id="rId40"/>
    <p:sldId id="612" r:id="rId41"/>
    <p:sldId id="613" r:id="rId42"/>
    <p:sldId id="487" r:id="rId43"/>
  </p:sldIdLst>
  <p:sldSz cx="12198350" cy="6859270"/>
  <p:notesSz cx="6858000" cy="9144000"/>
  <p:custDataLst>
    <p:tags r:id="rId47"/>
  </p:custDataLst>
  <p:defaultText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2" userDrawn="1">
          <p15:clr>
            <a:srgbClr val="A4A3A4"/>
          </p15:clr>
        </p15:guide>
        <p15:guide id="3" pos="304" userDrawn="1">
          <p15:clr>
            <a:srgbClr val="A4A3A4"/>
          </p15:clr>
        </p15:guide>
        <p15:guide id="4" pos="1892" userDrawn="1">
          <p15:clr>
            <a:srgbClr val="A4A3A4"/>
          </p15:clr>
        </p15:guide>
        <p15:guide id="5" pos="121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DA2"/>
    <a:srgbClr val="FAFAFA"/>
    <a:srgbClr val="FFC400"/>
    <a:srgbClr val="FFD347"/>
    <a:srgbClr val="FFC91D"/>
    <a:srgbClr val="0071C1"/>
    <a:srgbClr val="4144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59" autoAdjust="0"/>
    <p:restoredTop sz="92513" autoAdjust="0"/>
  </p:normalViewPr>
  <p:slideViewPr>
    <p:cSldViewPr showGuides="1">
      <p:cViewPr varScale="1">
        <p:scale>
          <a:sx n="55" d="100"/>
          <a:sy n="55" d="100"/>
        </p:scale>
        <p:origin x="-102" y="-360"/>
      </p:cViewPr>
      <p:guideLst>
        <p:guide orient="horz" pos="2160"/>
        <p:guide pos="3842"/>
        <p:guide pos="304"/>
        <p:guide pos="1892"/>
        <p:guide pos="1211"/>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7" Type="http://schemas.openxmlformats.org/officeDocument/2006/relationships/tags" Target="tags/tag1.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62AE03-6EE8-41FD-8A37-86C6BC5E264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21FD59-C920-460C-B1C9-0346C59420B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835" rtl="0" eaLnBrk="1" latinLnBrk="0" hangingPunct="1">
      <a:defRPr sz="1600" kern="1200">
        <a:solidFill>
          <a:schemeClr val="tx1"/>
        </a:solidFill>
        <a:latin typeface="+mn-lt"/>
        <a:ea typeface="+mn-ea"/>
        <a:cs typeface="+mn-cs"/>
      </a:defRPr>
    </a:lvl1pPr>
    <a:lvl2pPr marL="609600" algn="l" defTabSz="1219835" rtl="0" eaLnBrk="1" latinLnBrk="0" hangingPunct="1">
      <a:defRPr sz="1600" kern="1200">
        <a:solidFill>
          <a:schemeClr val="tx1"/>
        </a:solidFill>
        <a:latin typeface="+mn-lt"/>
        <a:ea typeface="+mn-ea"/>
        <a:cs typeface="+mn-cs"/>
      </a:defRPr>
    </a:lvl2pPr>
    <a:lvl3pPr marL="1219835" algn="l" defTabSz="1219835" rtl="0" eaLnBrk="1" latinLnBrk="0" hangingPunct="1">
      <a:defRPr sz="1600" kern="1200">
        <a:solidFill>
          <a:schemeClr val="tx1"/>
        </a:solidFill>
        <a:latin typeface="+mn-lt"/>
        <a:ea typeface="+mn-ea"/>
        <a:cs typeface="+mn-cs"/>
      </a:defRPr>
    </a:lvl3pPr>
    <a:lvl4pPr marL="1829435" algn="l" defTabSz="1219835" rtl="0" eaLnBrk="1" latinLnBrk="0" hangingPunct="1">
      <a:defRPr sz="1600" kern="1200">
        <a:solidFill>
          <a:schemeClr val="tx1"/>
        </a:solidFill>
        <a:latin typeface="+mn-lt"/>
        <a:ea typeface="+mn-ea"/>
        <a:cs typeface="+mn-cs"/>
      </a:defRPr>
    </a:lvl4pPr>
    <a:lvl5pPr marL="2439035" algn="l" defTabSz="1219835" rtl="0" eaLnBrk="1" latinLnBrk="0" hangingPunct="1">
      <a:defRPr sz="1600" kern="1200">
        <a:solidFill>
          <a:schemeClr val="tx1"/>
        </a:solidFill>
        <a:latin typeface="+mn-lt"/>
        <a:ea typeface="+mn-ea"/>
        <a:cs typeface="+mn-cs"/>
      </a:defRPr>
    </a:lvl5pPr>
    <a:lvl6pPr marL="3049270" algn="l" defTabSz="1219835" rtl="0" eaLnBrk="1" latinLnBrk="0" hangingPunct="1">
      <a:defRPr sz="1600" kern="1200">
        <a:solidFill>
          <a:schemeClr val="tx1"/>
        </a:solidFill>
        <a:latin typeface="+mn-lt"/>
        <a:ea typeface="+mn-ea"/>
        <a:cs typeface="+mn-cs"/>
      </a:defRPr>
    </a:lvl6pPr>
    <a:lvl7pPr marL="3658870" algn="l" defTabSz="1219835" rtl="0" eaLnBrk="1" latinLnBrk="0" hangingPunct="1">
      <a:defRPr sz="1600" kern="1200">
        <a:solidFill>
          <a:schemeClr val="tx1"/>
        </a:solidFill>
        <a:latin typeface="+mn-lt"/>
        <a:ea typeface="+mn-ea"/>
        <a:cs typeface="+mn-cs"/>
      </a:defRPr>
    </a:lvl7pPr>
    <a:lvl8pPr marL="4268470" algn="l" defTabSz="1219835" rtl="0" eaLnBrk="1" latinLnBrk="0" hangingPunct="1">
      <a:defRPr sz="1600" kern="1200">
        <a:solidFill>
          <a:schemeClr val="tx1"/>
        </a:solidFill>
        <a:latin typeface="+mn-lt"/>
        <a:ea typeface="+mn-ea"/>
        <a:cs typeface="+mn-cs"/>
      </a:defRPr>
    </a:lvl8pPr>
    <a:lvl9pPr marL="4878705" algn="l" defTabSz="121983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spd="slow" advTm="0">
    <p:wip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5" name="直接连接符 4"/>
          <p:cNvCxnSpPr/>
          <p:nvPr userDrawn="1"/>
        </p:nvCxnSpPr>
        <p:spPr>
          <a:xfrm>
            <a:off x="1562671" y="693490"/>
            <a:ext cx="10635679"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2511" y="0"/>
            <a:ext cx="1155204" cy="1100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advTm="0">
    <p:wip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918" y="274702"/>
            <a:ext cx="10978515" cy="1143265"/>
          </a:xfrm>
          <a:prstGeom prst="rect">
            <a:avLst/>
          </a:prstGeom>
        </p:spPr>
        <p:txBody>
          <a:bodyPr lIns="121963" tIns="60981" rIns="121963" bIns="60981"/>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4" name="页脚占位符 3"/>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5" name="灯片编号占位符 4"/>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3" name="页脚占位符 2"/>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4" name="灯片编号占位符 3"/>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920" y="273112"/>
            <a:ext cx="4013173" cy="1162320"/>
          </a:xfrm>
          <a:prstGeom prst="rect">
            <a:avLst/>
          </a:prstGeom>
        </p:spPr>
        <p:txBody>
          <a:bodyPr lIns="121963" tIns="60981" rIns="121963" bIns="60981" anchor="b"/>
          <a:lstStyle>
            <a:lvl1pPr algn="l">
              <a:defRPr sz="27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9216" y="273114"/>
            <a:ext cx="6819216" cy="5854469"/>
          </a:xfrm>
          <a:prstGeom prst="rect">
            <a:avLst/>
          </a:prstGeom>
        </p:spPr>
        <p:txBody>
          <a:bodyPr lIns="121963" tIns="60981" rIns="121963" bIns="60981"/>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09920" y="1435434"/>
            <a:ext cx="4013173" cy="4692149"/>
          </a:xfrm>
          <a:prstGeom prst="rect">
            <a:avLst/>
          </a:prstGeom>
        </p:spPr>
        <p:txBody>
          <a:bodyPr lIns="121963" tIns="60981" rIns="121963" bIns="60981"/>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6" name="页脚占位符 5"/>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962" y="4801712"/>
            <a:ext cx="7319010" cy="566870"/>
          </a:xfrm>
          <a:prstGeom prst="rect">
            <a:avLst/>
          </a:prstGeom>
        </p:spPr>
        <p:txBody>
          <a:bodyPr lIns="121963" tIns="60981" rIns="121963" bIns="60981" anchor="b"/>
          <a:lstStyle>
            <a:lvl1pPr algn="l">
              <a:defRPr sz="27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962" y="612916"/>
            <a:ext cx="7319010" cy="4115753"/>
          </a:xfrm>
          <a:prstGeom prst="rect">
            <a:avLst/>
          </a:prstGeom>
        </p:spPr>
        <p:txBody>
          <a:bodyPr lIns="121963" tIns="60981" rIns="121963" bIns="60981"/>
          <a:lstStyle>
            <a:lvl1pPr marL="0" indent="0">
              <a:buNone/>
              <a:defRPr sz="4300"/>
            </a:lvl1pPr>
            <a:lvl2pPr marL="609600" indent="0">
              <a:buNone/>
              <a:defRPr sz="3700"/>
            </a:lvl2pPr>
            <a:lvl3pPr marL="1219835" indent="0">
              <a:buNone/>
              <a:defRPr sz="3200"/>
            </a:lvl3pPr>
            <a:lvl4pPr marL="1829435" indent="0">
              <a:buNone/>
              <a:defRPr sz="2700"/>
            </a:lvl4pPr>
            <a:lvl5pPr marL="2439035" indent="0">
              <a:buNone/>
              <a:defRPr sz="2700"/>
            </a:lvl5pPr>
            <a:lvl6pPr marL="3049270" indent="0">
              <a:buNone/>
              <a:defRPr sz="2700"/>
            </a:lvl6pPr>
            <a:lvl7pPr marL="3658870" indent="0">
              <a:buNone/>
              <a:defRPr sz="2700"/>
            </a:lvl7pPr>
            <a:lvl8pPr marL="4268470" indent="0">
              <a:buNone/>
              <a:defRPr sz="2700"/>
            </a:lvl8pPr>
            <a:lvl9pPr marL="4878705" indent="0">
              <a:buNone/>
              <a:defRPr sz="2700"/>
            </a:lvl9pPr>
          </a:lstStyle>
          <a:p>
            <a:endParaRPr lang="zh-CN" altLang="en-US"/>
          </a:p>
        </p:txBody>
      </p:sp>
      <p:sp>
        <p:nvSpPr>
          <p:cNvPr id="4" name="文本占位符 3"/>
          <p:cNvSpPr>
            <a:spLocks noGrp="1"/>
          </p:cNvSpPr>
          <p:nvPr>
            <p:ph type="body" sz="half" idx="2"/>
          </p:nvPr>
        </p:nvSpPr>
        <p:spPr>
          <a:xfrm>
            <a:off x="2390962" y="5368581"/>
            <a:ext cx="7319010" cy="805049"/>
          </a:xfrm>
          <a:prstGeom prst="rect">
            <a:avLst/>
          </a:prstGeom>
        </p:spPr>
        <p:txBody>
          <a:bodyPr lIns="121963" tIns="60981" rIns="121963" bIns="60981"/>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6" name="页脚占位符 5"/>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918" y="274702"/>
            <a:ext cx="10978515" cy="1143265"/>
          </a:xfrm>
          <a:prstGeom prst="rect">
            <a:avLst/>
          </a:prstGeom>
        </p:spPr>
        <p:txBody>
          <a:bodyPr lIns="121963" tIns="60981" rIns="121963" bIns="60981"/>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918" y="1600572"/>
            <a:ext cx="10978515" cy="4527011"/>
          </a:xfrm>
          <a:prstGeom prst="rect">
            <a:avLst/>
          </a:prstGeom>
        </p:spPr>
        <p:txBody>
          <a:bodyPr vert="eaVert" lIns="121963" tIns="60981" rIns="121963" bIns="6098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5" name="页脚占位符 4"/>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6" name="灯片编号占位符 5"/>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804" y="206422"/>
            <a:ext cx="2744629" cy="4388867"/>
          </a:xfrm>
          <a:prstGeom prst="rect">
            <a:avLst/>
          </a:prstGeom>
        </p:spPr>
        <p:txBody>
          <a:bodyPr vert="eaVert" lIns="121963" tIns="60981" rIns="121963" bIns="60981"/>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918" y="206422"/>
            <a:ext cx="8030580" cy="4388867"/>
          </a:xfrm>
          <a:prstGeom prst="rect">
            <a:avLst/>
          </a:prstGeom>
        </p:spPr>
        <p:txBody>
          <a:bodyPr vert="eaVert" lIns="121963" tIns="60981" rIns="121963" bIns="6098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5" name="页脚占位符 4"/>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6" name="灯片编号占位符 5"/>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p:transition spd="slow" advTm="0">
    <p:wip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slow" advTm="0">
    <p:wipe/>
  </p:transition>
  <p:timing>
    <p:tnLst>
      <p:par>
        <p:cTn id="1" dur="indefinite" restart="never" nodeType="tmRoot"/>
      </p:par>
    </p:tnLst>
  </p:timing>
  <p:txStyles>
    <p:titleStyle>
      <a:lvl1pPr algn="ctr" defTabSz="1219835"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screen"/>
          <a:stretch>
            <a:fillRect/>
          </a:stretch>
        </p:blipFill>
        <p:spPr>
          <a:xfrm>
            <a:off x="-616" y="-26590"/>
            <a:ext cx="12193647" cy="6860642"/>
          </a:xfrm>
          <a:prstGeom prst="rect">
            <a:avLst/>
          </a:prstGeom>
        </p:spPr>
      </p:pic>
      <p:cxnSp>
        <p:nvCxnSpPr>
          <p:cNvPr id="25" name="直接连接符 24"/>
          <p:cNvCxnSpPr/>
          <p:nvPr/>
        </p:nvCxnSpPr>
        <p:spPr>
          <a:xfrm>
            <a:off x="5327222" y="4390123"/>
            <a:ext cx="6028912"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582825" y="455097"/>
            <a:ext cx="2152446" cy="861974"/>
          </a:xfrm>
          <a:prstGeom prst="rect">
            <a:avLst/>
          </a:prstGeom>
          <a:noFill/>
        </p:spPr>
        <p:txBody>
          <a:bodyPr wrap="none" lIns="121917" tIns="60958" rIns="121917" bIns="60958" rtlCol="0">
            <a:spAutoFit/>
          </a:bodyPr>
          <a:lstStyle/>
          <a:p>
            <a:r>
              <a:rPr lang="en-US" altLang="zh-CN" sz="4800" dirty="0">
                <a:solidFill>
                  <a:schemeClr val="bg1"/>
                </a:solidFill>
                <a:latin typeface="Eras Bold ITC" panose="020B0907030504020204" pitchFamily="34" charset="0"/>
              </a:rPr>
              <a:t>LOGO</a:t>
            </a:r>
            <a:endParaRPr lang="zh-CN" altLang="en-US" sz="4800" dirty="0">
              <a:solidFill>
                <a:schemeClr val="bg1"/>
              </a:solidFill>
              <a:latin typeface="Eras Bold ITC" panose="020B0907030504020204" pitchFamily="34" charset="0"/>
            </a:endParaRPr>
          </a:p>
        </p:txBody>
      </p:sp>
      <p:sp>
        <p:nvSpPr>
          <p:cNvPr id="30" name="TextBox 29"/>
          <p:cNvSpPr txBox="1"/>
          <p:nvPr/>
        </p:nvSpPr>
        <p:spPr>
          <a:xfrm>
            <a:off x="8790240" y="5197738"/>
            <a:ext cx="1989455" cy="612775"/>
          </a:xfrm>
          <a:prstGeom prst="rect">
            <a:avLst/>
          </a:prstGeom>
          <a:noFill/>
        </p:spPr>
        <p:txBody>
          <a:bodyPr wrap="none" lIns="121917" tIns="60958" rIns="121917" bIns="60958" rtlCol="0">
            <a:spAutoFit/>
          </a:bodyPr>
          <a:lstStyle/>
          <a:p>
            <a:pPr algn="r"/>
            <a:r>
              <a:rPr lang="zh-CN" altLang="en-US" sz="3200" b="1" dirty="0" smtClean="0">
                <a:solidFill>
                  <a:schemeClr val="tx1">
                    <a:lumMod val="75000"/>
                    <a:lumOff val="25000"/>
                  </a:schemeClr>
                </a:solidFill>
                <a:latin typeface="微软雅黑" panose="020B0503020204020204" pitchFamily="34" charset="-122"/>
                <a:ea typeface="微软雅黑" panose="020B0503020204020204" pitchFamily="34" charset="-122"/>
              </a:rPr>
              <a:t> 软件学院</a:t>
            </a:r>
            <a:endParaRPr lang="en-US" altLang="zh-CN" sz="3200" b="1"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4" name="TextBox 23"/>
          <p:cNvSpPr txBox="1"/>
          <p:nvPr/>
        </p:nvSpPr>
        <p:spPr>
          <a:xfrm>
            <a:off x="7133889" y="2709714"/>
            <a:ext cx="4075790" cy="954103"/>
          </a:xfrm>
          <a:prstGeom prst="rect">
            <a:avLst/>
          </a:prstGeom>
          <a:noFill/>
        </p:spPr>
        <p:txBody>
          <a:bodyPr wrap="none" lIns="121917" tIns="60958" rIns="121917" bIns="60958" rtlCol="0">
            <a:spAutoFit/>
          </a:bodyPr>
          <a:lstStyle/>
          <a:p>
            <a:pPr algn="r"/>
            <a:r>
              <a:rPr lang="en-US" altLang="zh-CN" sz="5400" b="1" dirty="0" smtClean="0">
                <a:solidFill>
                  <a:schemeClr val="accent1"/>
                </a:solidFill>
                <a:latin typeface="微软雅黑" panose="020B0503020204020204" pitchFamily="34" charset="-122"/>
                <a:ea typeface="微软雅黑" panose="020B0503020204020204" pitchFamily="34" charset="-122"/>
              </a:rPr>
              <a:t>18 </a:t>
            </a:r>
            <a:r>
              <a:rPr lang="zh-CN" altLang="en-US" sz="5400" b="1" dirty="0" smtClean="0">
                <a:solidFill>
                  <a:schemeClr val="accent1"/>
                </a:solidFill>
                <a:latin typeface="微软雅黑" panose="020B0503020204020204" pitchFamily="34" charset="-122"/>
                <a:ea typeface="微软雅黑" panose="020B0503020204020204" pitchFamily="34" charset="-122"/>
              </a:rPr>
              <a:t>命令模式</a:t>
            </a:r>
            <a:endParaRPr lang="zh-CN" altLang="en-US" sz="54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14599" y="693490"/>
            <a:ext cx="10657184" cy="5909310"/>
          </a:xfrm>
          <a:prstGeom prst="rect">
            <a:avLst/>
          </a:prstGeom>
        </p:spPr>
        <p:txBody>
          <a:bodyPr wrap="square">
            <a:spAutoFit/>
          </a:bodyPr>
          <a:lstStyle/>
          <a:p>
            <a:pPr indent="457200">
              <a:lnSpc>
                <a:spcPct val="150000"/>
              </a:lnSpc>
            </a:pPr>
            <a:r>
              <a:rPr lang="zh-CN" altLang="en-US" sz="2800" b="1" dirty="0" smtClean="0">
                <a:latin typeface="微软雅黑" panose="020B0503020204020204" pitchFamily="34" charset="-122"/>
                <a:ea typeface="微软雅黑" panose="020B0503020204020204" pitchFamily="34" charset="-122"/>
              </a:rPr>
              <a:t>创建</a:t>
            </a:r>
            <a:r>
              <a:rPr lang="zh-CN" altLang="en-US" sz="2800" b="1" dirty="0">
                <a:latin typeface="微软雅黑" panose="020B0503020204020204" pitchFamily="34" charset="-122"/>
                <a:ea typeface="微软雅黑" panose="020B0503020204020204" pitchFamily="34" charset="-122"/>
              </a:rPr>
              <a:t>型设计模式关注对象的创建过程，结构型设计模式关注对象与类的组织，而</a:t>
            </a:r>
            <a:r>
              <a:rPr lang="zh-CN" altLang="en-US" sz="2800" b="1" dirty="0" smtClean="0">
                <a:latin typeface="微软雅黑" panose="020B0503020204020204" pitchFamily="34" charset="-122"/>
                <a:ea typeface="微软雅黑" panose="020B0503020204020204" pitchFamily="34" charset="-122"/>
              </a:rPr>
              <a:t>行为型模式</a:t>
            </a:r>
            <a:r>
              <a:rPr lang="zh-CN" altLang="en-US" sz="2800" b="1" dirty="0">
                <a:latin typeface="微软雅黑" panose="020B0503020204020204" pitchFamily="34" charset="-122"/>
                <a:ea typeface="微软雅黑" panose="020B0503020204020204" pitchFamily="34" charset="-122"/>
              </a:rPr>
              <a:t>关注对象之间的交互。相对创建型模式和结构型模式，</a:t>
            </a:r>
            <a:r>
              <a:rPr lang="zh-CN" altLang="en-US" sz="2800" b="1" dirty="0">
                <a:solidFill>
                  <a:srgbClr val="FF0000"/>
                </a:solidFill>
                <a:latin typeface="微软雅黑" panose="020B0503020204020204" pitchFamily="34" charset="-122"/>
                <a:ea typeface="微软雅黑" panose="020B0503020204020204" pitchFamily="34" charset="-122"/>
              </a:rPr>
              <a:t>行为型模式定义了系统中对象之间的交互与通信，研究系统在运行时对象之间的相互通信与协作，进一步明确对象的</a:t>
            </a:r>
            <a:r>
              <a:rPr lang="zh-CN" altLang="en-US" sz="2800" b="1" dirty="0" smtClean="0">
                <a:solidFill>
                  <a:srgbClr val="FF0000"/>
                </a:solidFill>
                <a:latin typeface="微软雅黑" panose="020B0503020204020204" pitchFamily="34" charset="-122"/>
                <a:ea typeface="微软雅黑" panose="020B0503020204020204" pitchFamily="34" charset="-122"/>
              </a:rPr>
              <a:t>职责，包括</a:t>
            </a:r>
            <a:r>
              <a:rPr lang="zh-CN" altLang="en-US" sz="2800" b="1" dirty="0">
                <a:solidFill>
                  <a:srgbClr val="FF0000"/>
                </a:solidFill>
                <a:latin typeface="微软雅黑" panose="020B0503020204020204" pitchFamily="34" charset="-122"/>
                <a:ea typeface="微软雅黑" panose="020B0503020204020204" pitchFamily="34" charset="-122"/>
              </a:rPr>
              <a:t>对系统中较为复杂的流程的控制</a:t>
            </a:r>
            <a:r>
              <a:rPr lang="zh-CN" altLang="en-US" sz="2800" b="1" dirty="0" smtClean="0">
                <a:solidFill>
                  <a:srgbClr val="FF0000"/>
                </a:solidFill>
                <a:latin typeface="微软雅黑" panose="020B0503020204020204" pitchFamily="34" charset="-122"/>
                <a:ea typeface="微软雅黑" panose="020B0503020204020204" pitchFamily="34" charset="-122"/>
              </a:rPr>
              <a:t>。</a:t>
            </a:r>
            <a:endParaRPr lang="zh-CN" altLang="en-US" sz="2800" b="1" dirty="0">
              <a:latin typeface="微软雅黑" panose="020B0503020204020204" pitchFamily="34" charset="-122"/>
              <a:ea typeface="微软雅黑" panose="020B0503020204020204" pitchFamily="34" charset="-122"/>
            </a:endParaRPr>
          </a:p>
          <a:p>
            <a:pPr indent="457200">
              <a:lnSpc>
                <a:spcPct val="150000"/>
              </a:lnSpc>
            </a:pPr>
            <a:r>
              <a:rPr lang="zh-CN" altLang="en-US" sz="2800" b="1" dirty="0">
                <a:latin typeface="微软雅黑" panose="020B0503020204020204" pitchFamily="34" charset="-122"/>
                <a:ea typeface="微软雅黑" panose="020B0503020204020204" pitchFamily="34" charset="-122"/>
              </a:rPr>
              <a:t>  在软件系统运行时对象并不是孤立存在的，它们可以</a:t>
            </a:r>
            <a:r>
              <a:rPr lang="zh-CN" altLang="en-US" sz="2800" b="1" dirty="0" smtClean="0">
                <a:latin typeface="微软雅黑" panose="020B0503020204020204" pitchFamily="34" charset="-122"/>
                <a:ea typeface="微软雅黑" panose="020B0503020204020204" pitchFamily="34" charset="-122"/>
              </a:rPr>
              <a:t>通过</a:t>
            </a:r>
            <a:r>
              <a:rPr lang="zh-CN" altLang="en-US" sz="2800" b="1" dirty="0">
                <a:latin typeface="微软雅黑" panose="020B0503020204020204" pitchFamily="34" charset="-122"/>
                <a:ea typeface="微软雅黑" panose="020B0503020204020204" pitchFamily="34" charset="-122"/>
              </a:rPr>
              <a:t>相互</a:t>
            </a:r>
            <a:r>
              <a:rPr lang="zh-CN" altLang="en-US" sz="2800" b="1" dirty="0" smtClean="0">
                <a:latin typeface="微软雅黑" panose="020B0503020204020204" pitchFamily="34" charset="-122"/>
                <a:ea typeface="微软雅黑" panose="020B0503020204020204" pitchFamily="34" charset="-122"/>
              </a:rPr>
              <a:t>通信</a:t>
            </a:r>
            <a:r>
              <a:rPr lang="zh-CN" altLang="en-US" sz="2800" b="1" dirty="0">
                <a:latin typeface="微软雅黑" panose="020B0503020204020204" pitchFamily="34" charset="-122"/>
                <a:ea typeface="微软雅黑" panose="020B0503020204020204" pitchFamily="34" charset="-122"/>
              </a:rPr>
              <a:t>和协作完成某些功能，一个对象在运行时也将影响其他对象的运行。行为型模式不仅关注类和对象本身，还重点关注它们之间的相互作用和职责划分。</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14599" y="693490"/>
            <a:ext cx="10657184" cy="6124754"/>
          </a:xfrm>
          <a:prstGeom prst="rect">
            <a:avLst/>
          </a:prstGeom>
        </p:spPr>
        <p:txBody>
          <a:bodyPr wrap="square">
            <a:spAutoFit/>
          </a:bodyPr>
          <a:lstStyle/>
          <a:p>
            <a:pPr indent="457200">
              <a:lnSpc>
                <a:spcPct val="140000"/>
              </a:lnSpc>
            </a:pPr>
            <a:r>
              <a:rPr lang="zh-CN" altLang="en-US" sz="2800" b="1" dirty="0">
                <a:latin typeface="微软雅黑" panose="020B0503020204020204" pitchFamily="34" charset="-122"/>
                <a:ea typeface="微软雅黑" panose="020B0503020204020204" pitchFamily="34" charset="-122"/>
              </a:rPr>
              <a:t>行为型模式分为类行为型模式和对象行为型模式两种</a:t>
            </a:r>
            <a:r>
              <a:rPr lang="zh-CN" altLang="en-US" sz="2800" b="1" dirty="0" smtClean="0">
                <a:latin typeface="微软雅黑" panose="020B0503020204020204" pitchFamily="34" charset="-122"/>
                <a:ea typeface="微软雅黑" panose="020B0503020204020204" pitchFamily="34" charset="-122"/>
              </a:rPr>
              <a:t>：</a:t>
            </a:r>
            <a:endParaRPr lang="zh-CN" altLang="en-US" sz="2800" b="1" dirty="0">
              <a:latin typeface="微软雅黑" panose="020B0503020204020204" pitchFamily="34" charset="-122"/>
              <a:ea typeface="微软雅黑" panose="020B0503020204020204" pitchFamily="34" charset="-122"/>
            </a:endParaRPr>
          </a:p>
          <a:p>
            <a:pPr indent="457200">
              <a:lnSpc>
                <a:spcPct val="140000"/>
              </a:lnSpc>
            </a:pPr>
            <a:r>
              <a:rPr lang="zh-CN" altLang="en-US" sz="2800" b="1" dirty="0">
                <a:latin typeface="微软雅黑" panose="020B0503020204020204" pitchFamily="34" charset="-122"/>
                <a:ea typeface="微软雅黑" panose="020B0503020204020204" pitchFamily="34" charset="-122"/>
              </a:rPr>
              <a:t>  （</a:t>
            </a:r>
            <a:r>
              <a:rPr lang="en-US" altLang="zh-CN" sz="2800" b="1" dirty="0">
                <a:latin typeface="微软雅黑" panose="020B0503020204020204" pitchFamily="34" charset="-122"/>
                <a:ea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rPr>
              <a:t>）</a:t>
            </a:r>
            <a:r>
              <a:rPr lang="zh-CN" altLang="en-US" sz="2800" b="1" dirty="0">
                <a:solidFill>
                  <a:srgbClr val="FF0000"/>
                </a:solidFill>
                <a:latin typeface="微软雅黑" panose="020B0503020204020204" pitchFamily="34" charset="-122"/>
                <a:ea typeface="微软雅黑" panose="020B0503020204020204" pitchFamily="34" charset="-122"/>
              </a:rPr>
              <a:t>类行为型模式</a:t>
            </a:r>
            <a:r>
              <a:rPr lang="zh-CN" altLang="en-US" sz="2800" b="1" dirty="0">
                <a:latin typeface="微软雅黑" panose="020B0503020204020204" pitchFamily="34" charset="-122"/>
                <a:ea typeface="微软雅黑" panose="020B0503020204020204" pitchFamily="34" charset="-122"/>
              </a:rPr>
              <a:t>：使用继承关系在几个类之间分配行为，主要通过多态等方式来分配父类与子类的职责</a:t>
            </a:r>
            <a:r>
              <a:rPr lang="zh-CN" altLang="en-US" sz="2800" b="1" dirty="0" smtClean="0">
                <a:latin typeface="微软雅黑" panose="020B0503020204020204" pitchFamily="34" charset="-122"/>
                <a:ea typeface="微软雅黑" panose="020B0503020204020204" pitchFamily="34" charset="-122"/>
              </a:rPr>
              <a:t>；</a:t>
            </a:r>
            <a:endParaRPr lang="zh-CN" altLang="en-US" sz="2800" b="1" dirty="0">
              <a:latin typeface="微软雅黑" panose="020B0503020204020204" pitchFamily="34" charset="-122"/>
              <a:ea typeface="微软雅黑" panose="020B0503020204020204" pitchFamily="34" charset="-122"/>
            </a:endParaRPr>
          </a:p>
          <a:p>
            <a:pPr indent="457200">
              <a:lnSpc>
                <a:spcPct val="140000"/>
              </a:lnSpc>
            </a:pPr>
            <a:r>
              <a:rPr lang="zh-CN" altLang="en-US" sz="2800" b="1" dirty="0">
                <a:latin typeface="微软雅黑" panose="020B0503020204020204" pitchFamily="34" charset="-122"/>
                <a:ea typeface="微软雅黑" panose="020B0503020204020204" pitchFamily="34" charset="-122"/>
              </a:rPr>
              <a:t>  （</a:t>
            </a:r>
            <a:r>
              <a:rPr lang="en-US" altLang="zh-CN" sz="2800" b="1" dirty="0">
                <a:latin typeface="微软雅黑" panose="020B0503020204020204" pitchFamily="34" charset="-122"/>
                <a:ea typeface="微软雅黑" panose="020B0503020204020204" pitchFamily="34" charset="-122"/>
              </a:rPr>
              <a:t>2</a:t>
            </a:r>
            <a:r>
              <a:rPr lang="zh-CN" altLang="en-US" sz="2800" b="1" dirty="0">
                <a:latin typeface="微软雅黑" panose="020B0503020204020204" pitchFamily="34" charset="-122"/>
                <a:ea typeface="微软雅黑" panose="020B0503020204020204" pitchFamily="34" charset="-122"/>
              </a:rPr>
              <a:t>）</a:t>
            </a:r>
            <a:r>
              <a:rPr lang="zh-CN" altLang="en-US" sz="2800" b="1" dirty="0">
                <a:solidFill>
                  <a:srgbClr val="FF0000"/>
                </a:solidFill>
                <a:latin typeface="微软雅黑" panose="020B0503020204020204" pitchFamily="34" charset="-122"/>
                <a:ea typeface="微软雅黑" panose="020B0503020204020204" pitchFamily="34" charset="-122"/>
              </a:rPr>
              <a:t>对象行为型模式</a:t>
            </a:r>
            <a:r>
              <a:rPr lang="zh-CN" altLang="en-US" sz="2800" b="1" dirty="0">
                <a:latin typeface="微软雅黑" panose="020B0503020204020204" pitchFamily="34" charset="-122"/>
                <a:ea typeface="微软雅黑" panose="020B0503020204020204" pitchFamily="34" charset="-122"/>
              </a:rPr>
              <a:t>：使用对象的聚合关联关系来分配行为，主要通过对象关联等方式来分配两个或多个类的职责</a:t>
            </a:r>
            <a:r>
              <a:rPr lang="zh-CN" altLang="en-US" sz="2800" b="1" dirty="0" smtClean="0">
                <a:latin typeface="微软雅黑" panose="020B0503020204020204" pitchFamily="34" charset="-122"/>
                <a:ea typeface="微软雅黑" panose="020B0503020204020204" pitchFamily="34" charset="-122"/>
              </a:rPr>
              <a:t>。</a:t>
            </a:r>
            <a:endParaRPr lang="zh-CN" altLang="en-US" sz="2800" b="1" dirty="0">
              <a:latin typeface="微软雅黑" panose="020B0503020204020204" pitchFamily="34" charset="-122"/>
              <a:ea typeface="微软雅黑" panose="020B0503020204020204" pitchFamily="34" charset="-122"/>
            </a:endParaRPr>
          </a:p>
          <a:p>
            <a:pPr indent="457200">
              <a:lnSpc>
                <a:spcPct val="140000"/>
              </a:lnSpc>
            </a:pPr>
            <a:r>
              <a:rPr lang="zh-CN" altLang="en-US" sz="2800" b="1" dirty="0">
                <a:latin typeface="微软雅黑" panose="020B0503020204020204" pitchFamily="34" charset="-122"/>
                <a:ea typeface="微软雅黑" panose="020B0503020204020204" pitchFamily="34" charset="-122"/>
              </a:rPr>
              <a:t>  根据合成复用原则，在系统中</a:t>
            </a:r>
            <a:r>
              <a:rPr lang="zh-CN" altLang="en-US" sz="2800" b="1" dirty="0">
                <a:solidFill>
                  <a:srgbClr val="FF0000"/>
                </a:solidFill>
                <a:latin typeface="微软雅黑" panose="020B0503020204020204" pitchFamily="34" charset="-122"/>
                <a:ea typeface="微软雅黑" panose="020B0503020204020204" pitchFamily="34" charset="-122"/>
              </a:rPr>
              <a:t>复用功能时要尽量使用关联关系来取代继承关系</a:t>
            </a:r>
            <a:r>
              <a:rPr lang="zh-CN" altLang="en-US" sz="2800" b="1" dirty="0">
                <a:latin typeface="微软雅黑" panose="020B0503020204020204" pitchFamily="34" charset="-122"/>
                <a:ea typeface="微软雅黑" panose="020B0503020204020204" pitchFamily="34" charset="-122"/>
              </a:rPr>
              <a:t>，因此大部分行为型设计模式属于对象行为型设计模式</a:t>
            </a:r>
            <a:r>
              <a:rPr lang="zh-CN" altLang="en-US" sz="2800" b="1" dirty="0" smtClean="0">
                <a:latin typeface="微软雅黑" panose="020B0503020204020204" pitchFamily="34" charset="-122"/>
                <a:ea typeface="微软雅黑" panose="020B0503020204020204" pitchFamily="34" charset="-122"/>
              </a:rPr>
              <a:t>。</a:t>
            </a:r>
            <a:endParaRPr lang="zh-CN" altLang="en-US" sz="2800" b="1" dirty="0">
              <a:latin typeface="微软雅黑" panose="020B0503020204020204" pitchFamily="34" charset="-122"/>
              <a:ea typeface="微软雅黑" panose="020B0503020204020204" pitchFamily="34" charset="-122"/>
            </a:endParaRPr>
          </a:p>
          <a:p>
            <a:pPr indent="457200">
              <a:lnSpc>
                <a:spcPct val="140000"/>
              </a:lnSpc>
            </a:pPr>
            <a:r>
              <a:rPr lang="zh-CN" altLang="en-US" sz="2800" b="1" dirty="0">
                <a:latin typeface="微软雅黑" panose="020B0503020204020204" pitchFamily="34" charset="-122"/>
                <a:ea typeface="微软雅黑" panose="020B0503020204020204" pitchFamily="34" charset="-122"/>
              </a:rPr>
              <a:t>    在</a:t>
            </a:r>
            <a:r>
              <a:rPr lang="en-US" altLang="zh-CN" sz="2800" b="1" dirty="0">
                <a:latin typeface="微软雅黑" panose="020B0503020204020204" pitchFamily="34" charset="-122"/>
                <a:ea typeface="微软雅黑" panose="020B0503020204020204" pitchFamily="34" charset="-122"/>
              </a:rPr>
              <a:t>GOF</a:t>
            </a:r>
            <a:r>
              <a:rPr lang="zh-CN" altLang="en-US" sz="2800" b="1" dirty="0">
                <a:latin typeface="微软雅黑" panose="020B0503020204020204" pitchFamily="34" charset="-122"/>
                <a:ea typeface="微软雅黑" panose="020B0503020204020204" pitchFamily="34" charset="-122"/>
              </a:rPr>
              <a:t>设计模式中包含</a:t>
            </a:r>
            <a:r>
              <a:rPr lang="en-US" altLang="zh-CN" sz="2800" b="1" dirty="0">
                <a:latin typeface="微软雅黑" panose="020B0503020204020204" pitchFamily="34" charset="-122"/>
                <a:ea typeface="微软雅黑" panose="020B0503020204020204" pitchFamily="34" charset="-122"/>
              </a:rPr>
              <a:t>11</a:t>
            </a:r>
            <a:r>
              <a:rPr lang="zh-CN" altLang="en-US" sz="2800" b="1" dirty="0" smtClean="0">
                <a:latin typeface="微软雅黑" panose="020B0503020204020204" pitchFamily="34" charset="-122"/>
                <a:ea typeface="微软雅黑" panose="020B0503020204020204" pitchFamily="34" charset="-122"/>
              </a:rPr>
              <a:t>种行为型模式</a:t>
            </a:r>
            <a:r>
              <a:rPr lang="zh-CN" altLang="en-US" sz="2800" b="1" dirty="0">
                <a:latin typeface="微软雅黑" panose="020B0503020204020204" pitchFamily="34" charset="-122"/>
                <a:ea typeface="微软雅黑" panose="020B0503020204020204" pitchFamily="34" charset="-122"/>
              </a:rPr>
              <a:t>，它们的名称，定义、学习难度和使用频率如</a:t>
            </a:r>
            <a:r>
              <a:rPr lang="zh-CN" altLang="en-US" sz="2800" b="1" dirty="0" smtClean="0">
                <a:latin typeface="微软雅黑" panose="020B0503020204020204" pitchFamily="34" charset="-122"/>
                <a:ea typeface="微软雅黑" panose="020B0503020204020204" pitchFamily="34" charset="-122"/>
              </a:rPr>
              <a:t>表所</a:t>
            </a:r>
            <a:r>
              <a:rPr lang="zh-CN" altLang="en-US" sz="2800" b="1" dirty="0">
                <a:latin typeface="微软雅黑" panose="020B0503020204020204" pitchFamily="34" charset="-122"/>
                <a:ea typeface="微软雅黑" panose="020B0503020204020204" pitchFamily="34" charset="-122"/>
              </a:rPr>
              <a:t>示。</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410544" y="765498"/>
          <a:ext cx="11521278" cy="5888131"/>
        </p:xfrm>
        <a:graphic>
          <a:graphicData uri="http://schemas.openxmlformats.org/drawingml/2006/table">
            <a:tbl>
              <a:tblPr>
                <a:tableStyleId>{3C2FFA5D-87B4-456A-9821-1D502468CF0F}</a:tableStyleId>
              </a:tblPr>
              <a:tblGrid>
                <a:gridCol w="1600177"/>
                <a:gridCol w="6620734"/>
                <a:gridCol w="1820202"/>
                <a:gridCol w="1480165"/>
              </a:tblGrid>
              <a:tr h="524357">
                <a:tc>
                  <a:txBody>
                    <a:bodyPr/>
                    <a:lstStyle/>
                    <a:p>
                      <a:pPr algn="ctr" latinLnBrk="1"/>
                      <a:r>
                        <a:rPr lang="zh-CN" altLang="en-US" sz="2400" b="1" dirty="0">
                          <a:effectLst/>
                          <a:latin typeface="微软雅黑" panose="020B0503020204020204" pitchFamily="34" charset="-122"/>
                          <a:ea typeface="微软雅黑" panose="020B0503020204020204" pitchFamily="34" charset="-122"/>
                        </a:rPr>
                        <a:t>模式名称</a:t>
                      </a:r>
                      <a:endParaRPr lang="zh-CN" altLang="en-US" sz="2400" b="1" dirty="0">
                        <a:effectLst/>
                        <a:latin typeface="微软雅黑" panose="020B0503020204020204" pitchFamily="34" charset="-122"/>
                        <a:ea typeface="微软雅黑" panose="020B0503020204020204" pitchFamily="34" charset="-122"/>
                      </a:endParaRPr>
                    </a:p>
                  </a:txBody>
                  <a:tcPr marL="26477" marR="26477" marT="13238" marB="13238" anchor="ctr"/>
                </a:tc>
                <a:tc>
                  <a:txBody>
                    <a:bodyPr/>
                    <a:lstStyle/>
                    <a:p>
                      <a:pPr algn="ctr" latinLnBrk="1"/>
                      <a:r>
                        <a:rPr lang="zh-CN" altLang="en-US" sz="2400" b="1" dirty="0">
                          <a:effectLst/>
                          <a:latin typeface="微软雅黑" panose="020B0503020204020204" pitchFamily="34" charset="-122"/>
                          <a:ea typeface="微软雅黑" panose="020B0503020204020204" pitchFamily="34" charset="-122"/>
                        </a:rPr>
                        <a:t>定义</a:t>
                      </a:r>
                      <a:endParaRPr lang="zh-CN" altLang="en-US" sz="2400" b="1" dirty="0">
                        <a:effectLst/>
                        <a:latin typeface="微软雅黑" panose="020B0503020204020204" pitchFamily="34" charset="-122"/>
                        <a:ea typeface="微软雅黑" panose="020B0503020204020204" pitchFamily="34" charset="-122"/>
                      </a:endParaRPr>
                    </a:p>
                  </a:txBody>
                  <a:tcPr marL="26477" marR="26477" marT="13238" marB="13238" anchor="ctr"/>
                </a:tc>
                <a:tc>
                  <a:txBody>
                    <a:bodyPr/>
                    <a:lstStyle/>
                    <a:p>
                      <a:pPr algn="ctr" latinLnBrk="1"/>
                      <a:r>
                        <a:rPr lang="zh-CN" altLang="en-US" sz="2400" b="1" dirty="0">
                          <a:effectLst/>
                          <a:latin typeface="微软雅黑" panose="020B0503020204020204" pitchFamily="34" charset="-122"/>
                          <a:ea typeface="微软雅黑" panose="020B0503020204020204" pitchFamily="34" charset="-122"/>
                        </a:rPr>
                        <a:t>学习难度</a:t>
                      </a:r>
                      <a:endParaRPr lang="zh-CN" altLang="en-US" sz="2400" b="1" dirty="0">
                        <a:effectLst/>
                        <a:latin typeface="微软雅黑" panose="020B0503020204020204" pitchFamily="34" charset="-122"/>
                        <a:ea typeface="微软雅黑" panose="020B0503020204020204" pitchFamily="34" charset="-122"/>
                      </a:endParaRPr>
                    </a:p>
                  </a:txBody>
                  <a:tcPr marL="26477" marR="26477" marT="13238" marB="13238" anchor="ctr"/>
                </a:tc>
                <a:tc>
                  <a:txBody>
                    <a:bodyPr/>
                    <a:lstStyle/>
                    <a:p>
                      <a:pPr algn="ctr" latinLnBrk="1"/>
                      <a:r>
                        <a:rPr lang="zh-CN" altLang="en-US" sz="2400" b="1" dirty="0">
                          <a:effectLst/>
                          <a:latin typeface="微软雅黑" panose="020B0503020204020204" pitchFamily="34" charset="-122"/>
                          <a:ea typeface="微软雅黑" panose="020B0503020204020204" pitchFamily="34" charset="-122"/>
                        </a:rPr>
                        <a:t>使用频率</a:t>
                      </a:r>
                      <a:endParaRPr lang="zh-CN" altLang="en-US" sz="2400" b="1" dirty="0">
                        <a:effectLst/>
                        <a:latin typeface="微软雅黑" panose="020B0503020204020204" pitchFamily="34" charset="-122"/>
                        <a:ea typeface="微软雅黑" panose="020B0503020204020204" pitchFamily="34" charset="-122"/>
                      </a:endParaRPr>
                    </a:p>
                  </a:txBody>
                  <a:tcPr marL="26477" marR="26477" marT="13238" marB="13238" anchor="ctr"/>
                </a:tc>
              </a:tr>
              <a:tr h="1017870">
                <a:tc>
                  <a:txBody>
                    <a:bodyPr/>
                    <a:lstStyle/>
                    <a:p>
                      <a:pPr algn="ctr" latinLnBrk="1"/>
                      <a:r>
                        <a:rPr lang="zh-CN" altLang="en-US" sz="2000" dirty="0">
                          <a:effectLst/>
                          <a:latin typeface="微软雅黑" panose="020B0503020204020204" pitchFamily="34" charset="-122"/>
                          <a:ea typeface="微软雅黑" panose="020B0503020204020204" pitchFamily="34" charset="-122"/>
                        </a:rPr>
                        <a:t>职责链模式</a:t>
                      </a:r>
                      <a:endParaRPr lang="zh-CN" altLang="en-US" sz="2000" dirty="0">
                        <a:effectLst/>
                        <a:latin typeface="微软雅黑" panose="020B0503020204020204" pitchFamily="34" charset="-122"/>
                        <a:ea typeface="微软雅黑" panose="020B0503020204020204" pitchFamily="34" charset="-122"/>
                      </a:endParaRPr>
                    </a:p>
                  </a:txBody>
                  <a:tcPr marL="26477" marR="26477" marT="13238" marB="13238" anchor="ctr"/>
                </a:tc>
                <a:tc>
                  <a:txBody>
                    <a:bodyPr/>
                    <a:lstStyle/>
                    <a:p>
                      <a:pPr latinLnBrk="1"/>
                      <a:r>
                        <a:rPr lang="zh-CN" altLang="en-US" sz="2000">
                          <a:effectLst/>
                          <a:latin typeface="微软雅黑" panose="020B0503020204020204" pitchFamily="34" charset="-122"/>
                          <a:ea typeface="微软雅黑" panose="020B0503020204020204" pitchFamily="34" charset="-122"/>
                        </a:rPr>
                        <a:t>避免将一个请求的发送者与接收者耦合在一起，让多个对象都有机会处理请求。将接收请求的对象连接成一条链，并且沿着这条链传递请求，直到有一个对象能够处理它为止。</a:t>
                      </a:r>
                      <a:endParaRPr lang="zh-CN" altLang="en-US" sz="2000">
                        <a:effectLst/>
                        <a:latin typeface="微软雅黑" panose="020B0503020204020204" pitchFamily="34" charset="-122"/>
                        <a:ea typeface="微软雅黑" panose="020B0503020204020204" pitchFamily="34" charset="-122"/>
                      </a:endParaRPr>
                    </a:p>
                  </a:txBody>
                  <a:tcPr marL="26477" marR="26477" marT="13238" marB="13238"/>
                </a:tc>
                <a:tc>
                  <a:txBody>
                    <a:bodyPr/>
                    <a:lstStyle/>
                    <a:p>
                      <a:pPr latinLnBrk="1"/>
                      <a:r>
                        <a:rPr lang="zh-CN" altLang="en-US" sz="2000" dirty="0">
                          <a:solidFill>
                            <a:srgbClr val="FF0000"/>
                          </a:solidFill>
                          <a:effectLst/>
                          <a:latin typeface="微软雅黑" panose="020B0503020204020204" pitchFamily="34" charset="-122"/>
                          <a:ea typeface="微软雅黑" panose="020B0503020204020204" pitchFamily="34" charset="-122"/>
                        </a:rPr>
                        <a:t>★★★☆☆</a:t>
                      </a:r>
                      <a:endParaRPr lang="zh-CN" altLang="en-US" sz="2000" dirty="0">
                        <a:solidFill>
                          <a:srgbClr val="FF0000"/>
                        </a:solidFill>
                        <a:effectLst/>
                        <a:latin typeface="微软雅黑" panose="020B0503020204020204" pitchFamily="34" charset="-122"/>
                        <a:ea typeface="微软雅黑" panose="020B0503020204020204" pitchFamily="34" charset="-122"/>
                      </a:endParaRPr>
                    </a:p>
                  </a:txBody>
                  <a:tcPr marL="26477" marR="26477" marT="13238" marB="13238"/>
                </a:tc>
                <a:tc>
                  <a:txBody>
                    <a:bodyPr/>
                    <a:lstStyle/>
                    <a:p>
                      <a:pPr latinLnBrk="1"/>
                      <a:r>
                        <a:rPr lang="zh-CN" altLang="en-US" sz="2000" dirty="0">
                          <a:solidFill>
                            <a:srgbClr val="FF0000"/>
                          </a:solidFill>
                          <a:effectLst/>
                          <a:latin typeface="微软雅黑" panose="020B0503020204020204" pitchFamily="34" charset="-122"/>
                          <a:ea typeface="微软雅黑" panose="020B0503020204020204" pitchFamily="34" charset="-122"/>
                        </a:rPr>
                        <a:t>★★☆☆☆</a:t>
                      </a:r>
                      <a:endParaRPr lang="zh-CN" altLang="en-US" sz="2000" dirty="0">
                        <a:solidFill>
                          <a:srgbClr val="FF0000"/>
                        </a:solidFill>
                        <a:effectLst/>
                        <a:latin typeface="微软雅黑" panose="020B0503020204020204" pitchFamily="34" charset="-122"/>
                        <a:ea typeface="微软雅黑" panose="020B0503020204020204" pitchFamily="34" charset="-122"/>
                      </a:endParaRPr>
                    </a:p>
                  </a:txBody>
                  <a:tcPr marL="26477" marR="26477" marT="13238" marB="13238"/>
                </a:tc>
              </a:tr>
              <a:tr h="771112">
                <a:tc>
                  <a:txBody>
                    <a:bodyPr/>
                    <a:lstStyle/>
                    <a:p>
                      <a:pPr algn="ctr" latinLnBrk="1"/>
                      <a:r>
                        <a:rPr lang="zh-CN" altLang="en-US" sz="2400" b="1" dirty="0">
                          <a:solidFill>
                            <a:srgbClr val="FF0000"/>
                          </a:solidFill>
                          <a:effectLst/>
                          <a:latin typeface="微软雅黑" panose="020B0503020204020204" pitchFamily="34" charset="-122"/>
                          <a:ea typeface="微软雅黑" panose="020B0503020204020204" pitchFamily="34" charset="-122"/>
                        </a:rPr>
                        <a:t>命令模式</a:t>
                      </a:r>
                      <a:endParaRPr lang="zh-CN" altLang="en-US" sz="2400" b="1" dirty="0">
                        <a:solidFill>
                          <a:srgbClr val="FF0000"/>
                        </a:solidFill>
                        <a:effectLst/>
                        <a:latin typeface="微软雅黑" panose="020B0503020204020204" pitchFamily="34" charset="-122"/>
                        <a:ea typeface="微软雅黑" panose="020B0503020204020204" pitchFamily="34" charset="-122"/>
                      </a:endParaRPr>
                    </a:p>
                  </a:txBody>
                  <a:tcPr marL="26477" marR="26477" marT="13238" marB="13238" anchor="ctr"/>
                </a:tc>
                <a:tc>
                  <a:txBody>
                    <a:bodyPr/>
                    <a:lstStyle/>
                    <a:p>
                      <a:pPr latinLnBrk="1"/>
                      <a:r>
                        <a:rPr lang="zh-CN" altLang="en-US" sz="2000">
                          <a:effectLst/>
                          <a:latin typeface="微软雅黑" panose="020B0503020204020204" pitchFamily="34" charset="-122"/>
                          <a:ea typeface="微软雅黑" panose="020B0503020204020204" pitchFamily="34" charset="-122"/>
                        </a:rPr>
                        <a:t>将一个请求封装为一个对象，从而让你可以用不同的请求对客户进行参数化，对请求排队或者记录请求日志，以及支持可撤销的操作。</a:t>
                      </a:r>
                      <a:endParaRPr lang="zh-CN" altLang="en-US" sz="2000">
                        <a:effectLst/>
                        <a:latin typeface="微软雅黑" panose="020B0503020204020204" pitchFamily="34" charset="-122"/>
                        <a:ea typeface="微软雅黑" panose="020B0503020204020204" pitchFamily="34" charset="-122"/>
                      </a:endParaRPr>
                    </a:p>
                  </a:txBody>
                  <a:tcPr marL="26477" marR="26477" marT="13238" marB="13238"/>
                </a:tc>
                <a:tc>
                  <a:txBody>
                    <a:bodyPr/>
                    <a:lstStyle/>
                    <a:p>
                      <a:pPr latinLnBrk="1"/>
                      <a:r>
                        <a:rPr lang="zh-CN" altLang="en-US" sz="2000">
                          <a:solidFill>
                            <a:srgbClr val="FF0000"/>
                          </a:solidFill>
                          <a:effectLst/>
                          <a:latin typeface="微软雅黑" panose="020B0503020204020204" pitchFamily="34" charset="-122"/>
                          <a:ea typeface="微软雅黑" panose="020B0503020204020204" pitchFamily="34" charset="-122"/>
                        </a:rPr>
                        <a:t>★★★☆☆</a:t>
                      </a:r>
                      <a:endParaRPr lang="zh-CN" altLang="en-US" sz="2000">
                        <a:solidFill>
                          <a:srgbClr val="FF0000"/>
                        </a:solidFill>
                        <a:effectLst/>
                        <a:latin typeface="微软雅黑" panose="020B0503020204020204" pitchFamily="34" charset="-122"/>
                        <a:ea typeface="微软雅黑" panose="020B0503020204020204" pitchFamily="34" charset="-122"/>
                      </a:endParaRPr>
                    </a:p>
                  </a:txBody>
                  <a:tcPr marL="26477" marR="26477" marT="13238" marB="13238"/>
                </a:tc>
                <a:tc>
                  <a:txBody>
                    <a:bodyPr/>
                    <a:lstStyle/>
                    <a:p>
                      <a:pPr latinLnBrk="1"/>
                      <a:r>
                        <a:rPr lang="zh-CN" altLang="en-US" sz="2000" dirty="0">
                          <a:solidFill>
                            <a:srgbClr val="FF0000"/>
                          </a:solidFill>
                          <a:effectLst/>
                          <a:latin typeface="微软雅黑" panose="020B0503020204020204" pitchFamily="34" charset="-122"/>
                          <a:ea typeface="微软雅黑" panose="020B0503020204020204" pitchFamily="34" charset="-122"/>
                        </a:rPr>
                        <a:t>★★★★☆</a:t>
                      </a:r>
                      <a:endParaRPr lang="zh-CN" altLang="en-US" sz="2000" dirty="0">
                        <a:solidFill>
                          <a:srgbClr val="FF0000"/>
                        </a:solidFill>
                        <a:effectLst/>
                        <a:latin typeface="微软雅黑" panose="020B0503020204020204" pitchFamily="34" charset="-122"/>
                        <a:ea typeface="微软雅黑" panose="020B0503020204020204" pitchFamily="34" charset="-122"/>
                      </a:endParaRPr>
                    </a:p>
                  </a:txBody>
                  <a:tcPr marL="26477" marR="26477" marT="13238" marB="13238"/>
                </a:tc>
              </a:tr>
              <a:tr h="647735">
                <a:tc>
                  <a:txBody>
                    <a:bodyPr/>
                    <a:lstStyle/>
                    <a:p>
                      <a:pPr algn="ctr" latinLnBrk="1"/>
                      <a:r>
                        <a:rPr lang="zh-CN" altLang="en-US" sz="2000">
                          <a:effectLst/>
                          <a:latin typeface="微软雅黑" panose="020B0503020204020204" pitchFamily="34" charset="-122"/>
                          <a:ea typeface="微软雅黑" panose="020B0503020204020204" pitchFamily="34" charset="-122"/>
                        </a:rPr>
                        <a:t>解释器模式</a:t>
                      </a:r>
                      <a:endParaRPr lang="zh-CN" altLang="en-US" sz="2000">
                        <a:effectLst/>
                        <a:latin typeface="微软雅黑" panose="020B0503020204020204" pitchFamily="34" charset="-122"/>
                        <a:ea typeface="微软雅黑" panose="020B0503020204020204" pitchFamily="34" charset="-122"/>
                      </a:endParaRPr>
                    </a:p>
                  </a:txBody>
                  <a:tcPr marL="26477" marR="26477" marT="13238" marB="13238" anchor="ctr"/>
                </a:tc>
                <a:tc>
                  <a:txBody>
                    <a:bodyPr/>
                    <a:lstStyle/>
                    <a:p>
                      <a:pPr latinLnBrk="1"/>
                      <a:r>
                        <a:rPr lang="zh-CN" altLang="en-US" sz="2000">
                          <a:effectLst/>
                          <a:latin typeface="微软雅黑" panose="020B0503020204020204" pitchFamily="34" charset="-122"/>
                          <a:ea typeface="微软雅黑" panose="020B0503020204020204" pitchFamily="34" charset="-122"/>
                        </a:rPr>
                        <a:t>给定一个语言，定义它的文法的一种表示，并定义一个解释器，这个解释器使用该表示来解释语言中的句子。</a:t>
                      </a:r>
                      <a:endParaRPr lang="zh-CN" altLang="en-US" sz="2000">
                        <a:effectLst/>
                        <a:latin typeface="微软雅黑" panose="020B0503020204020204" pitchFamily="34" charset="-122"/>
                        <a:ea typeface="微软雅黑" panose="020B0503020204020204" pitchFamily="34" charset="-122"/>
                      </a:endParaRPr>
                    </a:p>
                  </a:txBody>
                  <a:tcPr marL="26477" marR="26477" marT="13238" marB="13238"/>
                </a:tc>
                <a:tc>
                  <a:txBody>
                    <a:bodyPr/>
                    <a:lstStyle/>
                    <a:p>
                      <a:pPr latinLnBrk="1"/>
                      <a:r>
                        <a:rPr lang="zh-CN" altLang="en-US" sz="2000">
                          <a:solidFill>
                            <a:srgbClr val="FF0000"/>
                          </a:solidFill>
                          <a:effectLst/>
                          <a:latin typeface="微软雅黑" panose="020B0503020204020204" pitchFamily="34" charset="-122"/>
                          <a:ea typeface="微软雅黑" panose="020B0503020204020204" pitchFamily="34" charset="-122"/>
                        </a:rPr>
                        <a:t>★★★★★</a:t>
                      </a:r>
                      <a:endParaRPr lang="zh-CN" altLang="en-US" sz="2000">
                        <a:solidFill>
                          <a:srgbClr val="FF0000"/>
                        </a:solidFill>
                        <a:effectLst/>
                        <a:latin typeface="微软雅黑" panose="020B0503020204020204" pitchFamily="34" charset="-122"/>
                        <a:ea typeface="微软雅黑" panose="020B0503020204020204" pitchFamily="34" charset="-122"/>
                      </a:endParaRPr>
                    </a:p>
                  </a:txBody>
                  <a:tcPr marL="26477" marR="26477" marT="13238" marB="13238"/>
                </a:tc>
                <a:tc>
                  <a:txBody>
                    <a:bodyPr/>
                    <a:lstStyle/>
                    <a:p>
                      <a:pPr latinLnBrk="1"/>
                      <a:r>
                        <a:rPr lang="zh-CN" altLang="en-US" sz="2000" dirty="0">
                          <a:solidFill>
                            <a:srgbClr val="FF0000"/>
                          </a:solidFill>
                          <a:effectLst/>
                          <a:latin typeface="微软雅黑" panose="020B0503020204020204" pitchFamily="34" charset="-122"/>
                          <a:ea typeface="微软雅黑" panose="020B0503020204020204" pitchFamily="34" charset="-122"/>
                        </a:rPr>
                        <a:t>★☆☆☆☆</a:t>
                      </a:r>
                      <a:endParaRPr lang="zh-CN" altLang="en-US" sz="2000" dirty="0">
                        <a:solidFill>
                          <a:srgbClr val="FF0000"/>
                        </a:solidFill>
                        <a:effectLst/>
                        <a:latin typeface="微软雅黑" panose="020B0503020204020204" pitchFamily="34" charset="-122"/>
                        <a:ea typeface="微软雅黑" panose="020B0503020204020204" pitchFamily="34" charset="-122"/>
                      </a:endParaRPr>
                    </a:p>
                  </a:txBody>
                  <a:tcPr marL="26477" marR="26477" marT="13238" marB="13238"/>
                </a:tc>
              </a:tr>
              <a:tr h="647735">
                <a:tc>
                  <a:txBody>
                    <a:bodyPr/>
                    <a:lstStyle/>
                    <a:p>
                      <a:pPr algn="ctr" latinLnBrk="1"/>
                      <a:r>
                        <a:rPr lang="zh-CN" altLang="en-US" sz="2400" b="1" dirty="0">
                          <a:solidFill>
                            <a:srgbClr val="FF0000"/>
                          </a:solidFill>
                          <a:effectLst/>
                          <a:latin typeface="微软雅黑" panose="020B0503020204020204" pitchFamily="34" charset="-122"/>
                          <a:ea typeface="微软雅黑" panose="020B0503020204020204" pitchFamily="34" charset="-122"/>
                        </a:rPr>
                        <a:t>迭代器模式</a:t>
                      </a:r>
                      <a:endParaRPr lang="zh-CN" altLang="en-US" sz="2400" b="1" dirty="0">
                        <a:solidFill>
                          <a:srgbClr val="FF0000"/>
                        </a:solidFill>
                        <a:effectLst/>
                        <a:latin typeface="微软雅黑" panose="020B0503020204020204" pitchFamily="34" charset="-122"/>
                        <a:ea typeface="微软雅黑" panose="020B0503020204020204" pitchFamily="34" charset="-122"/>
                      </a:endParaRPr>
                    </a:p>
                  </a:txBody>
                  <a:tcPr marL="26477" marR="26477" marT="13238" marB="13238" anchor="ctr"/>
                </a:tc>
                <a:tc>
                  <a:txBody>
                    <a:bodyPr/>
                    <a:lstStyle/>
                    <a:p>
                      <a:pPr latinLnBrk="1"/>
                      <a:r>
                        <a:rPr lang="zh-CN" altLang="en-US" sz="2000">
                          <a:effectLst/>
                          <a:latin typeface="微软雅黑" panose="020B0503020204020204" pitchFamily="34" charset="-122"/>
                          <a:ea typeface="微软雅黑" panose="020B0503020204020204" pitchFamily="34" charset="-122"/>
                        </a:rPr>
                        <a:t>提供一种方法顺序访问一个聚合对象中的各个元素，且不用暴露该对象的内部表示。</a:t>
                      </a:r>
                      <a:endParaRPr lang="zh-CN" altLang="en-US" sz="2000">
                        <a:effectLst/>
                        <a:latin typeface="微软雅黑" panose="020B0503020204020204" pitchFamily="34" charset="-122"/>
                        <a:ea typeface="微软雅黑" panose="020B0503020204020204" pitchFamily="34" charset="-122"/>
                      </a:endParaRPr>
                    </a:p>
                  </a:txBody>
                  <a:tcPr marL="26477" marR="26477" marT="13238" marB="13238"/>
                </a:tc>
                <a:tc>
                  <a:txBody>
                    <a:bodyPr/>
                    <a:lstStyle/>
                    <a:p>
                      <a:pPr latinLnBrk="1"/>
                      <a:r>
                        <a:rPr lang="zh-CN" altLang="en-US" sz="2000">
                          <a:solidFill>
                            <a:srgbClr val="FF0000"/>
                          </a:solidFill>
                          <a:effectLst/>
                          <a:latin typeface="微软雅黑" panose="020B0503020204020204" pitchFamily="34" charset="-122"/>
                          <a:ea typeface="微软雅黑" panose="020B0503020204020204" pitchFamily="34" charset="-122"/>
                        </a:rPr>
                        <a:t>★★★☆☆</a:t>
                      </a:r>
                      <a:endParaRPr lang="zh-CN" altLang="en-US" sz="2000">
                        <a:solidFill>
                          <a:srgbClr val="FF0000"/>
                        </a:solidFill>
                        <a:effectLst/>
                        <a:latin typeface="微软雅黑" panose="020B0503020204020204" pitchFamily="34" charset="-122"/>
                        <a:ea typeface="微软雅黑" panose="020B0503020204020204" pitchFamily="34" charset="-122"/>
                      </a:endParaRPr>
                    </a:p>
                  </a:txBody>
                  <a:tcPr marL="26477" marR="26477" marT="13238" marB="13238"/>
                </a:tc>
                <a:tc>
                  <a:txBody>
                    <a:bodyPr/>
                    <a:lstStyle/>
                    <a:p>
                      <a:pPr latinLnBrk="1"/>
                      <a:r>
                        <a:rPr lang="zh-CN" altLang="en-US" sz="2000" dirty="0">
                          <a:solidFill>
                            <a:srgbClr val="FF0000"/>
                          </a:solidFill>
                          <a:effectLst/>
                          <a:latin typeface="微软雅黑" panose="020B0503020204020204" pitchFamily="34" charset="-122"/>
                          <a:ea typeface="微软雅黑" panose="020B0503020204020204" pitchFamily="34" charset="-122"/>
                        </a:rPr>
                        <a:t>★★★★★</a:t>
                      </a:r>
                      <a:endParaRPr lang="zh-CN" altLang="en-US" sz="2000" dirty="0">
                        <a:solidFill>
                          <a:srgbClr val="FF0000"/>
                        </a:solidFill>
                        <a:effectLst/>
                        <a:latin typeface="微软雅黑" panose="020B0503020204020204" pitchFamily="34" charset="-122"/>
                        <a:ea typeface="微软雅黑" panose="020B0503020204020204" pitchFamily="34" charset="-122"/>
                      </a:endParaRPr>
                    </a:p>
                  </a:txBody>
                  <a:tcPr marL="26477" marR="26477" marT="13238" marB="13238"/>
                </a:tc>
              </a:tr>
              <a:tr h="894491">
                <a:tc>
                  <a:txBody>
                    <a:bodyPr/>
                    <a:lstStyle/>
                    <a:p>
                      <a:pPr algn="ctr" latinLnBrk="1"/>
                      <a:r>
                        <a:rPr lang="zh-CN" altLang="en-US" sz="2000">
                          <a:effectLst/>
                          <a:latin typeface="微软雅黑" panose="020B0503020204020204" pitchFamily="34" charset="-122"/>
                          <a:ea typeface="微软雅黑" panose="020B0503020204020204" pitchFamily="34" charset="-122"/>
                        </a:rPr>
                        <a:t>中介者模式</a:t>
                      </a:r>
                      <a:endParaRPr lang="zh-CN" altLang="en-US" sz="2000">
                        <a:effectLst/>
                        <a:latin typeface="微软雅黑" panose="020B0503020204020204" pitchFamily="34" charset="-122"/>
                        <a:ea typeface="微软雅黑" panose="020B0503020204020204" pitchFamily="34" charset="-122"/>
                      </a:endParaRPr>
                    </a:p>
                  </a:txBody>
                  <a:tcPr marL="26477" marR="26477" marT="13238" marB="13238" anchor="ctr"/>
                </a:tc>
                <a:tc>
                  <a:txBody>
                    <a:bodyPr/>
                    <a:lstStyle/>
                    <a:p>
                      <a:pPr latinLnBrk="1"/>
                      <a:r>
                        <a:rPr lang="zh-CN" altLang="en-US" sz="2000">
                          <a:effectLst/>
                          <a:latin typeface="微软雅黑" panose="020B0503020204020204" pitchFamily="34" charset="-122"/>
                          <a:ea typeface="微软雅黑" panose="020B0503020204020204" pitchFamily="34" charset="-122"/>
                        </a:rPr>
                        <a:t>定义一个对象来封装一系列对象的交互。中介者模式使各对象之间不需要显式地相互引用，从而使其耦合松散，而且让你可以独立地改变它们之间的交互。</a:t>
                      </a:r>
                      <a:endParaRPr lang="zh-CN" altLang="en-US" sz="2000">
                        <a:effectLst/>
                        <a:latin typeface="微软雅黑" panose="020B0503020204020204" pitchFamily="34" charset="-122"/>
                        <a:ea typeface="微软雅黑" panose="020B0503020204020204" pitchFamily="34" charset="-122"/>
                      </a:endParaRPr>
                    </a:p>
                  </a:txBody>
                  <a:tcPr marL="26477" marR="26477" marT="13238" marB="13238"/>
                </a:tc>
                <a:tc>
                  <a:txBody>
                    <a:bodyPr/>
                    <a:lstStyle/>
                    <a:p>
                      <a:pPr latinLnBrk="1"/>
                      <a:r>
                        <a:rPr lang="zh-CN" altLang="en-US" sz="2000">
                          <a:solidFill>
                            <a:srgbClr val="FF0000"/>
                          </a:solidFill>
                          <a:effectLst/>
                          <a:latin typeface="微软雅黑" panose="020B0503020204020204" pitchFamily="34" charset="-122"/>
                          <a:ea typeface="微软雅黑" panose="020B0503020204020204" pitchFamily="34" charset="-122"/>
                        </a:rPr>
                        <a:t>★★★☆☆</a:t>
                      </a:r>
                      <a:endParaRPr lang="zh-CN" altLang="en-US" sz="2000">
                        <a:solidFill>
                          <a:srgbClr val="FF0000"/>
                        </a:solidFill>
                        <a:effectLst/>
                        <a:latin typeface="微软雅黑" panose="020B0503020204020204" pitchFamily="34" charset="-122"/>
                        <a:ea typeface="微软雅黑" panose="020B0503020204020204" pitchFamily="34" charset="-122"/>
                      </a:endParaRPr>
                    </a:p>
                  </a:txBody>
                  <a:tcPr marL="26477" marR="26477" marT="13238" marB="13238"/>
                </a:tc>
                <a:tc>
                  <a:txBody>
                    <a:bodyPr/>
                    <a:lstStyle/>
                    <a:p>
                      <a:pPr latinLnBrk="1"/>
                      <a:r>
                        <a:rPr lang="zh-CN" altLang="en-US" sz="2000" dirty="0">
                          <a:solidFill>
                            <a:srgbClr val="FF0000"/>
                          </a:solidFill>
                          <a:effectLst/>
                          <a:latin typeface="微软雅黑" panose="020B0503020204020204" pitchFamily="34" charset="-122"/>
                          <a:ea typeface="微软雅黑" panose="020B0503020204020204" pitchFamily="34" charset="-122"/>
                        </a:rPr>
                        <a:t>★★☆☆☆</a:t>
                      </a:r>
                      <a:endParaRPr lang="zh-CN" altLang="en-US" sz="2000" dirty="0">
                        <a:solidFill>
                          <a:srgbClr val="FF0000"/>
                        </a:solidFill>
                        <a:effectLst/>
                        <a:latin typeface="微软雅黑" panose="020B0503020204020204" pitchFamily="34" charset="-122"/>
                        <a:ea typeface="微软雅黑" panose="020B0503020204020204" pitchFamily="34" charset="-122"/>
                      </a:endParaRPr>
                    </a:p>
                  </a:txBody>
                  <a:tcPr marL="26477" marR="26477" marT="13238" marB="13238"/>
                </a:tc>
              </a:tr>
              <a:tr h="771112">
                <a:tc>
                  <a:txBody>
                    <a:bodyPr/>
                    <a:lstStyle/>
                    <a:p>
                      <a:pPr algn="ctr" latinLnBrk="1"/>
                      <a:r>
                        <a:rPr lang="zh-CN" altLang="en-US" sz="2000">
                          <a:effectLst/>
                          <a:latin typeface="微软雅黑" panose="020B0503020204020204" pitchFamily="34" charset="-122"/>
                          <a:ea typeface="微软雅黑" panose="020B0503020204020204" pitchFamily="34" charset="-122"/>
                        </a:rPr>
                        <a:t>备忘录模式</a:t>
                      </a:r>
                      <a:endParaRPr lang="zh-CN" altLang="en-US" sz="2000">
                        <a:effectLst/>
                        <a:latin typeface="微软雅黑" panose="020B0503020204020204" pitchFamily="34" charset="-122"/>
                        <a:ea typeface="微软雅黑" panose="020B0503020204020204" pitchFamily="34" charset="-122"/>
                      </a:endParaRPr>
                    </a:p>
                  </a:txBody>
                  <a:tcPr marL="26477" marR="26477" marT="13238" marB="13238" anchor="ctr"/>
                </a:tc>
                <a:tc>
                  <a:txBody>
                    <a:bodyPr/>
                    <a:lstStyle/>
                    <a:p>
                      <a:pPr latinLnBrk="1"/>
                      <a:r>
                        <a:rPr lang="zh-CN" altLang="en-US" sz="2000">
                          <a:effectLst/>
                          <a:latin typeface="微软雅黑" panose="020B0503020204020204" pitchFamily="34" charset="-122"/>
                          <a:ea typeface="微软雅黑" panose="020B0503020204020204" pitchFamily="34" charset="-122"/>
                        </a:rPr>
                        <a:t>在不破坏封装的前提下，捕获一个对象的内部状态，并在该对象之外保存这个状态，这样可以在以后将对象恢复到原先保存的状态。</a:t>
                      </a:r>
                      <a:endParaRPr lang="zh-CN" altLang="en-US" sz="2000">
                        <a:effectLst/>
                        <a:latin typeface="微软雅黑" panose="020B0503020204020204" pitchFamily="34" charset="-122"/>
                        <a:ea typeface="微软雅黑" panose="020B0503020204020204" pitchFamily="34" charset="-122"/>
                      </a:endParaRPr>
                    </a:p>
                  </a:txBody>
                  <a:tcPr marL="26477" marR="26477" marT="13238" marB="13238"/>
                </a:tc>
                <a:tc>
                  <a:txBody>
                    <a:bodyPr/>
                    <a:lstStyle/>
                    <a:p>
                      <a:pPr latinLnBrk="1"/>
                      <a:r>
                        <a:rPr lang="zh-CN" altLang="en-US" sz="2000">
                          <a:solidFill>
                            <a:srgbClr val="FF0000"/>
                          </a:solidFill>
                          <a:effectLst/>
                          <a:latin typeface="微软雅黑" panose="020B0503020204020204" pitchFamily="34" charset="-122"/>
                          <a:ea typeface="微软雅黑" panose="020B0503020204020204" pitchFamily="34" charset="-122"/>
                        </a:rPr>
                        <a:t>★★☆☆☆</a:t>
                      </a:r>
                      <a:endParaRPr lang="zh-CN" altLang="en-US" sz="2000">
                        <a:solidFill>
                          <a:srgbClr val="FF0000"/>
                        </a:solidFill>
                        <a:effectLst/>
                        <a:latin typeface="微软雅黑" panose="020B0503020204020204" pitchFamily="34" charset="-122"/>
                        <a:ea typeface="微软雅黑" panose="020B0503020204020204" pitchFamily="34" charset="-122"/>
                      </a:endParaRPr>
                    </a:p>
                  </a:txBody>
                  <a:tcPr marL="26477" marR="26477" marT="13238" marB="13238"/>
                </a:tc>
                <a:tc>
                  <a:txBody>
                    <a:bodyPr/>
                    <a:lstStyle/>
                    <a:p>
                      <a:pPr latinLnBrk="1"/>
                      <a:r>
                        <a:rPr lang="zh-CN" altLang="en-US" sz="2000" dirty="0">
                          <a:solidFill>
                            <a:srgbClr val="FF0000"/>
                          </a:solidFill>
                          <a:effectLst/>
                          <a:latin typeface="微软雅黑" panose="020B0503020204020204" pitchFamily="34" charset="-122"/>
                          <a:ea typeface="微软雅黑" panose="020B0503020204020204" pitchFamily="34" charset="-122"/>
                        </a:rPr>
                        <a:t>★★☆☆☆</a:t>
                      </a:r>
                      <a:endParaRPr lang="zh-CN" altLang="en-US" sz="2000" dirty="0">
                        <a:solidFill>
                          <a:srgbClr val="FF0000"/>
                        </a:solidFill>
                        <a:effectLst/>
                        <a:latin typeface="微软雅黑" panose="020B0503020204020204" pitchFamily="34" charset="-122"/>
                        <a:ea typeface="微软雅黑" panose="020B0503020204020204" pitchFamily="34" charset="-122"/>
                      </a:endParaRPr>
                    </a:p>
                  </a:txBody>
                  <a:tcPr marL="26477" marR="26477" marT="13238" marB="13238"/>
                </a:tc>
              </a:tr>
            </a:tbl>
          </a:graphicData>
        </a:graphic>
      </p:graphicFrame>
    </p:spTree>
  </p:cSld>
  <p:clrMapOvr>
    <a:masterClrMapping/>
  </p:clrMapOvr>
  <p:transition spd="slow" advTm="0">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410543" y="958389"/>
          <a:ext cx="11449272" cy="5495741"/>
        </p:xfrm>
        <a:graphic>
          <a:graphicData uri="http://schemas.openxmlformats.org/drawingml/2006/table">
            <a:tbl>
              <a:tblPr>
                <a:tableStyleId>{3C2FFA5D-87B4-456A-9821-1D502468CF0F}</a:tableStyleId>
              </a:tblPr>
              <a:tblGrid>
                <a:gridCol w="1656184"/>
                <a:gridCol w="6513351"/>
                <a:gridCol w="1808825"/>
                <a:gridCol w="1470912"/>
              </a:tblGrid>
              <a:tr h="935444">
                <a:tc>
                  <a:txBody>
                    <a:bodyPr/>
                    <a:lstStyle/>
                    <a:p>
                      <a:pPr algn="ctr" latinLnBrk="1"/>
                      <a:r>
                        <a:rPr lang="zh-CN" altLang="en-US" sz="2400" b="1" dirty="0">
                          <a:effectLst/>
                          <a:latin typeface="微软雅黑" panose="020B0503020204020204" pitchFamily="34" charset="-122"/>
                          <a:ea typeface="微软雅黑" panose="020B0503020204020204" pitchFamily="34" charset="-122"/>
                        </a:rPr>
                        <a:t>模式名称</a:t>
                      </a:r>
                      <a:endParaRPr lang="zh-CN" altLang="en-US" sz="2400" b="1" dirty="0">
                        <a:effectLst/>
                        <a:latin typeface="微软雅黑" panose="020B0503020204020204" pitchFamily="34" charset="-122"/>
                        <a:ea typeface="微软雅黑" panose="020B0503020204020204" pitchFamily="34" charset="-122"/>
                      </a:endParaRPr>
                    </a:p>
                  </a:txBody>
                  <a:tcPr marL="26477" marR="26477" marT="13238" marB="13238" anchor="ctr"/>
                </a:tc>
                <a:tc>
                  <a:txBody>
                    <a:bodyPr/>
                    <a:lstStyle/>
                    <a:p>
                      <a:pPr algn="ctr" latinLnBrk="1"/>
                      <a:r>
                        <a:rPr lang="zh-CN" altLang="en-US" sz="2400" b="1" dirty="0">
                          <a:effectLst/>
                          <a:latin typeface="微软雅黑" panose="020B0503020204020204" pitchFamily="34" charset="-122"/>
                          <a:ea typeface="微软雅黑" panose="020B0503020204020204" pitchFamily="34" charset="-122"/>
                        </a:rPr>
                        <a:t>定义</a:t>
                      </a:r>
                      <a:endParaRPr lang="zh-CN" altLang="en-US" sz="2400" b="1" dirty="0">
                        <a:effectLst/>
                        <a:latin typeface="微软雅黑" panose="020B0503020204020204" pitchFamily="34" charset="-122"/>
                        <a:ea typeface="微软雅黑" panose="020B0503020204020204" pitchFamily="34" charset="-122"/>
                      </a:endParaRPr>
                    </a:p>
                  </a:txBody>
                  <a:tcPr marL="26477" marR="26477" marT="13238" marB="13238" anchor="ctr"/>
                </a:tc>
                <a:tc>
                  <a:txBody>
                    <a:bodyPr/>
                    <a:lstStyle/>
                    <a:p>
                      <a:pPr algn="ctr" latinLnBrk="1"/>
                      <a:r>
                        <a:rPr lang="zh-CN" altLang="en-US" sz="2400" b="1" dirty="0">
                          <a:effectLst/>
                          <a:latin typeface="微软雅黑" panose="020B0503020204020204" pitchFamily="34" charset="-122"/>
                          <a:ea typeface="微软雅黑" panose="020B0503020204020204" pitchFamily="34" charset="-122"/>
                        </a:rPr>
                        <a:t>学习难度</a:t>
                      </a:r>
                      <a:endParaRPr lang="zh-CN" altLang="en-US" sz="2400" b="1" dirty="0">
                        <a:effectLst/>
                        <a:latin typeface="微软雅黑" panose="020B0503020204020204" pitchFamily="34" charset="-122"/>
                        <a:ea typeface="微软雅黑" panose="020B0503020204020204" pitchFamily="34" charset="-122"/>
                      </a:endParaRPr>
                    </a:p>
                  </a:txBody>
                  <a:tcPr marL="26477" marR="26477" marT="13238" marB="13238" anchor="ctr"/>
                </a:tc>
                <a:tc>
                  <a:txBody>
                    <a:bodyPr/>
                    <a:lstStyle/>
                    <a:p>
                      <a:pPr algn="ctr" latinLnBrk="1"/>
                      <a:r>
                        <a:rPr lang="zh-CN" altLang="en-US" sz="2400" b="1" dirty="0">
                          <a:effectLst/>
                          <a:latin typeface="微软雅黑" panose="020B0503020204020204" pitchFamily="34" charset="-122"/>
                          <a:ea typeface="微软雅黑" panose="020B0503020204020204" pitchFamily="34" charset="-122"/>
                        </a:rPr>
                        <a:t>使用频率</a:t>
                      </a:r>
                      <a:endParaRPr lang="zh-CN" altLang="en-US" sz="2400" b="1" dirty="0">
                        <a:effectLst/>
                        <a:latin typeface="微软雅黑" panose="020B0503020204020204" pitchFamily="34" charset="-122"/>
                        <a:ea typeface="微软雅黑" panose="020B0503020204020204" pitchFamily="34" charset="-122"/>
                      </a:endParaRPr>
                    </a:p>
                  </a:txBody>
                  <a:tcPr marL="26477" marR="26477" marT="13238" marB="13238" anchor="ctr"/>
                </a:tc>
              </a:tr>
              <a:tr h="935444">
                <a:tc>
                  <a:txBody>
                    <a:bodyPr/>
                    <a:lstStyle/>
                    <a:p>
                      <a:pPr algn="ctr" latinLnBrk="1"/>
                      <a:r>
                        <a:rPr lang="zh-CN" altLang="en-US" sz="2400" b="1" dirty="0">
                          <a:solidFill>
                            <a:srgbClr val="FF0000"/>
                          </a:solidFill>
                          <a:effectLst/>
                          <a:latin typeface="微软雅黑" panose="020B0503020204020204" pitchFamily="34" charset="-122"/>
                          <a:ea typeface="微软雅黑" panose="020B0503020204020204" pitchFamily="34" charset="-122"/>
                        </a:rPr>
                        <a:t>观察者模式</a:t>
                      </a:r>
                      <a:endParaRPr lang="zh-CN" altLang="en-US" sz="2400" b="1" dirty="0">
                        <a:solidFill>
                          <a:srgbClr val="FF0000"/>
                        </a:solidFill>
                        <a:effectLst/>
                        <a:latin typeface="微软雅黑" panose="020B0503020204020204" pitchFamily="34" charset="-122"/>
                        <a:ea typeface="微软雅黑" panose="020B0503020204020204" pitchFamily="34" charset="-122"/>
                      </a:endParaRPr>
                    </a:p>
                  </a:txBody>
                  <a:tcPr marL="37418" marR="37418" marT="18709" marB="18709" anchor="ctr"/>
                </a:tc>
                <a:tc>
                  <a:txBody>
                    <a:bodyPr/>
                    <a:lstStyle/>
                    <a:p>
                      <a:pPr latinLnBrk="1"/>
                      <a:r>
                        <a:rPr lang="zh-CN" altLang="en-US" sz="2000" dirty="0">
                          <a:effectLst/>
                          <a:latin typeface="微软雅黑" panose="020B0503020204020204" pitchFamily="34" charset="-122"/>
                          <a:ea typeface="微软雅黑" panose="020B0503020204020204" pitchFamily="34" charset="-122"/>
                        </a:rPr>
                        <a:t>定义对象之间的一种一对多依赖关系，使得每当一个对象状态发生改变时，其相关依赖对象都得到通知并被自动更新。</a:t>
                      </a:r>
                      <a:endParaRPr lang="zh-CN" altLang="en-US" sz="2000" dirty="0">
                        <a:effectLst/>
                        <a:latin typeface="微软雅黑" panose="020B0503020204020204" pitchFamily="34" charset="-122"/>
                        <a:ea typeface="微软雅黑" panose="020B0503020204020204" pitchFamily="34" charset="-122"/>
                      </a:endParaRPr>
                    </a:p>
                  </a:txBody>
                  <a:tcPr marL="37418" marR="37418" marT="18709" marB="18709"/>
                </a:tc>
                <a:tc>
                  <a:txBody>
                    <a:bodyPr/>
                    <a:lstStyle/>
                    <a:p>
                      <a:pPr latinLnBrk="1"/>
                      <a:r>
                        <a:rPr lang="zh-CN" altLang="en-US" sz="2000" dirty="0">
                          <a:solidFill>
                            <a:srgbClr val="FF0000"/>
                          </a:solidFill>
                          <a:effectLst/>
                          <a:latin typeface="微软雅黑" panose="020B0503020204020204" pitchFamily="34" charset="-122"/>
                          <a:ea typeface="微软雅黑" panose="020B0503020204020204" pitchFamily="34" charset="-122"/>
                        </a:rPr>
                        <a:t>★★★☆☆</a:t>
                      </a:r>
                      <a:endParaRPr lang="zh-CN" altLang="en-US" sz="2000" dirty="0">
                        <a:solidFill>
                          <a:srgbClr val="FF0000"/>
                        </a:solidFill>
                        <a:effectLst/>
                        <a:latin typeface="微软雅黑" panose="020B0503020204020204" pitchFamily="34" charset="-122"/>
                        <a:ea typeface="微软雅黑" panose="020B0503020204020204" pitchFamily="34" charset="-122"/>
                      </a:endParaRPr>
                    </a:p>
                  </a:txBody>
                  <a:tcPr marL="37418" marR="37418" marT="18709" marB="18709"/>
                </a:tc>
                <a:tc>
                  <a:txBody>
                    <a:bodyPr/>
                    <a:lstStyle/>
                    <a:p>
                      <a:pPr latinLnBrk="1"/>
                      <a:r>
                        <a:rPr lang="zh-CN" altLang="en-US" sz="2000" dirty="0">
                          <a:solidFill>
                            <a:srgbClr val="FF0000"/>
                          </a:solidFill>
                          <a:effectLst/>
                          <a:latin typeface="微软雅黑" panose="020B0503020204020204" pitchFamily="34" charset="-122"/>
                          <a:ea typeface="微软雅黑" panose="020B0503020204020204" pitchFamily="34" charset="-122"/>
                        </a:rPr>
                        <a:t>★★★★★</a:t>
                      </a:r>
                      <a:endParaRPr lang="zh-CN" altLang="en-US" sz="2000" dirty="0">
                        <a:solidFill>
                          <a:srgbClr val="FF0000"/>
                        </a:solidFill>
                        <a:effectLst/>
                        <a:latin typeface="微软雅黑" panose="020B0503020204020204" pitchFamily="34" charset="-122"/>
                        <a:ea typeface="微软雅黑" panose="020B0503020204020204" pitchFamily="34" charset="-122"/>
                      </a:endParaRPr>
                    </a:p>
                  </a:txBody>
                  <a:tcPr marL="37418" marR="37418" marT="18709" marB="18709"/>
                </a:tc>
              </a:tr>
              <a:tr h="785773">
                <a:tc>
                  <a:txBody>
                    <a:bodyPr/>
                    <a:lstStyle/>
                    <a:p>
                      <a:pPr algn="ctr" latinLnBrk="1"/>
                      <a:r>
                        <a:rPr lang="zh-CN" altLang="en-US" sz="2400" b="1" dirty="0">
                          <a:solidFill>
                            <a:srgbClr val="FF0000"/>
                          </a:solidFill>
                          <a:effectLst/>
                          <a:latin typeface="微软雅黑" panose="020B0503020204020204" pitchFamily="34" charset="-122"/>
                          <a:ea typeface="微软雅黑" panose="020B0503020204020204" pitchFamily="34" charset="-122"/>
                        </a:rPr>
                        <a:t>状态模式</a:t>
                      </a:r>
                      <a:endParaRPr lang="zh-CN" altLang="en-US" sz="2400" b="1" dirty="0">
                        <a:solidFill>
                          <a:srgbClr val="FF0000"/>
                        </a:solidFill>
                        <a:effectLst/>
                        <a:latin typeface="微软雅黑" panose="020B0503020204020204" pitchFamily="34" charset="-122"/>
                        <a:ea typeface="微软雅黑" panose="020B0503020204020204" pitchFamily="34" charset="-122"/>
                      </a:endParaRPr>
                    </a:p>
                  </a:txBody>
                  <a:tcPr marL="37418" marR="37418" marT="18709" marB="18709" anchor="ctr"/>
                </a:tc>
                <a:tc>
                  <a:txBody>
                    <a:bodyPr/>
                    <a:lstStyle/>
                    <a:p>
                      <a:pPr latinLnBrk="1"/>
                      <a:r>
                        <a:rPr lang="zh-CN" altLang="en-US" sz="2000" dirty="0">
                          <a:effectLst/>
                          <a:latin typeface="微软雅黑" panose="020B0503020204020204" pitchFamily="34" charset="-122"/>
                          <a:ea typeface="微软雅黑" panose="020B0503020204020204" pitchFamily="34" charset="-122"/>
                        </a:rPr>
                        <a:t>允许一个对象在其内部状态改变时改变它的行为。对象看起来似乎修改了它的类。</a:t>
                      </a:r>
                      <a:endParaRPr lang="zh-CN" altLang="en-US" sz="2000" dirty="0">
                        <a:effectLst/>
                        <a:latin typeface="微软雅黑" panose="020B0503020204020204" pitchFamily="34" charset="-122"/>
                        <a:ea typeface="微软雅黑" panose="020B0503020204020204" pitchFamily="34" charset="-122"/>
                      </a:endParaRPr>
                    </a:p>
                  </a:txBody>
                  <a:tcPr marL="37418" marR="37418" marT="18709" marB="18709"/>
                </a:tc>
                <a:tc>
                  <a:txBody>
                    <a:bodyPr/>
                    <a:lstStyle/>
                    <a:p>
                      <a:pPr latinLnBrk="1"/>
                      <a:r>
                        <a:rPr lang="zh-CN" altLang="en-US" sz="2000">
                          <a:solidFill>
                            <a:srgbClr val="FF0000"/>
                          </a:solidFill>
                          <a:effectLst/>
                          <a:latin typeface="微软雅黑" panose="020B0503020204020204" pitchFamily="34" charset="-122"/>
                          <a:ea typeface="微软雅黑" panose="020B0503020204020204" pitchFamily="34" charset="-122"/>
                        </a:rPr>
                        <a:t>★★★☆☆</a:t>
                      </a:r>
                      <a:endParaRPr lang="zh-CN" altLang="en-US" sz="2000">
                        <a:solidFill>
                          <a:srgbClr val="FF0000"/>
                        </a:solidFill>
                        <a:effectLst/>
                        <a:latin typeface="微软雅黑" panose="020B0503020204020204" pitchFamily="34" charset="-122"/>
                        <a:ea typeface="微软雅黑" panose="020B0503020204020204" pitchFamily="34" charset="-122"/>
                      </a:endParaRPr>
                    </a:p>
                  </a:txBody>
                  <a:tcPr marL="37418" marR="37418" marT="18709" marB="18709"/>
                </a:tc>
                <a:tc>
                  <a:txBody>
                    <a:bodyPr/>
                    <a:lstStyle/>
                    <a:p>
                      <a:pPr latinLnBrk="1"/>
                      <a:r>
                        <a:rPr lang="zh-CN" altLang="en-US" sz="2000" dirty="0">
                          <a:solidFill>
                            <a:srgbClr val="FF0000"/>
                          </a:solidFill>
                          <a:effectLst/>
                          <a:latin typeface="微软雅黑" panose="020B0503020204020204" pitchFamily="34" charset="-122"/>
                          <a:ea typeface="微软雅黑" panose="020B0503020204020204" pitchFamily="34" charset="-122"/>
                        </a:rPr>
                        <a:t>★★★☆☆</a:t>
                      </a:r>
                      <a:endParaRPr lang="zh-CN" altLang="en-US" sz="2000" dirty="0">
                        <a:solidFill>
                          <a:srgbClr val="FF0000"/>
                        </a:solidFill>
                        <a:effectLst/>
                        <a:latin typeface="微软雅黑" panose="020B0503020204020204" pitchFamily="34" charset="-122"/>
                        <a:ea typeface="微软雅黑" panose="020B0503020204020204" pitchFamily="34" charset="-122"/>
                      </a:endParaRPr>
                    </a:p>
                  </a:txBody>
                  <a:tcPr marL="37418" marR="37418" marT="18709" marB="18709"/>
                </a:tc>
              </a:tr>
              <a:tr h="785773">
                <a:tc>
                  <a:txBody>
                    <a:bodyPr/>
                    <a:lstStyle/>
                    <a:p>
                      <a:pPr algn="ctr" latinLnBrk="1"/>
                      <a:r>
                        <a:rPr lang="zh-CN" altLang="en-US" sz="2400" b="1" dirty="0">
                          <a:solidFill>
                            <a:srgbClr val="FF0000"/>
                          </a:solidFill>
                          <a:effectLst/>
                          <a:latin typeface="微软雅黑" panose="020B0503020204020204" pitchFamily="34" charset="-122"/>
                          <a:ea typeface="微软雅黑" panose="020B0503020204020204" pitchFamily="34" charset="-122"/>
                        </a:rPr>
                        <a:t>策略模式</a:t>
                      </a:r>
                      <a:endParaRPr lang="zh-CN" altLang="en-US" sz="2400" b="1" dirty="0">
                        <a:solidFill>
                          <a:srgbClr val="FF0000"/>
                        </a:solidFill>
                        <a:effectLst/>
                        <a:latin typeface="微软雅黑" panose="020B0503020204020204" pitchFamily="34" charset="-122"/>
                        <a:ea typeface="微软雅黑" panose="020B0503020204020204" pitchFamily="34" charset="-122"/>
                      </a:endParaRPr>
                    </a:p>
                  </a:txBody>
                  <a:tcPr marL="37418" marR="37418" marT="18709" marB="18709" anchor="ctr"/>
                </a:tc>
                <a:tc>
                  <a:txBody>
                    <a:bodyPr/>
                    <a:lstStyle/>
                    <a:p>
                      <a:pPr latinLnBrk="1"/>
                      <a:r>
                        <a:rPr lang="zh-CN" altLang="en-US" sz="2000">
                          <a:effectLst/>
                          <a:latin typeface="微软雅黑" panose="020B0503020204020204" pitchFamily="34" charset="-122"/>
                          <a:ea typeface="微软雅黑" panose="020B0503020204020204" pitchFamily="34" charset="-122"/>
                        </a:rPr>
                        <a:t>定义一系列算法，将每一个算法封装起来，并让它们可以相互替换，策略模式让算法可以独立于使用它的客户变化。</a:t>
                      </a:r>
                      <a:endParaRPr lang="zh-CN" altLang="en-US" sz="2000">
                        <a:effectLst/>
                        <a:latin typeface="微软雅黑" panose="020B0503020204020204" pitchFamily="34" charset="-122"/>
                        <a:ea typeface="微软雅黑" panose="020B0503020204020204" pitchFamily="34" charset="-122"/>
                      </a:endParaRPr>
                    </a:p>
                  </a:txBody>
                  <a:tcPr marL="37418" marR="37418" marT="18709" marB="18709"/>
                </a:tc>
                <a:tc>
                  <a:txBody>
                    <a:bodyPr/>
                    <a:lstStyle/>
                    <a:p>
                      <a:pPr latinLnBrk="1"/>
                      <a:r>
                        <a:rPr lang="zh-CN" altLang="en-US" sz="2000">
                          <a:solidFill>
                            <a:srgbClr val="FF0000"/>
                          </a:solidFill>
                          <a:effectLst/>
                          <a:latin typeface="微软雅黑" panose="020B0503020204020204" pitchFamily="34" charset="-122"/>
                          <a:ea typeface="微软雅黑" panose="020B0503020204020204" pitchFamily="34" charset="-122"/>
                        </a:rPr>
                        <a:t>★☆☆☆☆</a:t>
                      </a:r>
                      <a:endParaRPr lang="zh-CN" altLang="en-US" sz="2000">
                        <a:solidFill>
                          <a:srgbClr val="FF0000"/>
                        </a:solidFill>
                        <a:effectLst/>
                        <a:latin typeface="微软雅黑" panose="020B0503020204020204" pitchFamily="34" charset="-122"/>
                        <a:ea typeface="微软雅黑" panose="020B0503020204020204" pitchFamily="34" charset="-122"/>
                      </a:endParaRPr>
                    </a:p>
                  </a:txBody>
                  <a:tcPr marL="37418" marR="37418" marT="18709" marB="18709"/>
                </a:tc>
                <a:tc>
                  <a:txBody>
                    <a:bodyPr/>
                    <a:lstStyle/>
                    <a:p>
                      <a:pPr latinLnBrk="1"/>
                      <a:r>
                        <a:rPr lang="zh-CN" altLang="en-US" sz="2000" dirty="0">
                          <a:solidFill>
                            <a:srgbClr val="FF0000"/>
                          </a:solidFill>
                          <a:effectLst/>
                          <a:latin typeface="微软雅黑" panose="020B0503020204020204" pitchFamily="34" charset="-122"/>
                          <a:ea typeface="微软雅黑" panose="020B0503020204020204" pitchFamily="34" charset="-122"/>
                        </a:rPr>
                        <a:t>★★★★☆</a:t>
                      </a:r>
                      <a:endParaRPr lang="zh-CN" altLang="en-US" sz="2000" dirty="0">
                        <a:solidFill>
                          <a:srgbClr val="FF0000"/>
                        </a:solidFill>
                        <a:effectLst/>
                        <a:latin typeface="微软雅黑" panose="020B0503020204020204" pitchFamily="34" charset="-122"/>
                        <a:ea typeface="微软雅黑" panose="020B0503020204020204" pitchFamily="34" charset="-122"/>
                      </a:endParaRPr>
                    </a:p>
                  </a:txBody>
                  <a:tcPr marL="37418" marR="37418" marT="18709" marB="18709"/>
                </a:tc>
              </a:tr>
              <a:tr h="1085115">
                <a:tc>
                  <a:txBody>
                    <a:bodyPr/>
                    <a:lstStyle/>
                    <a:p>
                      <a:pPr algn="ctr" latinLnBrk="1"/>
                      <a:r>
                        <a:rPr lang="zh-CN" altLang="en-US" sz="2000">
                          <a:effectLst/>
                          <a:latin typeface="微软雅黑" panose="020B0503020204020204" pitchFamily="34" charset="-122"/>
                          <a:ea typeface="微软雅黑" panose="020B0503020204020204" pitchFamily="34" charset="-122"/>
                        </a:rPr>
                        <a:t>模板方法模式</a:t>
                      </a:r>
                      <a:endParaRPr lang="zh-CN" altLang="en-US" sz="2000">
                        <a:effectLst/>
                        <a:latin typeface="微软雅黑" panose="020B0503020204020204" pitchFamily="34" charset="-122"/>
                        <a:ea typeface="微软雅黑" panose="020B0503020204020204" pitchFamily="34" charset="-122"/>
                      </a:endParaRPr>
                    </a:p>
                  </a:txBody>
                  <a:tcPr marL="37418" marR="37418" marT="18709" marB="18709" anchor="ctr"/>
                </a:tc>
                <a:tc>
                  <a:txBody>
                    <a:bodyPr/>
                    <a:lstStyle/>
                    <a:p>
                      <a:pPr latinLnBrk="1"/>
                      <a:r>
                        <a:rPr lang="zh-CN" altLang="en-US" sz="2000">
                          <a:effectLst/>
                          <a:latin typeface="微软雅黑" panose="020B0503020204020204" pitchFamily="34" charset="-122"/>
                          <a:ea typeface="微软雅黑" panose="020B0503020204020204" pitchFamily="34" charset="-122"/>
                        </a:rPr>
                        <a:t>定义一个操作中算法的框架，而将一些步骤延迟到子类中。模板方法模式使得子类不改变一个算法的结构即可重定义该算法的某些特定步骤。</a:t>
                      </a:r>
                      <a:endParaRPr lang="zh-CN" altLang="en-US" sz="2000">
                        <a:effectLst/>
                        <a:latin typeface="微软雅黑" panose="020B0503020204020204" pitchFamily="34" charset="-122"/>
                        <a:ea typeface="微软雅黑" panose="020B0503020204020204" pitchFamily="34" charset="-122"/>
                      </a:endParaRPr>
                    </a:p>
                  </a:txBody>
                  <a:tcPr marL="37418" marR="37418" marT="18709" marB="18709"/>
                </a:tc>
                <a:tc>
                  <a:txBody>
                    <a:bodyPr/>
                    <a:lstStyle/>
                    <a:p>
                      <a:pPr latinLnBrk="1"/>
                      <a:r>
                        <a:rPr lang="zh-CN" altLang="en-US" sz="2000">
                          <a:solidFill>
                            <a:srgbClr val="FF0000"/>
                          </a:solidFill>
                          <a:effectLst/>
                          <a:latin typeface="微软雅黑" panose="020B0503020204020204" pitchFamily="34" charset="-122"/>
                          <a:ea typeface="微软雅黑" panose="020B0503020204020204" pitchFamily="34" charset="-122"/>
                        </a:rPr>
                        <a:t>★★☆☆☆</a:t>
                      </a:r>
                      <a:endParaRPr lang="zh-CN" altLang="en-US" sz="2000">
                        <a:solidFill>
                          <a:srgbClr val="FF0000"/>
                        </a:solidFill>
                        <a:effectLst/>
                        <a:latin typeface="微软雅黑" panose="020B0503020204020204" pitchFamily="34" charset="-122"/>
                        <a:ea typeface="微软雅黑" panose="020B0503020204020204" pitchFamily="34" charset="-122"/>
                      </a:endParaRPr>
                    </a:p>
                  </a:txBody>
                  <a:tcPr marL="37418" marR="37418" marT="18709" marB="18709"/>
                </a:tc>
                <a:tc>
                  <a:txBody>
                    <a:bodyPr/>
                    <a:lstStyle/>
                    <a:p>
                      <a:pPr latinLnBrk="1"/>
                      <a:r>
                        <a:rPr lang="zh-CN" altLang="en-US" sz="2000" dirty="0">
                          <a:solidFill>
                            <a:srgbClr val="FF0000"/>
                          </a:solidFill>
                          <a:effectLst/>
                          <a:latin typeface="微软雅黑" panose="020B0503020204020204" pitchFamily="34" charset="-122"/>
                          <a:ea typeface="微软雅黑" panose="020B0503020204020204" pitchFamily="34" charset="-122"/>
                        </a:rPr>
                        <a:t>★★★☆☆</a:t>
                      </a:r>
                      <a:endParaRPr lang="zh-CN" altLang="en-US" sz="2000" dirty="0">
                        <a:solidFill>
                          <a:srgbClr val="FF0000"/>
                        </a:solidFill>
                        <a:effectLst/>
                        <a:latin typeface="微软雅黑" panose="020B0503020204020204" pitchFamily="34" charset="-122"/>
                        <a:ea typeface="微软雅黑" panose="020B0503020204020204" pitchFamily="34" charset="-122"/>
                      </a:endParaRPr>
                    </a:p>
                  </a:txBody>
                  <a:tcPr marL="37418" marR="37418" marT="18709" marB="18709"/>
                </a:tc>
              </a:tr>
              <a:tr h="935444">
                <a:tc>
                  <a:txBody>
                    <a:bodyPr/>
                    <a:lstStyle/>
                    <a:p>
                      <a:pPr algn="ctr" latinLnBrk="1"/>
                      <a:r>
                        <a:rPr lang="zh-CN" altLang="en-US" sz="2000">
                          <a:effectLst/>
                          <a:latin typeface="微软雅黑" panose="020B0503020204020204" pitchFamily="34" charset="-122"/>
                          <a:ea typeface="微软雅黑" panose="020B0503020204020204" pitchFamily="34" charset="-122"/>
                        </a:rPr>
                        <a:t>访问者模式</a:t>
                      </a:r>
                      <a:endParaRPr lang="zh-CN" altLang="en-US" sz="2000">
                        <a:effectLst/>
                        <a:latin typeface="微软雅黑" panose="020B0503020204020204" pitchFamily="34" charset="-122"/>
                        <a:ea typeface="微软雅黑" panose="020B0503020204020204" pitchFamily="34" charset="-122"/>
                      </a:endParaRPr>
                    </a:p>
                  </a:txBody>
                  <a:tcPr marL="37418" marR="37418" marT="18709" marB="18709" anchor="ctr"/>
                </a:tc>
                <a:tc>
                  <a:txBody>
                    <a:bodyPr/>
                    <a:lstStyle/>
                    <a:p>
                      <a:pPr latinLnBrk="1"/>
                      <a:r>
                        <a:rPr lang="zh-CN" altLang="en-US" sz="2000">
                          <a:effectLst/>
                          <a:latin typeface="微软雅黑" panose="020B0503020204020204" pitchFamily="34" charset="-122"/>
                          <a:ea typeface="微软雅黑" panose="020B0503020204020204" pitchFamily="34" charset="-122"/>
                        </a:rPr>
                        <a:t>表示一个作用于某对象结构中的各个元素的操作。访问者模式让你可以在不改变各元素的类的前提下定义作用于这些元素的新操作。</a:t>
                      </a:r>
                      <a:endParaRPr lang="zh-CN" altLang="en-US" sz="2000">
                        <a:effectLst/>
                        <a:latin typeface="微软雅黑" panose="020B0503020204020204" pitchFamily="34" charset="-122"/>
                        <a:ea typeface="微软雅黑" panose="020B0503020204020204" pitchFamily="34" charset="-122"/>
                      </a:endParaRPr>
                    </a:p>
                  </a:txBody>
                  <a:tcPr marL="37418" marR="37418" marT="18709" marB="18709"/>
                </a:tc>
                <a:tc>
                  <a:txBody>
                    <a:bodyPr/>
                    <a:lstStyle/>
                    <a:p>
                      <a:pPr latinLnBrk="1"/>
                      <a:r>
                        <a:rPr lang="zh-CN" altLang="en-US" sz="2000">
                          <a:solidFill>
                            <a:srgbClr val="FF0000"/>
                          </a:solidFill>
                          <a:effectLst/>
                          <a:latin typeface="微软雅黑" panose="020B0503020204020204" pitchFamily="34" charset="-122"/>
                          <a:ea typeface="微软雅黑" panose="020B0503020204020204" pitchFamily="34" charset="-122"/>
                        </a:rPr>
                        <a:t>★★★★☆</a:t>
                      </a:r>
                      <a:endParaRPr lang="zh-CN" altLang="en-US" sz="2000">
                        <a:solidFill>
                          <a:srgbClr val="FF0000"/>
                        </a:solidFill>
                        <a:effectLst/>
                        <a:latin typeface="微软雅黑" panose="020B0503020204020204" pitchFamily="34" charset="-122"/>
                        <a:ea typeface="微软雅黑" panose="020B0503020204020204" pitchFamily="34" charset="-122"/>
                      </a:endParaRPr>
                    </a:p>
                  </a:txBody>
                  <a:tcPr marL="37418" marR="37418" marT="18709" marB="18709"/>
                </a:tc>
                <a:tc>
                  <a:txBody>
                    <a:bodyPr/>
                    <a:lstStyle/>
                    <a:p>
                      <a:pPr latinLnBrk="1"/>
                      <a:r>
                        <a:rPr lang="zh-CN" altLang="en-US" sz="2000" dirty="0">
                          <a:solidFill>
                            <a:srgbClr val="FF0000"/>
                          </a:solidFill>
                          <a:effectLst/>
                          <a:latin typeface="微软雅黑" panose="020B0503020204020204" pitchFamily="34" charset="-122"/>
                          <a:ea typeface="微软雅黑" panose="020B0503020204020204" pitchFamily="34" charset="-122"/>
                        </a:rPr>
                        <a:t>★☆☆☆☆</a:t>
                      </a:r>
                      <a:endParaRPr lang="zh-CN" altLang="en-US" sz="2000" dirty="0">
                        <a:solidFill>
                          <a:srgbClr val="FF0000"/>
                        </a:solidFill>
                        <a:effectLst/>
                        <a:latin typeface="微软雅黑" panose="020B0503020204020204" pitchFamily="34" charset="-122"/>
                        <a:ea typeface="微软雅黑" panose="020B0503020204020204" pitchFamily="34" charset="-122"/>
                      </a:endParaRPr>
                    </a:p>
                  </a:txBody>
                  <a:tcPr marL="37418" marR="37418" marT="18709" marB="18709"/>
                </a:tc>
              </a:tr>
            </a:tbl>
          </a:graphicData>
        </a:graphic>
      </p:graphicFrame>
    </p:spTree>
  </p:cSld>
  <p:clrMapOvr>
    <a:masterClrMapping/>
  </p:clrMapOvr>
  <p:transition spd="slow" advTm="0">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3722911" cy="68595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圆角矩形 66"/>
          <p:cNvSpPr/>
          <p:nvPr/>
        </p:nvSpPr>
        <p:spPr>
          <a:xfrm>
            <a:off x="4803031" y="24490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18.2</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68" name="组合 67"/>
          <p:cNvGrpSpPr/>
          <p:nvPr/>
        </p:nvGrpSpPr>
        <p:grpSpPr>
          <a:xfrm>
            <a:off x="6313103" y="1516058"/>
            <a:ext cx="5114664" cy="554038"/>
            <a:chOff x="6339097" y="1579613"/>
            <a:chExt cx="3744416" cy="554038"/>
          </a:xfrm>
        </p:grpSpPr>
        <p:sp>
          <p:nvSpPr>
            <p:cNvPr id="69" name="圆角矩形 68"/>
            <p:cNvSpPr/>
            <p:nvPr/>
          </p:nvSpPr>
          <p:spPr>
            <a:xfrm>
              <a:off x="6339097" y="1622147"/>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70" name="矩形 69"/>
            <p:cNvSpPr/>
            <p:nvPr/>
          </p:nvSpPr>
          <p:spPr>
            <a:xfrm>
              <a:off x="6723350" y="1579613"/>
              <a:ext cx="3202013"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1" name="圆角矩形 70"/>
          <p:cNvSpPr/>
          <p:nvPr/>
        </p:nvSpPr>
        <p:spPr>
          <a:xfrm>
            <a:off x="4803031" y="33405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18.3</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72" name="组合 71"/>
          <p:cNvGrpSpPr/>
          <p:nvPr/>
        </p:nvGrpSpPr>
        <p:grpSpPr>
          <a:xfrm>
            <a:off x="6289221" y="2405662"/>
            <a:ext cx="5114664" cy="565542"/>
            <a:chOff x="6315199" y="2410178"/>
            <a:chExt cx="3744416" cy="565542"/>
          </a:xfrm>
        </p:grpSpPr>
        <p:sp>
          <p:nvSpPr>
            <p:cNvPr id="73" name="圆角矩形 72"/>
            <p:cNvSpPr/>
            <p:nvPr/>
          </p:nvSpPr>
          <p:spPr>
            <a:xfrm>
              <a:off x="6315199" y="2410178"/>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74" name="矩形 73"/>
            <p:cNvSpPr/>
            <p:nvPr/>
          </p:nvSpPr>
          <p:spPr>
            <a:xfrm>
              <a:off x="6747248" y="2421682"/>
              <a:ext cx="265307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5" name="圆角矩形 74"/>
          <p:cNvSpPr/>
          <p:nvPr/>
        </p:nvSpPr>
        <p:spPr>
          <a:xfrm>
            <a:off x="4803031" y="42320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18.4</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76" name="组合 75"/>
          <p:cNvGrpSpPr/>
          <p:nvPr/>
        </p:nvGrpSpPr>
        <p:grpSpPr>
          <a:xfrm>
            <a:off x="6313103" y="3306770"/>
            <a:ext cx="5114664" cy="554038"/>
            <a:chOff x="6339097" y="3285779"/>
            <a:chExt cx="3744416" cy="554038"/>
          </a:xfrm>
        </p:grpSpPr>
        <p:sp>
          <p:nvSpPr>
            <p:cNvPr id="77" name="圆角矩形 76"/>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78" name="矩形 77"/>
            <p:cNvSpPr/>
            <p:nvPr/>
          </p:nvSpPr>
          <p:spPr>
            <a:xfrm>
              <a:off x="6723349" y="3285779"/>
              <a:ext cx="273630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7" name="TextBox 86"/>
          <p:cNvSpPr txBox="1"/>
          <p:nvPr/>
        </p:nvSpPr>
        <p:spPr>
          <a:xfrm>
            <a:off x="338535" y="2219568"/>
            <a:ext cx="2806485" cy="1354243"/>
          </a:xfrm>
          <a:prstGeom prst="rect">
            <a:avLst/>
          </a:prstGeom>
          <a:noFill/>
        </p:spPr>
        <p:txBody>
          <a:bodyPr wrap="square" lIns="121880" tIns="60938" rIns="121880" bIns="60938">
            <a:spAutoFit/>
          </a:bodyPr>
          <a:lstStyle/>
          <a:p>
            <a:pPr algn="r">
              <a:defRPr/>
            </a:pPr>
            <a:r>
              <a:rPr lang="zh-CN" altLang="en-US" sz="4800" b="1" spc="200" dirty="0" smtClean="0">
                <a:solidFill>
                  <a:schemeClr val="bg1"/>
                </a:solidFill>
                <a:latin typeface="微软雅黑" panose="020B0503020204020204" pitchFamily="34" charset="-122"/>
                <a:ea typeface="微软雅黑" panose="020B0503020204020204" pitchFamily="34" charset="-122"/>
              </a:rPr>
              <a:t>目录</a:t>
            </a:r>
            <a:endParaRPr lang="en-US" altLang="zh-CN" sz="4800" b="1" spc="200" dirty="0">
              <a:solidFill>
                <a:schemeClr val="bg1"/>
              </a:solidFill>
              <a:latin typeface="微软雅黑" panose="020B0503020204020204" pitchFamily="34" charset="-122"/>
              <a:ea typeface="微软雅黑" panose="020B0503020204020204" pitchFamily="34" charset="-122"/>
            </a:endParaRPr>
          </a:p>
          <a:p>
            <a:pPr algn="r">
              <a:defRPr/>
            </a:pPr>
            <a:r>
              <a:rPr lang="en-US" altLang="zh-CN" sz="3200" b="1" spc="200" dirty="0">
                <a:solidFill>
                  <a:schemeClr val="bg1"/>
                </a:solidFill>
                <a:latin typeface="微软雅黑" panose="020B0503020204020204" pitchFamily="34" charset="-122"/>
                <a:ea typeface="微软雅黑" panose="020B0503020204020204" pitchFamily="34" charset="-122"/>
              </a:rPr>
              <a:t>CONTENTS</a:t>
            </a:r>
            <a:endParaRPr lang="zh-CN" altLang="en-US" sz="3200" b="1" spc="200" dirty="0">
              <a:solidFill>
                <a:schemeClr val="bg1"/>
              </a:solidFill>
              <a:latin typeface="微软雅黑" panose="020B0503020204020204" pitchFamily="34" charset="-122"/>
              <a:ea typeface="微软雅黑" panose="020B0503020204020204" pitchFamily="34" charset="-122"/>
            </a:endParaRPr>
          </a:p>
        </p:txBody>
      </p:sp>
      <p:sp>
        <p:nvSpPr>
          <p:cNvPr id="17" name="圆角矩形 16"/>
          <p:cNvSpPr/>
          <p:nvPr/>
        </p:nvSpPr>
        <p:spPr>
          <a:xfrm>
            <a:off x="4803031" y="51235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18.5</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18" name="组合 17"/>
          <p:cNvGrpSpPr/>
          <p:nvPr/>
        </p:nvGrpSpPr>
        <p:grpSpPr>
          <a:xfrm>
            <a:off x="6313103" y="4196374"/>
            <a:ext cx="5114664" cy="554038"/>
            <a:chOff x="6339097" y="3264311"/>
            <a:chExt cx="3744416" cy="554038"/>
          </a:xfrm>
        </p:grpSpPr>
        <p:sp>
          <p:nvSpPr>
            <p:cNvPr id="19" name="圆角矩形 18"/>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20" name="矩形 19"/>
            <p:cNvSpPr/>
            <p:nvPr/>
          </p:nvSpPr>
          <p:spPr>
            <a:xfrm>
              <a:off x="6723349" y="3264311"/>
              <a:ext cx="273630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圆角矩形 3"/>
          <p:cNvSpPr/>
          <p:nvPr/>
        </p:nvSpPr>
        <p:spPr>
          <a:xfrm>
            <a:off x="4010943" y="549474"/>
            <a:ext cx="6384830" cy="7200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000" b="1" dirty="0" smtClean="0">
                <a:latin typeface="黑体" panose="02010609060101010101" pitchFamily="49" charset="-122"/>
                <a:ea typeface="黑体" panose="02010609060101010101" pitchFamily="49" charset="-122"/>
              </a:rPr>
              <a:t>18 </a:t>
            </a:r>
            <a:r>
              <a:rPr lang="zh-CN" altLang="en-US" sz="4000" b="1" dirty="0">
                <a:latin typeface="黑体" panose="02010609060101010101" pitchFamily="49" charset="-122"/>
                <a:ea typeface="黑体" panose="02010609060101010101" pitchFamily="49" charset="-122"/>
              </a:rPr>
              <a:t>命令</a:t>
            </a:r>
            <a:r>
              <a:rPr lang="zh-CN" altLang="en-US" sz="4000" b="1" dirty="0" smtClean="0">
                <a:latin typeface="黑体" panose="02010609060101010101" pitchFamily="49" charset="-122"/>
                <a:ea typeface="黑体" panose="02010609060101010101" pitchFamily="49" charset="-122"/>
              </a:rPr>
              <a:t>模式</a:t>
            </a:r>
            <a:endParaRPr lang="zh-CN" altLang="en-US" sz="4000" b="1" dirty="0">
              <a:latin typeface="黑体" panose="02010609060101010101" pitchFamily="49" charset="-122"/>
              <a:ea typeface="黑体" panose="02010609060101010101" pitchFamily="49" charset="-122"/>
            </a:endParaRPr>
          </a:p>
        </p:txBody>
      </p:sp>
      <p:grpSp>
        <p:nvGrpSpPr>
          <p:cNvPr id="22" name="组合 21"/>
          <p:cNvGrpSpPr/>
          <p:nvPr/>
        </p:nvGrpSpPr>
        <p:grpSpPr>
          <a:xfrm>
            <a:off x="6313103" y="5085978"/>
            <a:ext cx="5114664" cy="554038"/>
            <a:chOff x="6339097" y="3264311"/>
            <a:chExt cx="3744416" cy="554038"/>
          </a:xfrm>
        </p:grpSpPr>
        <p:sp>
          <p:nvSpPr>
            <p:cNvPr id="23" name="圆角矩形 22"/>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24" name="矩形 23"/>
            <p:cNvSpPr/>
            <p:nvPr/>
          </p:nvSpPr>
          <p:spPr>
            <a:xfrm>
              <a:off x="6723349" y="3264311"/>
              <a:ext cx="273630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5" name="圆角矩形 24"/>
          <p:cNvSpPr/>
          <p:nvPr/>
        </p:nvSpPr>
        <p:spPr>
          <a:xfrm>
            <a:off x="4803031" y="15575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18.1</a:t>
            </a:r>
            <a:endParaRPr lang="zh-CN" altLang="en-US" sz="3200" dirty="0">
              <a:latin typeface="+mj-lt"/>
              <a:ea typeface="Arial Unicode MS" panose="020B0604020202020204" pitchFamily="34" charset="-122"/>
              <a:cs typeface="Arial Unicode MS" panose="020B0604020202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14599" y="835213"/>
            <a:ext cx="10657184" cy="5262979"/>
          </a:xfrm>
          <a:prstGeom prst="rect">
            <a:avLst/>
          </a:prstGeom>
        </p:spPr>
        <p:txBody>
          <a:bodyPr wrap="square">
            <a:spAutoFit/>
          </a:bodyPr>
          <a:lstStyle/>
          <a:p>
            <a:pPr indent="457200">
              <a:lnSpc>
                <a:spcPct val="150000"/>
              </a:lnSpc>
            </a:pPr>
            <a:r>
              <a:rPr lang="zh-CN" altLang="en-US" sz="2800" b="1" dirty="0">
                <a:solidFill>
                  <a:srgbClr val="FF0000"/>
                </a:solidFill>
                <a:latin typeface="微软雅黑" panose="020B0503020204020204" pitchFamily="34" charset="-122"/>
                <a:ea typeface="微软雅黑" panose="020B0503020204020204" pitchFamily="34" charset="-122"/>
              </a:rPr>
              <a:t>命令模式（</a:t>
            </a:r>
            <a:r>
              <a:rPr lang="en-US" altLang="zh-CN" sz="2800" b="1" dirty="0">
                <a:solidFill>
                  <a:srgbClr val="FF0000"/>
                </a:solidFill>
                <a:latin typeface="微软雅黑" panose="020B0503020204020204" pitchFamily="34" charset="-122"/>
                <a:ea typeface="微软雅黑" panose="020B0503020204020204" pitchFamily="34" charset="-122"/>
              </a:rPr>
              <a:t>Command Pattern</a:t>
            </a:r>
            <a:r>
              <a:rPr lang="zh-CN" altLang="en-US" sz="2800" b="1" dirty="0">
                <a:solidFill>
                  <a:srgbClr val="FF0000"/>
                </a:solidFill>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是一种常用的行为型设计模式，它将</a:t>
            </a:r>
            <a:r>
              <a:rPr lang="zh-CN" altLang="en-US" sz="2800" b="1" dirty="0">
                <a:solidFill>
                  <a:srgbClr val="FF0000"/>
                </a:solidFill>
                <a:latin typeface="微软雅黑" panose="020B0503020204020204" pitchFamily="34" charset="-122"/>
                <a:ea typeface="微软雅黑" panose="020B0503020204020204" pitchFamily="34" charset="-122"/>
              </a:rPr>
              <a:t>请求发送者与请求接收者解耦</a:t>
            </a:r>
            <a:r>
              <a:rPr lang="zh-CN" altLang="en-US" sz="2800" b="1" dirty="0">
                <a:latin typeface="微软雅黑" panose="020B0503020204020204" pitchFamily="34" charset="-122"/>
                <a:ea typeface="微软雅黑" panose="020B0503020204020204" pitchFamily="34" charset="-122"/>
              </a:rPr>
              <a:t>，请求发送者通过命令对象来间接引用接收者，使得系统具有更好的灵活性，可以在不修改现有系统源代码的情况下将</a:t>
            </a:r>
            <a:r>
              <a:rPr lang="zh-CN" altLang="en-US" sz="2800" b="1" dirty="0">
                <a:solidFill>
                  <a:srgbClr val="FF0000"/>
                </a:solidFill>
                <a:latin typeface="微软雅黑" panose="020B0503020204020204" pitchFamily="34" charset="-122"/>
                <a:ea typeface="微软雅黑" panose="020B0503020204020204" pitchFamily="34" charset="-122"/>
              </a:rPr>
              <a:t>相同的发送者对应不同的接收者</a:t>
            </a:r>
            <a:r>
              <a:rPr lang="zh-CN" altLang="en-US" sz="2800" b="1" dirty="0">
                <a:latin typeface="微软雅黑" panose="020B0503020204020204" pitchFamily="34" charset="-122"/>
                <a:ea typeface="微软雅黑" panose="020B0503020204020204" pitchFamily="34" charset="-122"/>
              </a:rPr>
              <a:t>，也可以将多个命令对象组合成</a:t>
            </a:r>
            <a:r>
              <a:rPr lang="zh-CN" altLang="en-US" sz="2800" b="1" dirty="0">
                <a:solidFill>
                  <a:srgbClr val="FF0000"/>
                </a:solidFill>
                <a:latin typeface="微软雅黑" panose="020B0503020204020204" pitchFamily="34" charset="-122"/>
                <a:ea typeface="微软雅黑" panose="020B0503020204020204" pitchFamily="34" charset="-122"/>
              </a:rPr>
              <a:t>宏命令</a:t>
            </a:r>
            <a:r>
              <a:rPr lang="zh-CN" altLang="en-US" sz="2800" b="1" dirty="0">
                <a:latin typeface="微软雅黑" panose="020B0503020204020204" pitchFamily="34" charset="-122"/>
                <a:ea typeface="微软雅黑" panose="020B0503020204020204" pitchFamily="34" charset="-122"/>
              </a:rPr>
              <a:t>，还可以在命令类中提供用来</a:t>
            </a:r>
            <a:r>
              <a:rPr lang="zh-CN" altLang="en-US" sz="2800" b="1" dirty="0">
                <a:solidFill>
                  <a:srgbClr val="FF0000"/>
                </a:solidFill>
                <a:latin typeface="微软雅黑" panose="020B0503020204020204" pitchFamily="34" charset="-122"/>
                <a:ea typeface="微软雅黑" panose="020B0503020204020204" pitchFamily="34" charset="-122"/>
              </a:rPr>
              <a:t>撤销</a:t>
            </a:r>
            <a:r>
              <a:rPr lang="zh-CN" altLang="en-US" sz="2800" b="1" dirty="0">
                <a:latin typeface="微软雅黑" panose="020B0503020204020204" pitchFamily="34" charset="-122"/>
                <a:ea typeface="微软雅黑" panose="020B0503020204020204" pitchFamily="34" charset="-122"/>
              </a:rPr>
              <a:t>请求的方法。  </a:t>
            </a:r>
            <a:endParaRPr lang="zh-CN" altLang="en-US" sz="2800" b="1" dirty="0">
              <a:latin typeface="微软雅黑" panose="020B0503020204020204" pitchFamily="34" charset="-122"/>
              <a:ea typeface="微软雅黑" panose="020B0503020204020204" pitchFamily="34" charset="-122"/>
            </a:endParaRPr>
          </a:p>
          <a:p>
            <a:pPr indent="457200">
              <a:lnSpc>
                <a:spcPct val="150000"/>
              </a:lnSpc>
            </a:pPr>
            <a:r>
              <a:rPr lang="zh-CN" altLang="en-US" sz="2800" b="1" dirty="0">
                <a:latin typeface="微软雅黑" panose="020B0503020204020204" pitchFamily="34" charset="-122"/>
                <a:ea typeface="微软雅黑" panose="020B0503020204020204" pitchFamily="34" charset="-122"/>
              </a:rPr>
              <a:t>  命令模式又称为“动作（</a:t>
            </a:r>
            <a:r>
              <a:rPr lang="en-US" altLang="zh-CN" sz="2800" b="1" dirty="0">
                <a:latin typeface="微软雅黑" panose="020B0503020204020204" pitchFamily="34" charset="-122"/>
                <a:ea typeface="微软雅黑" panose="020B0503020204020204" pitchFamily="34" charset="-122"/>
              </a:rPr>
              <a:t>Action</a:t>
            </a:r>
            <a:r>
              <a:rPr lang="zh-CN" altLang="en-US" sz="2800" b="1" dirty="0">
                <a:latin typeface="微软雅黑" panose="020B0503020204020204" pitchFamily="34" charset="-122"/>
                <a:ea typeface="微软雅黑" panose="020B0503020204020204" pitchFamily="34" charset="-122"/>
              </a:rPr>
              <a:t>）模式”或者“事务（</a:t>
            </a:r>
            <a:r>
              <a:rPr lang="en-US" altLang="zh-CN" sz="2800" b="1" dirty="0">
                <a:latin typeface="微软雅黑" panose="020B0503020204020204" pitchFamily="34" charset="-122"/>
                <a:ea typeface="微软雅黑" panose="020B0503020204020204" pitchFamily="34" charset="-122"/>
              </a:rPr>
              <a:t>Transaction</a:t>
            </a:r>
            <a:r>
              <a:rPr lang="zh-CN" altLang="en-US" sz="2800" b="1" dirty="0">
                <a:latin typeface="微软雅黑" panose="020B0503020204020204" pitchFamily="34" charset="-122"/>
                <a:ea typeface="微软雅黑" panose="020B0503020204020204" pitchFamily="34" charset="-122"/>
              </a:rPr>
              <a:t>）模式”，是对象行为型模式之一</a:t>
            </a:r>
            <a:r>
              <a:rPr lang="zh-CN" altLang="en-US" sz="2800" b="1" dirty="0" smtClean="0">
                <a:latin typeface="微软雅黑" panose="020B0503020204020204" pitchFamily="34" charset="-122"/>
                <a:ea typeface="微软雅黑" panose="020B0503020204020204" pitchFamily="34" charset="-122"/>
              </a:rPr>
              <a:t>。</a:t>
            </a:r>
            <a:r>
              <a:rPr lang="zh-CN" altLang="en-US" sz="2800" dirty="0" smtClean="0">
                <a:latin typeface="微软雅黑" panose="020B0503020204020204" pitchFamily="34" charset="-122"/>
                <a:ea typeface="微软雅黑" panose="020B0503020204020204" pitchFamily="34" charset="-122"/>
              </a:rPr>
              <a:t>  </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599" y="2709714"/>
            <a:ext cx="10729192" cy="2677656"/>
          </a:xfrm>
          <a:prstGeom prst="rect">
            <a:avLst/>
          </a:prstGeom>
          <a:noFill/>
        </p:spPr>
        <p:txBody>
          <a:bodyPr wrap="square" rtlCol="0">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本章难点：</a:t>
            </a:r>
            <a:endParaRPr lang="en-US" altLang="zh-CN" sz="2800" b="1" dirty="0" smtClean="0">
              <a:latin typeface="微软雅黑" panose="020B0503020204020204" pitchFamily="34" charset="-122"/>
              <a:ea typeface="微软雅黑" panose="020B0503020204020204" pitchFamily="34" charset="-122"/>
            </a:endParaRPr>
          </a:p>
          <a:p>
            <a:pPr>
              <a:lnSpc>
                <a:spcPct val="150000"/>
              </a:lnSpc>
            </a:pPr>
            <a:r>
              <a:rPr lang="en-US" altLang="zh-CN" sz="2800" dirty="0" smtClean="0">
                <a:latin typeface="微软雅黑" panose="020B0503020204020204" pitchFamily="34" charset="-122"/>
                <a:ea typeface="微软雅黑" panose="020B0503020204020204" pitchFamily="34" charset="-122"/>
              </a:rPr>
              <a:t>1</a:t>
            </a:r>
            <a:r>
              <a:rPr lang="zh-CN" altLang="en-US" sz="2800" dirty="0" smtClean="0">
                <a:latin typeface="微软雅黑" panose="020B0503020204020204" pitchFamily="34" charset="-122"/>
                <a:ea typeface="微软雅黑" panose="020B0503020204020204" pitchFamily="34" charset="-122"/>
              </a:rPr>
              <a:t>、掌握</a:t>
            </a:r>
            <a:r>
              <a:rPr lang="zh-CN" altLang="en-US" sz="2800" dirty="0">
                <a:latin typeface="微软雅黑" panose="020B0503020204020204" pitchFamily="34" charset="-122"/>
                <a:ea typeface="微软雅黑" panose="020B0503020204020204" pitchFamily="34" charset="-122"/>
              </a:rPr>
              <a:t>命令模式的结构</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en-US" altLang="zh-CN" sz="2800" dirty="0" smtClean="0">
                <a:latin typeface="微软雅黑" panose="020B0503020204020204" pitchFamily="34" charset="-122"/>
                <a:ea typeface="微软雅黑" panose="020B0503020204020204" pitchFamily="34" charset="-122"/>
              </a:rPr>
              <a:t>2</a:t>
            </a:r>
            <a:r>
              <a:rPr lang="zh-CN" altLang="en-US" sz="2800" dirty="0" smtClean="0">
                <a:latin typeface="微软雅黑" panose="020B0503020204020204" pitchFamily="34" charset="-122"/>
                <a:ea typeface="微软雅黑" panose="020B0503020204020204" pitchFamily="34" charset="-122"/>
              </a:rPr>
              <a:t>、掌握</a:t>
            </a:r>
            <a:r>
              <a:rPr lang="zh-CN" altLang="en-US" sz="2800" dirty="0">
                <a:latin typeface="微软雅黑" panose="020B0503020204020204" pitchFamily="34" charset="-122"/>
                <a:ea typeface="微软雅黑" panose="020B0503020204020204" pitchFamily="34" charset="-122"/>
              </a:rPr>
              <a:t>如何通过命令模式实现撤销</a:t>
            </a:r>
            <a:r>
              <a:rPr lang="zh-CN" altLang="en-US" sz="2800" dirty="0" smtClean="0">
                <a:latin typeface="微软雅黑" panose="020B0503020204020204" pitchFamily="34" charset="-122"/>
                <a:ea typeface="微软雅黑" panose="020B0503020204020204" pitchFamily="34" charset="-122"/>
              </a:rPr>
              <a:t>操作和宏命令；</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en-US" altLang="zh-CN" sz="2800" dirty="0" smtClean="0">
                <a:latin typeface="微软雅黑" panose="020B0503020204020204" pitchFamily="34" charset="-122"/>
                <a:ea typeface="微软雅黑" panose="020B0503020204020204" pitchFamily="34" charset="-122"/>
              </a:rPr>
              <a:t>3</a:t>
            </a:r>
            <a:r>
              <a:rPr lang="zh-CN" altLang="en-US" sz="2800" dirty="0" smtClean="0">
                <a:latin typeface="微软雅黑" panose="020B0503020204020204" pitchFamily="34" charset="-122"/>
                <a:ea typeface="微软雅黑" panose="020B0503020204020204" pitchFamily="34" charset="-122"/>
              </a:rPr>
              <a:t>、掌握</a:t>
            </a:r>
            <a:r>
              <a:rPr lang="zh-CN" altLang="en-US" sz="2800" dirty="0">
                <a:latin typeface="微软雅黑" panose="020B0503020204020204" pitchFamily="34" charset="-122"/>
                <a:ea typeface="微软雅黑" panose="020B0503020204020204" pitchFamily="34" charset="-122"/>
              </a:rPr>
              <a:t>如何在实际软件开发中应用命令</a:t>
            </a:r>
            <a:r>
              <a:rPr lang="zh-CN" altLang="en-US" sz="2800" dirty="0" smtClean="0">
                <a:latin typeface="微软雅黑" panose="020B0503020204020204" pitchFamily="34" charset="-122"/>
                <a:ea typeface="微软雅黑" panose="020B0503020204020204" pitchFamily="34" charset="-122"/>
              </a:rPr>
              <a:t>模式。</a:t>
            </a:r>
            <a:endParaRPr lang="zh-CN" altLang="en-US" sz="2800" dirty="0">
              <a:latin typeface="微软雅黑" panose="020B0503020204020204" pitchFamily="34" charset="-122"/>
              <a:ea typeface="微软雅黑" panose="020B0503020204020204" pitchFamily="34" charset="-122"/>
            </a:endParaRPr>
          </a:p>
        </p:txBody>
      </p:sp>
      <p:sp>
        <p:nvSpPr>
          <p:cNvPr id="3" name="TextBox 2"/>
          <p:cNvSpPr txBox="1"/>
          <p:nvPr/>
        </p:nvSpPr>
        <p:spPr>
          <a:xfrm>
            <a:off x="986607" y="1197546"/>
            <a:ext cx="10081120" cy="1384995"/>
          </a:xfrm>
          <a:prstGeom prst="rect">
            <a:avLst/>
          </a:prstGeom>
          <a:noFill/>
        </p:spPr>
        <p:txBody>
          <a:bodyPr wrap="square" rtlCol="0">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命令</a:t>
            </a:r>
            <a:r>
              <a:rPr lang="zh-CN" altLang="en-US" sz="2800" b="1" dirty="0" smtClean="0">
                <a:latin typeface="微软雅黑" panose="020B0503020204020204" pitchFamily="34" charset="-122"/>
                <a:ea typeface="微软雅黑" panose="020B0503020204020204" pitchFamily="34" charset="-122"/>
              </a:rPr>
              <a:t>模式重要等级：</a:t>
            </a:r>
            <a:r>
              <a:rPr lang="zh-CN" altLang="zh-CN" sz="2800" b="1" kern="100" dirty="0" smtClean="0">
                <a:solidFill>
                  <a:srgbClr val="FF3300"/>
                </a:solidFill>
                <a:latin typeface="微软雅黑" panose="020B0503020204020204" pitchFamily="34" charset="-122"/>
                <a:ea typeface="微软雅黑" panose="020B0503020204020204" pitchFamily="34" charset="-122"/>
                <a:cs typeface="Times New Roman" panose="02020603050405020304"/>
              </a:rPr>
              <a:t>★★★★☆</a:t>
            </a:r>
            <a:endParaRPr lang="en-US" altLang="zh-CN" sz="2800" b="1" kern="100" dirty="0" smtClean="0">
              <a:solidFill>
                <a:srgbClr val="FF3300"/>
              </a:solidFill>
              <a:latin typeface="微软雅黑" panose="020B0503020204020204" pitchFamily="34" charset="-122"/>
              <a:ea typeface="微软雅黑" panose="020B0503020204020204" pitchFamily="34" charset="-122"/>
              <a:cs typeface="Times New Roman" panose="02020603050405020304"/>
            </a:endParaRPr>
          </a:p>
          <a:p>
            <a:pPr>
              <a:lnSpc>
                <a:spcPct val="150000"/>
              </a:lnSpc>
            </a:pPr>
            <a:r>
              <a:rPr lang="zh-CN" altLang="en-US" sz="2800" b="1" dirty="0">
                <a:latin typeface="微软雅黑" panose="020B0503020204020204" pitchFamily="34" charset="-122"/>
                <a:ea typeface="微软雅黑" panose="020B0503020204020204" pitchFamily="34" charset="-122"/>
              </a:rPr>
              <a:t>命令</a:t>
            </a:r>
            <a:r>
              <a:rPr lang="zh-CN" altLang="en-US" sz="2800" b="1" dirty="0" smtClean="0">
                <a:latin typeface="微软雅黑" panose="020B0503020204020204" pitchFamily="34" charset="-122"/>
                <a:ea typeface="微软雅黑" panose="020B0503020204020204" pitchFamily="34" charset="-122"/>
              </a:rPr>
              <a:t>模式难度等级：</a:t>
            </a:r>
            <a:r>
              <a:rPr lang="zh-CN" altLang="zh-CN" sz="2800" b="1" kern="100" dirty="0">
                <a:solidFill>
                  <a:srgbClr val="FF3300"/>
                </a:solidFill>
                <a:latin typeface="微软雅黑" panose="020B0503020204020204" pitchFamily="34" charset="-122"/>
                <a:ea typeface="微软雅黑" panose="020B0503020204020204" pitchFamily="34" charset="-122"/>
                <a:cs typeface="Times New Roman" panose="02020603050405020304"/>
              </a:rPr>
              <a:t>★★★★☆</a:t>
            </a:r>
            <a:endParaRPr lang="zh-CN" altLang="zh-CN" sz="2800" b="1" kern="100" dirty="0">
              <a:solidFill>
                <a:srgbClr val="FF3300"/>
              </a:solidFill>
              <a:latin typeface="微软雅黑" panose="020B0503020204020204" pitchFamily="34" charset="-122"/>
              <a:ea typeface="微软雅黑" panose="020B0503020204020204" pitchFamily="34" charset="-122"/>
              <a:cs typeface="Times New Roman" panose="02020603050405020304"/>
            </a:endParaRPr>
          </a:p>
        </p:txBody>
      </p:sp>
    </p:spTree>
  </p:cSld>
  <p:clrMapOvr>
    <a:masterClrMapping/>
  </p:clrMapOvr>
  <p:transition spd="slow" advTm="0">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内容占位符 2"/>
          <p:cNvSpPr txBox="1"/>
          <p:nvPr/>
        </p:nvSpPr>
        <p:spPr>
          <a:xfrm>
            <a:off x="236079" y="1246691"/>
            <a:ext cx="11144128" cy="139101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模式动机</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b="1" dirty="0" smtClean="0">
                <a:solidFill>
                  <a:srgbClr val="EC7328"/>
                </a:solidFill>
                <a:latin typeface="微软雅黑" panose="020B0503020204020204" pitchFamily="34" charset="-122"/>
                <a:ea typeface="微软雅黑" panose="020B0503020204020204" pitchFamily="34" charset="-122"/>
              </a:rPr>
              <a:t>开关</a:t>
            </a:r>
            <a:r>
              <a:rPr lang="zh-CN" altLang="en-US" sz="2800" b="1" dirty="0">
                <a:solidFill>
                  <a:srgbClr val="EC7328"/>
                </a:solidFill>
                <a:latin typeface="微软雅黑" panose="020B0503020204020204" pitchFamily="34" charset="-122"/>
                <a:ea typeface="微软雅黑" panose="020B0503020204020204" pitchFamily="34" charset="-122"/>
              </a:rPr>
              <a:t>与电灯、排气扇示意图</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p:txBody>
      </p:sp>
      <p:pic>
        <p:nvPicPr>
          <p:cNvPr id="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90916" y="909514"/>
            <a:ext cx="5492835" cy="5378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427655" y="1174683"/>
            <a:ext cx="11144128" cy="52074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模式动机</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现实生活</a:t>
            </a:r>
            <a:endParaRPr lang="en-US" altLang="zh-CN" sz="2800" dirty="0" smtClean="0">
              <a:solidFill>
                <a:srgbClr val="EC7328"/>
              </a:solidFill>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zh-CN" altLang="en-US" sz="2800" dirty="0" smtClean="0">
                <a:solidFill>
                  <a:srgbClr val="EC7328"/>
                </a:solidFill>
                <a:latin typeface="微软雅黑" panose="020B0503020204020204" pitchFamily="34" charset="-122"/>
                <a:ea typeface="微软雅黑" panose="020B0503020204020204" pitchFamily="34" charset="-122"/>
              </a:rPr>
              <a:t>相同</a:t>
            </a:r>
            <a:r>
              <a:rPr lang="zh-CN" altLang="en-US" sz="2800" dirty="0">
                <a:solidFill>
                  <a:srgbClr val="EC7328"/>
                </a:solidFill>
                <a:latin typeface="微软雅黑" panose="020B0503020204020204" pitchFamily="34" charset="-122"/>
                <a:ea typeface="微软雅黑" panose="020B0503020204020204" pitchFamily="34" charset="-122"/>
              </a:rPr>
              <a:t>的开关</a:t>
            </a:r>
            <a:r>
              <a:rPr lang="zh-CN" altLang="en-US" sz="2800" dirty="0">
                <a:latin typeface="微软雅黑" panose="020B0503020204020204" pitchFamily="34" charset="-122"/>
                <a:ea typeface="微软雅黑" panose="020B0503020204020204" pitchFamily="34" charset="-122"/>
              </a:rPr>
              <a:t>可以通过</a:t>
            </a:r>
            <a:r>
              <a:rPr lang="zh-CN" altLang="en-US" sz="2800" dirty="0">
                <a:solidFill>
                  <a:srgbClr val="EC7328"/>
                </a:solidFill>
                <a:latin typeface="微软雅黑" panose="020B0503020204020204" pitchFamily="34" charset="-122"/>
                <a:ea typeface="微软雅黑" panose="020B0503020204020204" pitchFamily="34" charset="-122"/>
              </a:rPr>
              <a:t>不同的电线</a:t>
            </a:r>
            <a:r>
              <a:rPr lang="zh-CN" altLang="en-US" sz="2800" dirty="0">
                <a:latin typeface="微软雅黑" panose="020B0503020204020204" pitchFamily="34" charset="-122"/>
                <a:ea typeface="微软雅黑" panose="020B0503020204020204" pitchFamily="34" charset="-122"/>
              </a:rPr>
              <a:t>来控制</a:t>
            </a:r>
            <a:r>
              <a:rPr lang="zh-CN" altLang="en-US" sz="2800" dirty="0">
                <a:solidFill>
                  <a:srgbClr val="EC7328"/>
                </a:solidFill>
                <a:latin typeface="微软雅黑" panose="020B0503020204020204" pitchFamily="34" charset="-122"/>
                <a:ea typeface="微软雅黑" panose="020B0503020204020204" pitchFamily="34" charset="-122"/>
              </a:rPr>
              <a:t>不同的电器</a:t>
            </a:r>
            <a:endParaRPr lang="zh-CN" altLang="en-US" sz="2800" dirty="0">
              <a:solidFill>
                <a:srgbClr val="EC7328"/>
              </a:solidFill>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zh-CN" altLang="en-US" sz="2800" dirty="0">
                <a:solidFill>
                  <a:srgbClr val="47B3BF"/>
                </a:solidFill>
                <a:latin typeface="微软雅黑" panose="020B0503020204020204" pitchFamily="34" charset="-122"/>
                <a:ea typeface="微软雅黑" panose="020B0503020204020204" pitchFamily="34" charset="-122"/>
              </a:rPr>
              <a:t>开关 </a:t>
            </a:r>
            <a:r>
              <a:rPr lang="en-US" altLang="zh-CN" sz="2800" dirty="0">
                <a:solidFill>
                  <a:srgbClr val="47B3BF"/>
                </a:solidFill>
                <a:ea typeface="黑体" panose="02010609060101010101" pitchFamily="49" charset="-122"/>
                <a:sym typeface="Wingdings" panose="05000000000000000000" pitchFamily="2" charset="2"/>
              </a:rPr>
              <a:t> </a:t>
            </a:r>
            <a:r>
              <a:rPr lang="en-US" altLang="zh-CN" sz="2800" dirty="0" smtClean="0">
                <a:solidFill>
                  <a:srgbClr val="47B3BF"/>
                </a:solidFill>
                <a:ea typeface="黑体" panose="02010609060101010101" pitchFamily="49" charset="-122"/>
                <a:sym typeface="Wingdings" panose="05000000000000000000" pitchFamily="2" charset="2"/>
              </a:rPr>
              <a:t> </a:t>
            </a:r>
            <a:r>
              <a:rPr lang="zh-CN" altLang="en-US" sz="2800" dirty="0" smtClean="0">
                <a:solidFill>
                  <a:srgbClr val="47B3BF"/>
                </a:solidFill>
                <a:latin typeface="微软雅黑" panose="020B0503020204020204" pitchFamily="34" charset="-122"/>
                <a:ea typeface="微软雅黑" panose="020B0503020204020204" pitchFamily="34" charset="-122"/>
              </a:rPr>
              <a:t>请求</a:t>
            </a:r>
            <a:r>
              <a:rPr lang="zh-CN" altLang="en-US" sz="2800" dirty="0">
                <a:solidFill>
                  <a:srgbClr val="47B3BF"/>
                </a:solidFill>
                <a:latin typeface="微软雅黑" panose="020B0503020204020204" pitchFamily="34" charset="-122"/>
                <a:ea typeface="微软雅黑" panose="020B0503020204020204" pitchFamily="34" charset="-122"/>
              </a:rPr>
              <a:t>发送者</a:t>
            </a:r>
            <a:endParaRPr lang="zh-CN" altLang="en-US" sz="2800" dirty="0">
              <a:solidFill>
                <a:srgbClr val="47B3BF"/>
              </a:solidFill>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zh-CN" altLang="en-US" sz="2800" dirty="0">
                <a:solidFill>
                  <a:srgbClr val="47B3BF"/>
                </a:solidFill>
                <a:latin typeface="微软雅黑" panose="020B0503020204020204" pitchFamily="34" charset="-122"/>
                <a:ea typeface="微软雅黑" panose="020B0503020204020204" pitchFamily="34" charset="-122"/>
              </a:rPr>
              <a:t>电灯 </a:t>
            </a:r>
            <a:r>
              <a:rPr lang="en-US" altLang="zh-CN" sz="2800" dirty="0">
                <a:solidFill>
                  <a:srgbClr val="47B3BF"/>
                </a:solidFill>
                <a:ea typeface="黑体" panose="02010609060101010101" pitchFamily="49" charset="-122"/>
                <a:sym typeface="Wingdings" panose="05000000000000000000" pitchFamily="2" charset="2"/>
              </a:rPr>
              <a:t> </a:t>
            </a:r>
            <a:r>
              <a:rPr lang="en-US" altLang="zh-CN" sz="2800" dirty="0" smtClean="0">
                <a:solidFill>
                  <a:srgbClr val="47B3BF"/>
                </a:solidFill>
                <a:ea typeface="黑体" panose="02010609060101010101" pitchFamily="49" charset="-122"/>
                <a:sym typeface="Wingdings" panose="05000000000000000000" pitchFamily="2" charset="2"/>
              </a:rPr>
              <a:t> </a:t>
            </a:r>
            <a:r>
              <a:rPr lang="zh-CN" altLang="en-US" sz="2800" dirty="0" smtClean="0">
                <a:solidFill>
                  <a:srgbClr val="47B3BF"/>
                </a:solidFill>
                <a:latin typeface="微软雅黑" panose="020B0503020204020204" pitchFamily="34" charset="-122"/>
                <a:ea typeface="微软雅黑" panose="020B0503020204020204" pitchFamily="34" charset="-122"/>
              </a:rPr>
              <a:t>请求</a:t>
            </a:r>
            <a:r>
              <a:rPr lang="zh-CN" altLang="en-US" sz="2800" dirty="0">
                <a:solidFill>
                  <a:srgbClr val="47B3BF"/>
                </a:solidFill>
                <a:latin typeface="微软雅黑" panose="020B0503020204020204" pitchFamily="34" charset="-122"/>
                <a:ea typeface="微软雅黑" panose="020B0503020204020204" pitchFamily="34" charset="-122"/>
              </a:rPr>
              <a:t>的最终接收者和处理者</a:t>
            </a:r>
            <a:endParaRPr lang="zh-CN" altLang="en-US" sz="2800" dirty="0">
              <a:solidFill>
                <a:srgbClr val="47B3BF"/>
              </a:solidFill>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开关和电灯之间</a:t>
            </a:r>
            <a:r>
              <a:rPr lang="zh-CN" altLang="en-US" sz="2800" dirty="0">
                <a:solidFill>
                  <a:srgbClr val="EC7328"/>
                </a:solidFill>
                <a:latin typeface="微软雅黑" panose="020B0503020204020204" pitchFamily="34" charset="-122"/>
                <a:ea typeface="微软雅黑" panose="020B0503020204020204" pitchFamily="34" charset="-122"/>
              </a:rPr>
              <a:t>并不存在直接耦合关系</a:t>
            </a:r>
            <a:r>
              <a:rPr lang="zh-CN" altLang="en-US" sz="2800" dirty="0">
                <a:latin typeface="微软雅黑" panose="020B0503020204020204" pitchFamily="34" charset="-122"/>
                <a:ea typeface="微软雅黑" panose="020B0503020204020204" pitchFamily="34" charset="-122"/>
              </a:rPr>
              <a:t>，它们通过</a:t>
            </a:r>
            <a:r>
              <a:rPr lang="zh-CN" altLang="en-US" sz="2800" dirty="0">
                <a:solidFill>
                  <a:srgbClr val="EC7328"/>
                </a:solidFill>
                <a:latin typeface="微软雅黑" panose="020B0503020204020204" pitchFamily="34" charset="-122"/>
                <a:ea typeface="微软雅黑" panose="020B0503020204020204" pitchFamily="34" charset="-122"/>
              </a:rPr>
              <a:t>电线</a:t>
            </a:r>
            <a:r>
              <a:rPr lang="zh-CN" altLang="en-US" sz="2800" dirty="0">
                <a:latin typeface="微软雅黑" panose="020B0503020204020204" pitchFamily="34" charset="-122"/>
                <a:ea typeface="微软雅黑" panose="020B0503020204020204" pitchFamily="34" charset="-122"/>
              </a:rPr>
              <a:t>连接在一起，使用</a:t>
            </a:r>
            <a:r>
              <a:rPr lang="zh-CN" altLang="en-US" sz="2800" dirty="0">
                <a:solidFill>
                  <a:srgbClr val="EC7328"/>
                </a:solidFill>
                <a:latin typeface="微软雅黑" panose="020B0503020204020204" pitchFamily="34" charset="-122"/>
                <a:ea typeface="微软雅黑" panose="020B0503020204020204" pitchFamily="34" charset="-122"/>
              </a:rPr>
              <a:t>不同的电线可以连接不同的请求接收者</a:t>
            </a:r>
            <a:endParaRPr lang="en-US" altLang="zh-CN" sz="2800" dirty="0" smtClean="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427655" y="1102675"/>
            <a:ext cx="11144128" cy="52074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模式动机</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软件开发</a:t>
            </a:r>
            <a:endParaRPr lang="en-US" altLang="zh-CN" sz="2800" dirty="0" smtClean="0">
              <a:solidFill>
                <a:srgbClr val="EC7328"/>
              </a:solidFill>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zh-CN" altLang="en-US" sz="2800" dirty="0">
                <a:solidFill>
                  <a:srgbClr val="47B3BF"/>
                </a:solidFill>
                <a:latin typeface="微软雅黑" panose="020B0503020204020204" pitchFamily="34" charset="-122"/>
                <a:ea typeface="微软雅黑" panose="020B0503020204020204" pitchFamily="34" charset="-122"/>
              </a:rPr>
              <a:t>按钮 </a:t>
            </a:r>
            <a:r>
              <a:rPr lang="en-US" altLang="zh-CN" sz="2800" dirty="0">
                <a:solidFill>
                  <a:srgbClr val="47B3BF"/>
                </a:solidFill>
                <a:latin typeface="微软雅黑" panose="020B0503020204020204" pitchFamily="34" charset="-122"/>
                <a:ea typeface="微软雅黑" panose="020B0503020204020204" pitchFamily="34" charset="-122"/>
                <a:sym typeface="Wingdings" panose="05000000000000000000" pitchFamily="2" charset="2"/>
              </a:rPr>
              <a:t>  </a:t>
            </a:r>
            <a:r>
              <a:rPr lang="zh-CN" altLang="en-US" sz="2800" dirty="0">
                <a:solidFill>
                  <a:srgbClr val="47B3BF"/>
                </a:solidFill>
                <a:latin typeface="微软雅黑" panose="020B0503020204020204" pitchFamily="34" charset="-122"/>
                <a:ea typeface="微软雅黑" panose="020B0503020204020204" pitchFamily="34" charset="-122"/>
              </a:rPr>
              <a:t>请求发送者</a:t>
            </a:r>
            <a:endParaRPr lang="zh-CN" altLang="en-US" sz="2800" dirty="0">
              <a:solidFill>
                <a:srgbClr val="47B3BF"/>
              </a:solidFill>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zh-CN" altLang="en-US" sz="2800" dirty="0">
                <a:solidFill>
                  <a:srgbClr val="47B3BF"/>
                </a:solidFill>
                <a:latin typeface="微软雅黑" panose="020B0503020204020204" pitchFamily="34" charset="-122"/>
                <a:ea typeface="微软雅黑" panose="020B0503020204020204" pitchFamily="34" charset="-122"/>
              </a:rPr>
              <a:t>事件处理类 </a:t>
            </a:r>
            <a:r>
              <a:rPr lang="en-US" altLang="zh-CN" sz="2800" dirty="0">
                <a:solidFill>
                  <a:srgbClr val="47B3BF"/>
                </a:solidFill>
                <a:latin typeface="微软雅黑" panose="020B0503020204020204" pitchFamily="34" charset="-122"/>
                <a:ea typeface="微软雅黑" panose="020B0503020204020204" pitchFamily="34" charset="-122"/>
                <a:sym typeface="Wingdings" panose="05000000000000000000" pitchFamily="2" charset="2"/>
              </a:rPr>
              <a:t>  </a:t>
            </a:r>
            <a:r>
              <a:rPr lang="zh-CN" altLang="en-US" sz="2800" dirty="0">
                <a:solidFill>
                  <a:srgbClr val="47B3BF"/>
                </a:solidFill>
                <a:latin typeface="微软雅黑" panose="020B0503020204020204" pitchFamily="34" charset="-122"/>
                <a:ea typeface="微软雅黑" panose="020B0503020204020204" pitchFamily="34" charset="-122"/>
              </a:rPr>
              <a:t>请求的最终接收者和处理者</a:t>
            </a:r>
            <a:endParaRPr lang="zh-CN" altLang="en-US" sz="2800" dirty="0">
              <a:solidFill>
                <a:srgbClr val="47B3BF"/>
              </a:solidFill>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发送者与接收者之间引入了新的</a:t>
            </a:r>
            <a:r>
              <a:rPr lang="zh-CN" altLang="en-US" sz="2800" dirty="0">
                <a:solidFill>
                  <a:srgbClr val="EC7328"/>
                </a:solidFill>
                <a:latin typeface="微软雅黑" panose="020B0503020204020204" pitchFamily="34" charset="-122"/>
                <a:ea typeface="微软雅黑" panose="020B0503020204020204" pitchFamily="34" charset="-122"/>
              </a:rPr>
              <a:t>命令对象</a:t>
            </a:r>
            <a:r>
              <a:rPr lang="zh-CN" altLang="en-US" sz="2800" dirty="0">
                <a:latin typeface="微软雅黑" panose="020B0503020204020204" pitchFamily="34" charset="-122"/>
                <a:ea typeface="微软雅黑" panose="020B0503020204020204" pitchFamily="34" charset="-122"/>
              </a:rPr>
              <a:t>（类似电线），</a:t>
            </a:r>
            <a:r>
              <a:rPr lang="zh-CN" altLang="en-US" sz="2800" dirty="0">
                <a:solidFill>
                  <a:srgbClr val="EC7328"/>
                </a:solidFill>
                <a:latin typeface="微软雅黑" panose="020B0503020204020204" pitchFamily="34" charset="-122"/>
                <a:ea typeface="微软雅黑" panose="020B0503020204020204" pitchFamily="34" charset="-122"/>
              </a:rPr>
              <a:t>将发送者的请求封装在命令对象中，再通过命令对象来调用接收者的方法</a:t>
            </a:r>
            <a:endParaRPr lang="zh-CN" altLang="en-US" sz="2800" dirty="0">
              <a:solidFill>
                <a:srgbClr val="EC7328"/>
              </a:solidFill>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zh-CN" altLang="en-US" sz="2800" dirty="0">
                <a:solidFill>
                  <a:srgbClr val="EC7328"/>
                </a:solidFill>
                <a:latin typeface="微软雅黑" panose="020B0503020204020204" pitchFamily="34" charset="-122"/>
                <a:ea typeface="微软雅黑" panose="020B0503020204020204" pitchFamily="34" charset="-122"/>
              </a:rPr>
              <a:t>相同的按钮</a:t>
            </a:r>
            <a:r>
              <a:rPr lang="zh-CN" altLang="en-US" sz="2800" dirty="0">
                <a:latin typeface="微软雅黑" panose="020B0503020204020204" pitchFamily="34" charset="-122"/>
                <a:ea typeface="微软雅黑" panose="020B0503020204020204" pitchFamily="34" charset="-122"/>
              </a:rPr>
              <a:t>可以对应</a:t>
            </a:r>
            <a:r>
              <a:rPr lang="zh-CN" altLang="en-US" sz="2800" dirty="0">
                <a:solidFill>
                  <a:srgbClr val="EC7328"/>
                </a:solidFill>
                <a:latin typeface="微软雅黑" panose="020B0503020204020204" pitchFamily="34" charset="-122"/>
                <a:ea typeface="微软雅黑" panose="020B0503020204020204" pitchFamily="34" charset="-122"/>
              </a:rPr>
              <a:t>不同的事件处理类</a:t>
            </a:r>
            <a:endParaRPr lang="zh-CN" altLang="en-US" sz="2800" dirty="0">
              <a:solidFill>
                <a:srgbClr val="EC7328"/>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427655" y="1102675"/>
            <a:ext cx="11144128" cy="52074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模式动机</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软件开发</a:t>
            </a:r>
            <a:endParaRPr lang="en-US" altLang="zh-CN" sz="2800" dirty="0" smtClean="0">
              <a:solidFill>
                <a:srgbClr val="EC7328"/>
              </a:solidFill>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zh-CN" altLang="en-US" sz="2800" dirty="0" smtClean="0">
                <a:latin typeface="微软雅黑" panose="020B0503020204020204" pitchFamily="34" charset="-122"/>
                <a:ea typeface="微软雅黑" panose="020B0503020204020204" pitchFamily="34" charset="-122"/>
              </a:rPr>
              <a:t>将</a:t>
            </a:r>
            <a:r>
              <a:rPr lang="zh-CN" altLang="en-US" sz="2800" dirty="0">
                <a:latin typeface="微软雅黑" panose="020B0503020204020204" pitchFamily="34" charset="-122"/>
                <a:ea typeface="微软雅黑" panose="020B0503020204020204" pitchFamily="34" charset="-122"/>
              </a:rPr>
              <a:t>请求发送者和接收者</a:t>
            </a:r>
            <a:r>
              <a:rPr lang="zh-CN" altLang="en-US" sz="2800" dirty="0">
                <a:solidFill>
                  <a:srgbClr val="FF0000"/>
                </a:solidFill>
                <a:latin typeface="微软雅黑" panose="020B0503020204020204" pitchFamily="34" charset="-122"/>
                <a:ea typeface="微软雅黑" panose="020B0503020204020204" pitchFamily="34" charset="-122"/>
              </a:rPr>
              <a:t>完全解耦</a:t>
            </a:r>
            <a:endParaRPr lang="zh-CN" altLang="en-US" sz="2800" dirty="0">
              <a:solidFill>
                <a:srgbClr val="FF0000"/>
              </a:solidFill>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发送者与接收者之间</a:t>
            </a:r>
            <a:r>
              <a:rPr lang="zh-CN" altLang="en-US" sz="2800" dirty="0">
                <a:solidFill>
                  <a:srgbClr val="FF0000"/>
                </a:solidFill>
                <a:latin typeface="微软雅黑" panose="020B0503020204020204" pitchFamily="34" charset="-122"/>
                <a:ea typeface="微软雅黑" panose="020B0503020204020204" pitchFamily="34" charset="-122"/>
              </a:rPr>
              <a:t>没有直接引用关系</a:t>
            </a:r>
            <a:endParaRPr lang="zh-CN" altLang="en-US" sz="2800" dirty="0">
              <a:solidFill>
                <a:srgbClr val="FF0000"/>
              </a:solidFill>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发送请求的对象</a:t>
            </a:r>
            <a:r>
              <a:rPr lang="zh-CN" altLang="en-US" sz="2800" dirty="0">
                <a:solidFill>
                  <a:srgbClr val="FF0000"/>
                </a:solidFill>
                <a:latin typeface="微软雅黑" panose="020B0503020204020204" pitchFamily="34" charset="-122"/>
                <a:ea typeface="微软雅黑" panose="020B0503020204020204" pitchFamily="34" charset="-122"/>
              </a:rPr>
              <a:t>只需要知道如何发送请求，而不必知道如何完成</a:t>
            </a:r>
            <a:r>
              <a:rPr lang="zh-CN" altLang="en-US" sz="2800" dirty="0" smtClean="0">
                <a:solidFill>
                  <a:srgbClr val="FF0000"/>
                </a:solidFill>
                <a:latin typeface="微软雅黑" panose="020B0503020204020204" pitchFamily="34" charset="-122"/>
                <a:ea typeface="微软雅黑" panose="020B0503020204020204" pitchFamily="34" charset="-122"/>
              </a:rPr>
              <a:t>请求</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
        <p:nvSpPr>
          <p:cNvPr id="4" name="TextBox 3"/>
          <p:cNvSpPr txBox="1"/>
          <p:nvPr/>
        </p:nvSpPr>
        <p:spPr>
          <a:xfrm>
            <a:off x="3578895" y="4800420"/>
            <a:ext cx="4572000" cy="1200329"/>
          </a:xfrm>
          <a:prstGeom prst="rect">
            <a:avLst/>
          </a:prstGeom>
          <a:blipFill>
            <a:blip r:embed="rId1"/>
            <a:tile tx="0" ty="0" sx="100000" sy="100000" flip="none" algn="tl"/>
          </a:blipFill>
          <a:effectLst>
            <a:glow rad="139700">
              <a:schemeClr val="accent4">
                <a:satMod val="175000"/>
                <a:alpha val="40000"/>
              </a:schemeClr>
            </a:glow>
          </a:effectLst>
          <a:scene3d>
            <a:camera prst="orthographicFront"/>
            <a:lightRig rig="threePt" dir="t"/>
          </a:scene3d>
          <a:sp3d>
            <a:bevelT prst="angle"/>
          </a:sp3d>
        </p:spPr>
        <p:txBody>
          <a:bodyPr>
            <a:spAutoFit/>
          </a:bodyPr>
          <a:lstStyle/>
          <a:p>
            <a:pPr algn="ctr">
              <a:defRPr/>
            </a:pPr>
            <a:r>
              <a:rPr lang="zh-CN" altLang="en-US" sz="7200" b="1" dirty="0">
                <a:solidFill>
                  <a:srgbClr val="FFFF00"/>
                </a:solidFill>
                <a:effectLst>
                  <a:glow rad="139700">
                    <a:schemeClr val="accent4">
                      <a:satMod val="175000"/>
                      <a:alpha val="40000"/>
                    </a:schemeClr>
                  </a:glow>
                </a:effectLst>
                <a:latin typeface="Arial" panose="020B0604020202020204" pitchFamily="34" charset="0"/>
              </a:rPr>
              <a:t>命令模式</a:t>
            </a:r>
            <a:endParaRPr lang="zh-CN" altLang="en-US" sz="7200" b="1" dirty="0">
              <a:solidFill>
                <a:srgbClr val="FFFF00"/>
              </a:solidFill>
              <a:effectLst>
                <a:glow rad="139700">
                  <a:schemeClr val="accent4">
                    <a:satMod val="175000"/>
                    <a:alpha val="40000"/>
                  </a:schemeClr>
                </a:glow>
              </a:effectLst>
              <a:latin typeface="Arial" panose="020B0604020202020204" pitchFamily="34" charset="0"/>
            </a:endParaRPr>
          </a:p>
        </p:txBody>
      </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内容占位符 2"/>
          <p:cNvSpPr txBox="1"/>
          <p:nvPr/>
        </p:nvSpPr>
        <p:spPr>
          <a:xfrm>
            <a:off x="499663" y="981522"/>
            <a:ext cx="11144128" cy="568863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模式定义</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命令模式</a:t>
            </a:r>
            <a:r>
              <a:rPr lang="en-US" altLang="zh-CN" sz="2800" dirty="0">
                <a:latin typeface="微软雅黑" panose="020B0503020204020204" pitchFamily="34" charset="-122"/>
                <a:ea typeface="微软雅黑" panose="020B0503020204020204" pitchFamily="34" charset="-122"/>
              </a:rPr>
              <a:t>(Command Pattern)</a:t>
            </a:r>
            <a:r>
              <a:rPr lang="zh-CN" altLang="en-US" sz="2800" dirty="0">
                <a:latin typeface="微软雅黑" panose="020B0503020204020204" pitchFamily="34" charset="-122"/>
                <a:ea typeface="微软雅黑" panose="020B0503020204020204" pitchFamily="34" charset="-122"/>
              </a:rPr>
              <a:t>：</a:t>
            </a:r>
            <a:r>
              <a:rPr lang="zh-CN" altLang="en-US" sz="2800" dirty="0">
                <a:solidFill>
                  <a:srgbClr val="EC7328"/>
                </a:solidFill>
                <a:latin typeface="微软雅黑" panose="020B0503020204020204" pitchFamily="34" charset="-122"/>
                <a:ea typeface="微软雅黑" panose="020B0503020204020204" pitchFamily="34" charset="-122"/>
              </a:rPr>
              <a:t>将一个请求封装为一个对象</a:t>
            </a:r>
            <a:r>
              <a:rPr lang="zh-CN" altLang="en-US" sz="2800" dirty="0">
                <a:latin typeface="微软雅黑" panose="020B0503020204020204" pitchFamily="34" charset="-122"/>
                <a:ea typeface="微软雅黑" panose="020B0503020204020204" pitchFamily="34" charset="-122"/>
              </a:rPr>
              <a:t>，从而使我们可用不同的请求</a:t>
            </a:r>
            <a:r>
              <a:rPr lang="zh-CN" altLang="en-US" sz="2800" dirty="0">
                <a:solidFill>
                  <a:srgbClr val="EC7328"/>
                </a:solidFill>
                <a:latin typeface="微软雅黑" panose="020B0503020204020204" pitchFamily="34" charset="-122"/>
                <a:ea typeface="微软雅黑" panose="020B0503020204020204" pitchFamily="34" charset="-122"/>
              </a:rPr>
              <a:t>对客户进行参数化</a:t>
            </a:r>
            <a:r>
              <a:rPr lang="zh-CN" altLang="en-US" sz="2800" dirty="0">
                <a:latin typeface="微软雅黑" panose="020B0503020204020204" pitchFamily="34" charset="-122"/>
                <a:ea typeface="微软雅黑" panose="020B0503020204020204" pitchFamily="34" charset="-122"/>
              </a:rPr>
              <a:t>；</a:t>
            </a:r>
            <a:r>
              <a:rPr lang="zh-CN" altLang="en-US" sz="2800" dirty="0">
                <a:solidFill>
                  <a:srgbClr val="EC7328"/>
                </a:solidFill>
                <a:latin typeface="微软雅黑" panose="020B0503020204020204" pitchFamily="34" charset="-122"/>
                <a:ea typeface="微软雅黑" panose="020B0503020204020204" pitchFamily="34" charset="-122"/>
              </a:rPr>
              <a:t>对请求排队</a:t>
            </a:r>
            <a:r>
              <a:rPr lang="zh-CN" altLang="en-US" sz="2800" dirty="0">
                <a:latin typeface="微软雅黑" panose="020B0503020204020204" pitchFamily="34" charset="-122"/>
                <a:ea typeface="微软雅黑" panose="020B0503020204020204" pitchFamily="34" charset="-122"/>
              </a:rPr>
              <a:t>或者</a:t>
            </a:r>
            <a:r>
              <a:rPr lang="zh-CN" altLang="en-US" sz="2800" dirty="0">
                <a:solidFill>
                  <a:srgbClr val="EC7328"/>
                </a:solidFill>
                <a:latin typeface="微软雅黑" panose="020B0503020204020204" pitchFamily="34" charset="-122"/>
                <a:ea typeface="微软雅黑" panose="020B0503020204020204" pitchFamily="34" charset="-122"/>
              </a:rPr>
              <a:t>记录请求日志</a:t>
            </a:r>
            <a:r>
              <a:rPr lang="zh-CN" altLang="en-US" sz="2800" dirty="0">
                <a:latin typeface="微软雅黑" panose="020B0503020204020204" pitchFamily="34" charset="-122"/>
                <a:ea typeface="微软雅黑" panose="020B0503020204020204" pitchFamily="34" charset="-122"/>
              </a:rPr>
              <a:t>，以及</a:t>
            </a:r>
            <a:r>
              <a:rPr lang="zh-CN" altLang="en-US" sz="2800" dirty="0">
                <a:solidFill>
                  <a:srgbClr val="EC7328"/>
                </a:solidFill>
                <a:latin typeface="微软雅黑" panose="020B0503020204020204" pitchFamily="34" charset="-122"/>
                <a:ea typeface="微软雅黑" panose="020B0503020204020204" pitchFamily="34" charset="-122"/>
              </a:rPr>
              <a:t>支持可撤销的操作</a:t>
            </a:r>
            <a:r>
              <a:rPr lang="zh-CN" altLang="en-US" sz="2800" dirty="0" smtClean="0">
                <a:latin typeface="微软雅黑" panose="020B0503020204020204" pitchFamily="34" charset="-122"/>
                <a:ea typeface="微软雅黑" panose="020B0503020204020204" pitchFamily="34" charset="-122"/>
              </a:rPr>
              <a:t>。</a:t>
            </a:r>
            <a:endParaRPr lang="en-US" altLang="zh-CN"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命令</a:t>
            </a:r>
            <a:r>
              <a:rPr lang="zh-CN" altLang="en-US" sz="2800" dirty="0">
                <a:latin typeface="微软雅黑" panose="020B0503020204020204" pitchFamily="34" charset="-122"/>
                <a:ea typeface="微软雅黑" panose="020B0503020204020204" pitchFamily="34" charset="-122"/>
              </a:rPr>
              <a:t>模式是一种</a:t>
            </a:r>
            <a:r>
              <a:rPr lang="zh-CN" altLang="en-US" sz="2800" dirty="0">
                <a:solidFill>
                  <a:srgbClr val="EC7328"/>
                </a:solidFill>
                <a:latin typeface="微软雅黑" panose="020B0503020204020204" pitchFamily="34" charset="-122"/>
                <a:ea typeface="微软雅黑" panose="020B0503020204020204" pitchFamily="34" charset="-122"/>
              </a:rPr>
              <a:t>对象行为型模式</a:t>
            </a:r>
            <a:r>
              <a:rPr lang="zh-CN" altLang="en-US" sz="2800" dirty="0">
                <a:latin typeface="微软雅黑" panose="020B0503020204020204" pitchFamily="34" charset="-122"/>
                <a:ea typeface="微软雅黑" panose="020B0503020204020204" pitchFamily="34" charset="-122"/>
              </a:rPr>
              <a:t>，其别名为动作</a:t>
            </a:r>
            <a:r>
              <a:rPr lang="en-US" altLang="zh-CN" sz="2800" dirty="0">
                <a:latin typeface="微软雅黑" panose="020B0503020204020204" pitchFamily="34" charset="-122"/>
                <a:ea typeface="微软雅黑" panose="020B0503020204020204" pitchFamily="34" charset="-122"/>
              </a:rPr>
              <a:t>(Action)</a:t>
            </a:r>
            <a:r>
              <a:rPr lang="zh-CN" altLang="en-US" sz="2800" dirty="0">
                <a:latin typeface="微软雅黑" panose="020B0503020204020204" pitchFamily="34" charset="-122"/>
                <a:ea typeface="微软雅黑" panose="020B0503020204020204" pitchFamily="34" charset="-122"/>
              </a:rPr>
              <a:t>模式或事务</a:t>
            </a:r>
            <a:r>
              <a:rPr lang="en-US" altLang="zh-CN" sz="2800" dirty="0">
                <a:latin typeface="微软雅黑" panose="020B0503020204020204" pitchFamily="34" charset="-122"/>
                <a:ea typeface="微软雅黑" panose="020B0503020204020204" pitchFamily="34" charset="-122"/>
              </a:rPr>
              <a:t>(Transaction)</a:t>
            </a:r>
            <a:r>
              <a:rPr lang="zh-CN" altLang="en-US" sz="2800" dirty="0" smtClean="0">
                <a:latin typeface="微软雅黑" panose="020B0503020204020204" pitchFamily="34" charset="-122"/>
                <a:ea typeface="微软雅黑" panose="020B0503020204020204" pitchFamily="34" charset="-122"/>
              </a:rPr>
              <a:t>模式</a:t>
            </a:r>
            <a:endParaRPr lang="en-US" altLang="zh-CN" sz="2800" dirty="0" smtClean="0">
              <a:latin typeface="微软雅黑" panose="020B0503020204020204" pitchFamily="34" charset="-122"/>
              <a:ea typeface="微软雅黑" panose="020B0503020204020204" pitchFamily="34" charset="-122"/>
            </a:endParaRPr>
          </a:p>
          <a:p>
            <a:pPr marL="1257300" lvl="2" indent="-342900" algn="l">
              <a:lnSpc>
                <a:spcPct val="120000"/>
              </a:lnSpc>
              <a:spcBef>
                <a:spcPts val="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“用不同的请求对客户进行参数化”</a:t>
            </a:r>
            <a:endParaRPr lang="en-US" altLang="zh-CN" sz="2400" dirty="0">
              <a:latin typeface="微软雅黑" panose="020B0503020204020204" pitchFamily="34" charset="-122"/>
              <a:ea typeface="微软雅黑" panose="020B0503020204020204" pitchFamily="34" charset="-122"/>
            </a:endParaRPr>
          </a:p>
          <a:p>
            <a:pPr marL="1257300" lvl="2" indent="-342900" algn="l">
              <a:lnSpc>
                <a:spcPct val="120000"/>
              </a:lnSpc>
              <a:spcBef>
                <a:spcPts val="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“对请求排队”</a:t>
            </a:r>
            <a:endParaRPr lang="en-US" altLang="zh-CN" sz="2400" dirty="0">
              <a:latin typeface="微软雅黑" panose="020B0503020204020204" pitchFamily="34" charset="-122"/>
              <a:ea typeface="微软雅黑" panose="020B0503020204020204" pitchFamily="34" charset="-122"/>
            </a:endParaRPr>
          </a:p>
          <a:p>
            <a:pPr marL="1257300" lvl="2" indent="-342900" algn="l">
              <a:lnSpc>
                <a:spcPct val="120000"/>
              </a:lnSpc>
              <a:spcBef>
                <a:spcPts val="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“记录请求日志”</a:t>
            </a:r>
            <a:endParaRPr lang="en-US" altLang="zh-CN" sz="2400" dirty="0">
              <a:latin typeface="微软雅黑" panose="020B0503020204020204" pitchFamily="34" charset="-122"/>
              <a:ea typeface="微软雅黑" panose="020B0503020204020204" pitchFamily="34" charset="-122"/>
            </a:endParaRPr>
          </a:p>
          <a:p>
            <a:pPr marL="1257300" lvl="2" indent="-342900" algn="l">
              <a:lnSpc>
                <a:spcPct val="120000"/>
              </a:lnSpc>
              <a:spcBef>
                <a:spcPts val="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“支持可撤销操作”</a:t>
            </a:r>
            <a:endParaRPr lang="en-US" altLang="zh-CN" sz="24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7654" y="1174683"/>
            <a:ext cx="11144127" cy="5287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内容占位符 2"/>
          <p:cNvSpPr txBox="1"/>
          <p:nvPr/>
        </p:nvSpPr>
        <p:spPr>
          <a:xfrm>
            <a:off x="427655" y="1174683"/>
            <a:ext cx="4519392" cy="67093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模式结构</a:t>
            </a:r>
            <a:endParaRPr lang="zh-CN" altLang="en-US" sz="2800" b="1" dirty="0">
              <a:latin typeface="微软雅黑" panose="020B0503020204020204" pitchFamily="34" charset="-122"/>
              <a:ea typeface="微软雅黑" panose="020B0503020204020204" pitchFamily="34" charset="-122"/>
            </a:endParaRPr>
          </a:p>
        </p:txBody>
      </p:sp>
      <p:sp>
        <p:nvSpPr>
          <p:cNvPr id="17" name="TextBox 16"/>
          <p:cNvSpPr txBox="1"/>
          <p:nvPr/>
        </p:nvSpPr>
        <p:spPr>
          <a:xfrm>
            <a:off x="4789305" y="651463"/>
            <a:ext cx="1525894" cy="52322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sz="2800" dirty="0" smtClean="0">
                <a:latin typeface="微软雅黑" panose="020B0503020204020204" pitchFamily="34" charset="-122"/>
                <a:ea typeface="微软雅黑" panose="020B0503020204020204" pitchFamily="34" charset="-122"/>
              </a:rPr>
              <a:t>调用者</a:t>
            </a:r>
            <a:endParaRPr lang="zh-CN" altLang="en-US" sz="2800" dirty="0">
              <a:latin typeface="微软雅黑" panose="020B0503020204020204" pitchFamily="34" charset="-122"/>
              <a:ea typeface="微软雅黑" panose="020B0503020204020204" pitchFamily="34" charset="-122"/>
            </a:endParaRPr>
          </a:p>
        </p:txBody>
      </p:sp>
      <p:sp>
        <p:nvSpPr>
          <p:cNvPr id="11" name="TextBox 10"/>
          <p:cNvSpPr txBox="1"/>
          <p:nvPr/>
        </p:nvSpPr>
        <p:spPr>
          <a:xfrm>
            <a:off x="9895150" y="5085978"/>
            <a:ext cx="1962568" cy="52322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sz="2800" dirty="0" smtClean="0">
                <a:latin typeface="微软雅黑" panose="020B0503020204020204" pitchFamily="34" charset="-122"/>
                <a:ea typeface="微软雅黑" panose="020B0503020204020204" pitchFamily="34" charset="-122"/>
              </a:rPr>
              <a:t>具体命令类</a:t>
            </a:r>
            <a:endParaRPr lang="zh-CN" altLang="en-US" sz="2800" dirty="0">
              <a:latin typeface="微软雅黑" panose="020B0503020204020204" pitchFamily="34" charset="-122"/>
              <a:ea typeface="微软雅黑" panose="020B0503020204020204" pitchFamily="34" charset="-122"/>
            </a:endParaRPr>
          </a:p>
        </p:txBody>
      </p:sp>
      <p:sp>
        <p:nvSpPr>
          <p:cNvPr id="12" name="TextBox 11"/>
          <p:cNvSpPr txBox="1"/>
          <p:nvPr/>
        </p:nvSpPr>
        <p:spPr>
          <a:xfrm>
            <a:off x="9843591" y="651463"/>
            <a:ext cx="2014127" cy="52322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sz="2800" dirty="0" smtClean="0">
                <a:latin typeface="微软雅黑" panose="020B0503020204020204" pitchFamily="34" charset="-122"/>
                <a:ea typeface="微软雅黑" panose="020B0503020204020204" pitchFamily="34" charset="-122"/>
              </a:rPr>
              <a:t>抽象命令类</a:t>
            </a:r>
            <a:endParaRPr lang="zh-CN" altLang="en-US" sz="2800" dirty="0">
              <a:latin typeface="微软雅黑" panose="020B0503020204020204" pitchFamily="34" charset="-122"/>
              <a:ea typeface="微软雅黑" panose="020B0503020204020204" pitchFamily="34" charset="-122"/>
            </a:endParaRPr>
          </a:p>
        </p:txBody>
      </p:sp>
      <p:sp>
        <p:nvSpPr>
          <p:cNvPr id="13" name="TextBox 12"/>
          <p:cNvSpPr txBox="1"/>
          <p:nvPr/>
        </p:nvSpPr>
        <p:spPr>
          <a:xfrm>
            <a:off x="4552524" y="3141762"/>
            <a:ext cx="1525894" cy="52322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sz="2800" dirty="0" smtClean="0">
                <a:latin typeface="微软雅黑" panose="020B0503020204020204" pitchFamily="34" charset="-122"/>
                <a:ea typeface="微软雅黑" panose="020B0503020204020204" pitchFamily="34" charset="-122"/>
              </a:rPr>
              <a:t>接收者</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内容占位符 2"/>
          <p:cNvSpPr txBox="1"/>
          <p:nvPr/>
        </p:nvSpPr>
        <p:spPr>
          <a:xfrm>
            <a:off x="233136" y="909514"/>
            <a:ext cx="11770695" cy="52074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spcBef>
                <a:spcPts val="0"/>
              </a:spcBef>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模式分析</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spcBef>
                <a:spcPts val="0"/>
              </a:spcBef>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命令模式的本质是</a:t>
            </a:r>
            <a:r>
              <a:rPr lang="zh-CN" altLang="en-US" sz="2800" dirty="0">
                <a:solidFill>
                  <a:srgbClr val="EC7328"/>
                </a:solidFill>
                <a:latin typeface="微软雅黑" panose="020B0503020204020204" pitchFamily="34" charset="-122"/>
                <a:ea typeface="微软雅黑" panose="020B0503020204020204" pitchFamily="34" charset="-122"/>
              </a:rPr>
              <a:t>对请求进行封装</a:t>
            </a:r>
            <a:endParaRPr lang="en-US" altLang="zh-CN"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spcBef>
                <a:spcPts val="0"/>
              </a:spcBef>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将</a:t>
            </a:r>
            <a:r>
              <a:rPr lang="zh-CN" altLang="en-US" sz="2800" dirty="0">
                <a:latin typeface="微软雅黑" panose="020B0503020204020204" pitchFamily="34" charset="-122"/>
                <a:ea typeface="微软雅黑" panose="020B0503020204020204" pitchFamily="34" charset="-122"/>
              </a:rPr>
              <a:t>请求发送者和接收者</a:t>
            </a:r>
            <a:r>
              <a:rPr lang="zh-CN" altLang="en-US" sz="2800" dirty="0">
                <a:solidFill>
                  <a:srgbClr val="EC7328"/>
                </a:solidFill>
                <a:latin typeface="微软雅黑" panose="020B0503020204020204" pitchFamily="34" charset="-122"/>
                <a:ea typeface="微软雅黑" panose="020B0503020204020204" pitchFamily="34" charset="-122"/>
              </a:rPr>
              <a:t>完全解耦</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spcBef>
                <a:spcPts val="0"/>
              </a:spcBef>
              <a:buClr>
                <a:srgbClr val="EC7328"/>
              </a:buClr>
              <a:buFont typeface="Wingdings" panose="05000000000000000000" pitchFamily="2" charset="2"/>
              <a:buChar char="ü"/>
            </a:pPr>
            <a:r>
              <a:rPr lang="zh-CN" altLang="en-US" sz="2800" dirty="0" smtClean="0">
                <a:solidFill>
                  <a:srgbClr val="EC7328"/>
                </a:solidFill>
                <a:latin typeface="微软雅黑" panose="020B0503020204020204" pitchFamily="34" charset="-122"/>
                <a:ea typeface="微软雅黑" panose="020B0503020204020204" pitchFamily="34" charset="-122"/>
              </a:rPr>
              <a:t>使得</a:t>
            </a:r>
            <a:r>
              <a:rPr lang="zh-CN" altLang="en-US" sz="2800" dirty="0">
                <a:solidFill>
                  <a:srgbClr val="EC7328"/>
                </a:solidFill>
                <a:latin typeface="微软雅黑" panose="020B0503020204020204" pitchFamily="34" charset="-122"/>
                <a:ea typeface="微软雅黑" panose="020B0503020204020204" pitchFamily="34" charset="-122"/>
              </a:rPr>
              <a:t>请求的一方不必知道接收请求的一方的接口，</a:t>
            </a:r>
            <a:r>
              <a:rPr lang="zh-CN" altLang="en-US" sz="2800" dirty="0">
                <a:latin typeface="微软雅黑" panose="020B0503020204020204" pitchFamily="34" charset="-122"/>
                <a:ea typeface="微软雅黑" panose="020B0503020204020204" pitchFamily="34" charset="-122"/>
              </a:rPr>
              <a:t>更不必知道请求如何被接收、操作是否被执行、何时被执行，以及是</a:t>
            </a:r>
            <a:r>
              <a:rPr lang="zh-CN" altLang="en-US" sz="2800" dirty="0">
                <a:solidFill>
                  <a:srgbClr val="EC7328"/>
                </a:solidFill>
                <a:latin typeface="微软雅黑" panose="020B0503020204020204" pitchFamily="34" charset="-122"/>
                <a:ea typeface="微软雅黑" panose="020B0503020204020204" pitchFamily="34" charset="-122"/>
              </a:rPr>
              <a:t>怎么被执行的</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spcBef>
                <a:spcPts val="0"/>
              </a:spcBef>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发送请求的对象</a:t>
            </a:r>
            <a:r>
              <a:rPr lang="zh-CN" altLang="en-US" sz="2800" dirty="0">
                <a:solidFill>
                  <a:srgbClr val="EC7328"/>
                </a:solidFill>
                <a:latin typeface="微软雅黑" panose="020B0503020204020204" pitchFamily="34" charset="-122"/>
                <a:ea typeface="微软雅黑" panose="020B0503020204020204" pitchFamily="34" charset="-122"/>
              </a:rPr>
              <a:t>只需要知道如何发送请求，而不必知道如何完成</a:t>
            </a:r>
            <a:r>
              <a:rPr lang="zh-CN" altLang="en-US" sz="2800" dirty="0" smtClean="0">
                <a:solidFill>
                  <a:srgbClr val="EC7328"/>
                </a:solidFill>
                <a:latin typeface="微软雅黑" panose="020B0503020204020204" pitchFamily="34" charset="-122"/>
                <a:ea typeface="微软雅黑" panose="020B0503020204020204" pitchFamily="34" charset="-122"/>
              </a:rPr>
              <a:t>请求</a:t>
            </a:r>
            <a:endParaRPr lang="en-US" altLang="zh-CN" sz="2800" dirty="0" smtClean="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spcBef>
                <a:spcPts val="0"/>
              </a:spcBef>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命令模式的本质是</a:t>
            </a:r>
            <a:r>
              <a:rPr lang="zh-CN" altLang="en-US" sz="2800" dirty="0">
                <a:solidFill>
                  <a:srgbClr val="EC7328"/>
                </a:solidFill>
                <a:latin typeface="微软雅黑" panose="020B0503020204020204" pitchFamily="34" charset="-122"/>
                <a:ea typeface="微软雅黑" panose="020B0503020204020204" pitchFamily="34" charset="-122"/>
              </a:rPr>
              <a:t>对请求进行封装</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spcBef>
                <a:spcPts val="0"/>
              </a:spcBef>
              <a:buClr>
                <a:srgbClr val="EC7328"/>
              </a:buClr>
              <a:buFont typeface="Wingdings" panose="05000000000000000000" pitchFamily="2" charset="2"/>
              <a:buChar char="ü"/>
            </a:pPr>
            <a:r>
              <a:rPr lang="zh-CN" altLang="en-US" sz="2800" dirty="0">
                <a:solidFill>
                  <a:srgbClr val="EC7328"/>
                </a:solidFill>
                <a:latin typeface="微软雅黑" panose="020B0503020204020204" pitchFamily="34" charset="-122"/>
                <a:ea typeface="微软雅黑" panose="020B0503020204020204" pitchFamily="34" charset="-122"/>
              </a:rPr>
              <a:t>一个请求对应于一个命令</a:t>
            </a:r>
            <a:r>
              <a:rPr lang="zh-CN" altLang="en-US" sz="2800" dirty="0">
                <a:latin typeface="微软雅黑" panose="020B0503020204020204" pitchFamily="34" charset="-122"/>
                <a:ea typeface="微软雅黑" panose="020B0503020204020204" pitchFamily="34" charset="-122"/>
              </a:rPr>
              <a:t>，将发出命令的责任和执行命令的责任分开</a:t>
            </a:r>
            <a:endParaRPr lang="en-US" altLang="zh-CN" sz="2800" dirty="0">
              <a:latin typeface="微软雅黑" panose="020B0503020204020204" pitchFamily="34" charset="-122"/>
              <a:ea typeface="微软雅黑" panose="020B0503020204020204" pitchFamily="34" charset="-122"/>
            </a:endParaRPr>
          </a:p>
          <a:p>
            <a:pPr lvl="1" algn="l">
              <a:lnSpc>
                <a:spcPct val="150000"/>
              </a:lnSpc>
              <a:spcBef>
                <a:spcPts val="0"/>
              </a:spcBef>
              <a:buClr>
                <a:srgbClr val="EC7328"/>
              </a:buClr>
            </a:pPr>
            <a:endParaRPr lang="en-US" altLang="zh-CN"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p:cNvSpPr txBox="1"/>
          <p:nvPr/>
        </p:nvSpPr>
        <p:spPr>
          <a:xfrm>
            <a:off x="931711" y="837507"/>
            <a:ext cx="10712080" cy="6163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模式分析</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抽象命令类示例代码</a:t>
            </a:r>
            <a:r>
              <a:rPr lang="zh-CN" altLang="en-US" sz="2800" dirty="0" smtClean="0">
                <a:latin typeface="微软雅黑" panose="020B0503020204020204" pitchFamily="34" charset="-122"/>
                <a:ea typeface="微软雅黑" panose="020B0503020204020204" pitchFamily="34" charset="-122"/>
              </a:rPr>
              <a:t>：</a:t>
            </a:r>
            <a:endParaRPr lang="zh-CN" altLang="en-US"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11" name="表格 10"/>
          <p:cNvGraphicFramePr>
            <a:graphicFrameLocks noGrp="1"/>
          </p:cNvGraphicFramePr>
          <p:nvPr/>
        </p:nvGraphicFramePr>
        <p:xfrm>
          <a:off x="770583" y="1413570"/>
          <a:ext cx="10729192" cy="1755648"/>
        </p:xfrm>
        <a:graphic>
          <a:graphicData uri="http://schemas.openxmlformats.org/drawingml/2006/table">
            <a:tbl>
              <a:tblPr/>
              <a:tblGrid>
                <a:gridCol w="10729192"/>
              </a:tblGrid>
              <a:tr h="1656184">
                <a:tc>
                  <a:txBody>
                    <a:bodyPr/>
                    <a:lstStyle/>
                    <a:p>
                      <a:pPr algn="just">
                        <a:lnSpc>
                          <a:spcPct val="120000"/>
                        </a:lnSpc>
                        <a:spcAft>
                          <a:spcPts val="0"/>
                        </a:spcAft>
                      </a:pPr>
                      <a:r>
                        <a:rPr lang="en-US" altLang="zh-CN" sz="3200" b="1" kern="100" dirty="0" smtClean="0">
                          <a:latin typeface="Times New Roman" panose="02020603050405020304"/>
                          <a:ea typeface="+mn-ea"/>
                        </a:rPr>
                        <a:t>public </a:t>
                      </a:r>
                      <a:r>
                        <a:rPr lang="en-US" altLang="zh-CN" sz="3200" b="1" kern="100" dirty="0" err="1" smtClean="0">
                          <a:latin typeface="Times New Roman" panose="02020603050405020304"/>
                          <a:ea typeface="+mn-ea"/>
                        </a:rPr>
                        <a:t>public</a:t>
                      </a:r>
                      <a:r>
                        <a:rPr lang="en-US" altLang="zh-CN" sz="3200" b="1" kern="100" dirty="0" smtClean="0">
                          <a:latin typeface="Times New Roman" panose="02020603050405020304"/>
                          <a:ea typeface="+mn-ea"/>
                        </a:rPr>
                        <a:t> abstract class Command {</a:t>
                      </a:r>
                      <a:endParaRPr lang="en-US" altLang="zh-CN" sz="3200" b="1" kern="100" dirty="0" smtClean="0">
                        <a:latin typeface="Times New Roman" panose="02020603050405020304"/>
                        <a:ea typeface="+mn-ea"/>
                      </a:endParaRPr>
                    </a:p>
                    <a:p>
                      <a:pPr algn="just">
                        <a:lnSpc>
                          <a:spcPct val="120000"/>
                        </a:lnSpc>
                        <a:spcAft>
                          <a:spcPts val="0"/>
                        </a:spcAft>
                      </a:pPr>
                      <a:r>
                        <a:rPr lang="en-US" altLang="zh-CN" sz="3200" b="1" kern="100" dirty="0" smtClean="0">
                          <a:solidFill>
                            <a:srgbClr val="FF0000"/>
                          </a:solidFill>
                          <a:latin typeface="Times New Roman" panose="02020603050405020304"/>
                          <a:ea typeface="+mn-ea"/>
                        </a:rPr>
                        <a:t>    public abstract void execute( );</a:t>
                      </a:r>
                      <a:endParaRPr lang="en-US" altLang="zh-CN" sz="3200" b="1" kern="100" dirty="0" smtClean="0">
                        <a:solidFill>
                          <a:srgbClr val="FF0000"/>
                        </a:solidFill>
                        <a:latin typeface="Times New Roman" panose="02020603050405020304"/>
                        <a:ea typeface="+mn-ea"/>
                      </a:endParaRPr>
                    </a:p>
                    <a:p>
                      <a:pPr algn="just">
                        <a:lnSpc>
                          <a:spcPct val="120000"/>
                        </a:lnSpc>
                        <a:spcAft>
                          <a:spcPts val="0"/>
                        </a:spcAft>
                      </a:pPr>
                      <a:r>
                        <a:rPr lang="en-US" altLang="zh-CN" sz="3200" b="1" kern="100" dirty="0" smtClean="0">
                          <a:latin typeface="Times New Roman" panose="02020603050405020304"/>
                          <a:ea typeface="+mn-ea"/>
                        </a:rPr>
                        <a:t>}</a:t>
                      </a:r>
                      <a:endParaRPr lang="en-US" altLang="zh-CN" sz="3200" b="1" kern="100" dirty="0" smtClean="0">
                        <a:latin typeface="Times New Roman" panose="02020603050405020304"/>
                        <a:ea typeface="+mn-ea"/>
                      </a:endParaRPr>
                    </a:p>
                  </a:txBody>
                  <a:tcPr marL="68580" marR="68580" marT="0" marB="0">
                    <a:lnL>
                      <a:noFill/>
                    </a:lnL>
                    <a:lnR>
                      <a:noFill/>
                    </a:lnR>
                    <a:lnT>
                      <a:noFill/>
                    </a:lnT>
                    <a:lnB>
                      <a:noFill/>
                    </a:lnB>
                    <a:solidFill>
                      <a:srgbClr val="F2F2F2"/>
                    </a:solidFill>
                  </a:tcPr>
                </a:tc>
              </a:tr>
            </a:tbl>
          </a:graphicData>
        </a:graphic>
      </p:graphicFrame>
      <p:sp>
        <p:nvSpPr>
          <p:cNvPr id="5" name="内容占位符 2"/>
          <p:cNvSpPr txBox="1"/>
          <p:nvPr/>
        </p:nvSpPr>
        <p:spPr>
          <a:xfrm>
            <a:off x="949105" y="3357786"/>
            <a:ext cx="10712080" cy="6163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模式分析</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接收类示例代码</a:t>
            </a:r>
            <a:r>
              <a:rPr lang="zh-CN" altLang="en-US" sz="2800" dirty="0" smtClean="0">
                <a:latin typeface="微软雅黑" panose="020B0503020204020204" pitchFamily="34" charset="-122"/>
                <a:ea typeface="微软雅黑" panose="020B0503020204020204" pitchFamily="34" charset="-122"/>
              </a:rPr>
              <a:t>：</a:t>
            </a:r>
            <a:endParaRPr lang="zh-CN" altLang="en-US"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8" name="表格 7"/>
          <p:cNvGraphicFramePr>
            <a:graphicFrameLocks noGrp="1"/>
          </p:cNvGraphicFramePr>
          <p:nvPr/>
        </p:nvGraphicFramePr>
        <p:xfrm>
          <a:off x="842591" y="4005858"/>
          <a:ext cx="10496056" cy="2438400"/>
        </p:xfrm>
        <a:graphic>
          <a:graphicData uri="http://schemas.openxmlformats.org/drawingml/2006/table">
            <a:tbl>
              <a:tblPr/>
              <a:tblGrid>
                <a:gridCol w="10496056"/>
              </a:tblGrid>
              <a:tr h="2100064">
                <a:tc>
                  <a:txBody>
                    <a:bodyPr/>
                    <a:lstStyle/>
                    <a:p>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 class Receiver {</a:t>
                      </a:r>
                      <a:endPar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b="1" kern="1200" baseline="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public void action( ) </a:t>
                      </a:r>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b="1" kern="1200" baseline="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3200" b="1" kern="1200" baseline="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具体操作</a:t>
                      </a:r>
                      <a:endParaRPr lang="en-US" altLang="zh-CN" sz="3200" b="1" kern="1200" baseline="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b="1" kern="1200" baseline="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3200" b="1" kern="1200" dirty="0" smtClean="0">
                        <a:solidFill>
                          <a:srgbClr val="FF66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a:noFill/>
                    </a:lnB>
                    <a:solidFill>
                      <a:srgbClr val="F2F2F2"/>
                    </a:solidFill>
                  </a:tcPr>
                </a:tc>
              </a:tr>
            </a:tbl>
          </a:graphicData>
        </a:graphic>
      </p:graphicFrame>
    </p:spTree>
  </p:cSld>
  <p:clrMapOvr>
    <a:masterClrMapping/>
  </p:clrMapOvr>
  <p:transition spd="slow" advTm="0">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p:cNvSpPr txBox="1"/>
          <p:nvPr/>
        </p:nvSpPr>
        <p:spPr>
          <a:xfrm>
            <a:off x="931711" y="837507"/>
            <a:ext cx="10712080" cy="6163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模式分析</a:t>
            </a:r>
            <a:r>
              <a:rPr lang="en-US" altLang="zh-CN" sz="2800" b="1" dirty="0" smtClean="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调用者（请求发送者）示例</a:t>
            </a:r>
            <a:r>
              <a:rPr lang="zh-CN" altLang="en-US" sz="2800" b="1" dirty="0" smtClean="0">
                <a:latin typeface="微软雅黑" panose="020B0503020204020204" pitchFamily="34" charset="-122"/>
                <a:ea typeface="微软雅黑" panose="020B0503020204020204" pitchFamily="34" charset="-122"/>
              </a:rPr>
              <a:t>代码</a:t>
            </a:r>
            <a:r>
              <a:rPr lang="zh-CN" altLang="en-US" sz="2800" dirty="0" smtClean="0">
                <a:latin typeface="微软雅黑" panose="020B0503020204020204" pitchFamily="34" charset="-122"/>
                <a:ea typeface="微软雅黑" panose="020B0503020204020204" pitchFamily="34" charset="-122"/>
              </a:rPr>
              <a:t>：</a:t>
            </a:r>
            <a:endParaRPr lang="zh-CN" altLang="en-US"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11" name="表格 10"/>
          <p:cNvGraphicFramePr>
            <a:graphicFrameLocks noGrp="1"/>
          </p:cNvGraphicFramePr>
          <p:nvPr/>
        </p:nvGraphicFramePr>
        <p:xfrm>
          <a:off x="1130623" y="1341562"/>
          <a:ext cx="9937104" cy="5486400"/>
        </p:xfrm>
        <a:graphic>
          <a:graphicData uri="http://schemas.openxmlformats.org/drawingml/2006/table">
            <a:tbl>
              <a:tblPr/>
              <a:tblGrid>
                <a:gridCol w="9937104"/>
              </a:tblGrid>
              <a:tr h="1564432">
                <a:tc>
                  <a:txBody>
                    <a:bodyPr/>
                    <a:lstStyle/>
                    <a:p>
                      <a:pPr algn="just">
                        <a:lnSpc>
                          <a:spcPct val="100000"/>
                        </a:lnSpc>
                        <a:spcAft>
                          <a:spcPts val="0"/>
                        </a:spcAft>
                      </a:pPr>
                      <a:r>
                        <a:rPr lang="en-US" altLang="zh-CN" sz="2800" b="1" kern="100" dirty="0" smtClean="0">
                          <a:latin typeface="Times New Roman" panose="02020603050405020304"/>
                          <a:ea typeface="+mn-ea"/>
                        </a:rPr>
                        <a:t>public class Invoker {</a:t>
                      </a:r>
                      <a:endParaRPr lang="en-US" altLang="zh-CN" sz="2800" b="1" kern="100" dirty="0" smtClean="0">
                        <a:latin typeface="Times New Roman" panose="02020603050405020304"/>
                        <a:ea typeface="+mn-ea"/>
                      </a:endParaRPr>
                    </a:p>
                    <a:p>
                      <a:pPr algn="just">
                        <a:lnSpc>
                          <a:spcPct val="100000"/>
                        </a:lnSpc>
                        <a:spcAft>
                          <a:spcPts val="0"/>
                        </a:spcAft>
                      </a:pPr>
                      <a:r>
                        <a:rPr lang="en-US" altLang="zh-CN" sz="2800" b="1" kern="100" dirty="0" smtClean="0">
                          <a:latin typeface="Times New Roman" panose="02020603050405020304"/>
                          <a:ea typeface="+mn-ea"/>
                        </a:rPr>
                        <a:t>    private Command </a:t>
                      </a:r>
                      <a:r>
                        <a:rPr lang="en-US" altLang="zh-CN" sz="2800" b="1" kern="100" dirty="0" err="1" smtClean="0">
                          <a:latin typeface="Times New Roman" panose="02020603050405020304"/>
                          <a:ea typeface="+mn-ea"/>
                        </a:rPr>
                        <a:t>command</a:t>
                      </a:r>
                      <a:r>
                        <a:rPr lang="en-US" altLang="zh-CN" sz="2800" b="1" kern="100" dirty="0" smtClean="0">
                          <a:latin typeface="Times New Roman" panose="02020603050405020304"/>
                          <a:ea typeface="+mn-ea"/>
                        </a:rPr>
                        <a:t>;</a:t>
                      </a:r>
                      <a:endParaRPr lang="en-US" altLang="zh-CN" sz="2800" b="1" kern="100" dirty="0" smtClean="0">
                        <a:latin typeface="Times New Roman" panose="02020603050405020304"/>
                        <a:ea typeface="+mn-ea"/>
                      </a:endParaRPr>
                    </a:p>
                    <a:p>
                      <a:pPr algn="just">
                        <a:lnSpc>
                          <a:spcPct val="100000"/>
                        </a:lnSpc>
                        <a:spcAft>
                          <a:spcPts val="0"/>
                        </a:spcAft>
                      </a:pPr>
                      <a:r>
                        <a:rPr lang="en-US" altLang="zh-CN" sz="2800" b="1" kern="100" dirty="0" smtClean="0">
                          <a:latin typeface="Times New Roman" panose="02020603050405020304"/>
                          <a:ea typeface="+mn-ea"/>
                        </a:rPr>
                        <a:t>    </a:t>
                      </a:r>
                      <a:r>
                        <a:rPr lang="en-US" altLang="zh-CN" sz="3200" b="1" kern="100" dirty="0" smtClean="0">
                          <a:solidFill>
                            <a:srgbClr val="FF0000"/>
                          </a:solidFill>
                          <a:latin typeface="Times New Roman" panose="02020603050405020304"/>
                          <a:ea typeface="+mn-ea"/>
                        </a:rPr>
                        <a:t>public Invoker(Command command) {</a:t>
                      </a:r>
                      <a:endParaRPr lang="en-US" altLang="zh-CN" sz="3200" b="1" kern="100" dirty="0" smtClean="0">
                        <a:solidFill>
                          <a:srgbClr val="FF0000"/>
                        </a:solidFill>
                        <a:latin typeface="Times New Roman" panose="02020603050405020304"/>
                        <a:ea typeface="+mn-ea"/>
                      </a:endParaRPr>
                    </a:p>
                    <a:p>
                      <a:pPr algn="just">
                        <a:lnSpc>
                          <a:spcPct val="100000"/>
                        </a:lnSpc>
                        <a:spcAft>
                          <a:spcPts val="0"/>
                        </a:spcAft>
                      </a:pPr>
                      <a:r>
                        <a:rPr lang="en-US" altLang="zh-CN" sz="3200" b="1" kern="100" dirty="0" smtClean="0">
                          <a:solidFill>
                            <a:srgbClr val="FF0000"/>
                          </a:solidFill>
                          <a:latin typeface="Times New Roman" panose="02020603050405020304"/>
                          <a:ea typeface="+mn-ea"/>
                        </a:rPr>
                        <a:t>        </a:t>
                      </a:r>
                      <a:r>
                        <a:rPr lang="en-US" altLang="zh-CN" sz="3200" b="1" kern="100" dirty="0" err="1" smtClean="0">
                          <a:solidFill>
                            <a:srgbClr val="FF0000"/>
                          </a:solidFill>
                          <a:latin typeface="Times New Roman" panose="02020603050405020304"/>
                          <a:ea typeface="+mn-ea"/>
                        </a:rPr>
                        <a:t>this.command</a:t>
                      </a:r>
                      <a:r>
                        <a:rPr lang="en-US" altLang="zh-CN" sz="3200" b="1" kern="100" dirty="0" smtClean="0">
                          <a:solidFill>
                            <a:srgbClr val="FF0000"/>
                          </a:solidFill>
                          <a:latin typeface="Times New Roman" panose="02020603050405020304"/>
                          <a:ea typeface="+mn-ea"/>
                        </a:rPr>
                        <a:t> = command;</a:t>
                      </a:r>
                      <a:endParaRPr lang="en-US" altLang="zh-CN" sz="3200" b="1" kern="100" dirty="0" smtClean="0">
                        <a:solidFill>
                          <a:srgbClr val="FF0000"/>
                        </a:solidFill>
                        <a:latin typeface="Times New Roman" panose="02020603050405020304"/>
                        <a:ea typeface="+mn-ea"/>
                      </a:endParaRPr>
                    </a:p>
                    <a:p>
                      <a:pPr algn="just">
                        <a:lnSpc>
                          <a:spcPct val="100000"/>
                        </a:lnSpc>
                        <a:spcAft>
                          <a:spcPts val="0"/>
                        </a:spcAft>
                      </a:pPr>
                      <a:r>
                        <a:rPr lang="en-US" altLang="zh-CN" sz="3200" b="1" kern="100" dirty="0" smtClean="0">
                          <a:solidFill>
                            <a:srgbClr val="FF0000"/>
                          </a:solidFill>
                          <a:latin typeface="Times New Roman" panose="02020603050405020304"/>
                          <a:ea typeface="+mn-ea"/>
                        </a:rPr>
                        <a:t>    }</a:t>
                      </a:r>
                      <a:endParaRPr lang="en-US" altLang="zh-CN" sz="3200" b="1" kern="100" dirty="0" smtClean="0">
                        <a:solidFill>
                          <a:srgbClr val="FF0000"/>
                        </a:solidFill>
                        <a:latin typeface="Times New Roman" panose="02020603050405020304"/>
                        <a:ea typeface="+mn-ea"/>
                      </a:endParaRPr>
                    </a:p>
                    <a:p>
                      <a:pPr algn="just">
                        <a:lnSpc>
                          <a:spcPct val="100000"/>
                        </a:lnSpc>
                        <a:spcAft>
                          <a:spcPts val="0"/>
                        </a:spcAft>
                      </a:pPr>
                      <a:r>
                        <a:rPr lang="en-US" altLang="zh-CN" sz="2800" b="1" kern="100" dirty="0" smtClean="0">
                          <a:solidFill>
                            <a:srgbClr val="FF0000"/>
                          </a:solidFill>
                          <a:latin typeface="Times New Roman" panose="02020603050405020304"/>
                          <a:ea typeface="+mn-ea"/>
                        </a:rPr>
                        <a:t>    </a:t>
                      </a:r>
                      <a:r>
                        <a:rPr lang="en-US" altLang="zh-CN" sz="3200" b="1" kern="100" dirty="0" smtClean="0">
                          <a:solidFill>
                            <a:srgbClr val="FF0000"/>
                          </a:solidFill>
                          <a:latin typeface="Times New Roman" panose="02020603050405020304"/>
                          <a:ea typeface="+mn-ea"/>
                        </a:rPr>
                        <a:t>public void </a:t>
                      </a:r>
                      <a:r>
                        <a:rPr lang="en-US" altLang="zh-CN" sz="3200" b="1" kern="100" dirty="0" err="1" smtClean="0">
                          <a:solidFill>
                            <a:srgbClr val="FF0000"/>
                          </a:solidFill>
                          <a:latin typeface="Times New Roman" panose="02020603050405020304"/>
                          <a:ea typeface="+mn-ea"/>
                        </a:rPr>
                        <a:t>setCommand</a:t>
                      </a:r>
                      <a:r>
                        <a:rPr lang="en-US" altLang="zh-CN" sz="3200" b="1" kern="100" dirty="0" smtClean="0">
                          <a:solidFill>
                            <a:srgbClr val="FF0000"/>
                          </a:solidFill>
                          <a:latin typeface="Times New Roman" panose="02020603050405020304"/>
                          <a:ea typeface="+mn-ea"/>
                        </a:rPr>
                        <a:t>(Command command) {</a:t>
                      </a:r>
                      <a:endParaRPr lang="en-US" altLang="zh-CN" sz="3200" b="1" kern="100" dirty="0" smtClean="0">
                        <a:solidFill>
                          <a:srgbClr val="FF0000"/>
                        </a:solidFill>
                        <a:latin typeface="Times New Roman" panose="02020603050405020304"/>
                        <a:ea typeface="+mn-ea"/>
                      </a:endParaRPr>
                    </a:p>
                    <a:p>
                      <a:pPr algn="just">
                        <a:lnSpc>
                          <a:spcPct val="100000"/>
                        </a:lnSpc>
                        <a:spcAft>
                          <a:spcPts val="0"/>
                        </a:spcAft>
                      </a:pPr>
                      <a:r>
                        <a:rPr lang="en-US" altLang="zh-CN" sz="3200" b="1" kern="100" dirty="0" smtClean="0">
                          <a:solidFill>
                            <a:srgbClr val="FF0000"/>
                          </a:solidFill>
                          <a:latin typeface="Times New Roman" panose="02020603050405020304"/>
                          <a:ea typeface="+mn-ea"/>
                        </a:rPr>
                        <a:t>        </a:t>
                      </a:r>
                      <a:r>
                        <a:rPr lang="en-US" altLang="zh-CN" sz="3200" b="1" kern="100" dirty="0" err="1" smtClean="0">
                          <a:solidFill>
                            <a:srgbClr val="FF0000"/>
                          </a:solidFill>
                          <a:latin typeface="Times New Roman" panose="02020603050405020304"/>
                          <a:ea typeface="+mn-ea"/>
                        </a:rPr>
                        <a:t>this.command</a:t>
                      </a:r>
                      <a:r>
                        <a:rPr lang="en-US" altLang="zh-CN" sz="3200" b="1" kern="100" dirty="0" smtClean="0">
                          <a:solidFill>
                            <a:srgbClr val="FF0000"/>
                          </a:solidFill>
                          <a:latin typeface="Times New Roman" panose="02020603050405020304"/>
                          <a:ea typeface="+mn-ea"/>
                        </a:rPr>
                        <a:t> = command;</a:t>
                      </a:r>
                      <a:endParaRPr lang="en-US" altLang="zh-CN" sz="3200" b="1" kern="100" dirty="0" smtClean="0">
                        <a:solidFill>
                          <a:srgbClr val="FF0000"/>
                        </a:solidFill>
                        <a:latin typeface="Times New Roman" panose="02020603050405020304"/>
                        <a:ea typeface="+mn-ea"/>
                      </a:endParaRPr>
                    </a:p>
                    <a:p>
                      <a:pPr algn="just">
                        <a:lnSpc>
                          <a:spcPct val="100000"/>
                        </a:lnSpc>
                        <a:spcAft>
                          <a:spcPts val="0"/>
                        </a:spcAft>
                      </a:pPr>
                      <a:r>
                        <a:rPr lang="en-US" altLang="zh-CN" sz="2800" b="1" kern="100" dirty="0" smtClean="0">
                          <a:solidFill>
                            <a:srgbClr val="FF0000"/>
                          </a:solidFill>
                          <a:latin typeface="Times New Roman" panose="02020603050405020304"/>
                          <a:ea typeface="+mn-ea"/>
                        </a:rPr>
                        <a:t>    }    </a:t>
                      </a:r>
                      <a:endParaRPr lang="zh-CN" altLang="en-US" sz="2800" b="1" kern="100" dirty="0" smtClean="0">
                        <a:solidFill>
                          <a:srgbClr val="FF0000"/>
                        </a:solidFill>
                        <a:latin typeface="Times New Roman" panose="02020603050405020304"/>
                        <a:ea typeface="+mn-ea"/>
                      </a:endParaRPr>
                    </a:p>
                    <a:p>
                      <a:pPr algn="just">
                        <a:lnSpc>
                          <a:spcPct val="100000"/>
                        </a:lnSpc>
                        <a:spcAft>
                          <a:spcPts val="0"/>
                        </a:spcAft>
                      </a:pPr>
                      <a:r>
                        <a:rPr lang="zh-CN" altLang="en-US" sz="2800" b="1" kern="100" dirty="0" smtClean="0">
                          <a:latin typeface="Times New Roman" panose="02020603050405020304"/>
                          <a:ea typeface="+mn-ea"/>
                        </a:rPr>
                        <a:t>    </a:t>
                      </a:r>
                      <a:r>
                        <a:rPr lang="en-US" altLang="zh-CN" sz="2800" b="1" kern="100" dirty="0" smtClean="0">
                          <a:latin typeface="Times New Roman" panose="02020603050405020304"/>
                          <a:ea typeface="+mn-ea"/>
                        </a:rPr>
                        <a:t>public void call() {</a:t>
                      </a:r>
                      <a:endParaRPr lang="en-US" altLang="zh-CN" sz="2800" b="1" kern="100" dirty="0" smtClean="0">
                        <a:latin typeface="Times New Roman" panose="02020603050405020304"/>
                        <a:ea typeface="+mn-ea"/>
                      </a:endParaRPr>
                    </a:p>
                    <a:p>
                      <a:pPr algn="just">
                        <a:lnSpc>
                          <a:spcPct val="100000"/>
                        </a:lnSpc>
                        <a:spcAft>
                          <a:spcPts val="0"/>
                        </a:spcAft>
                      </a:pPr>
                      <a:r>
                        <a:rPr lang="en-US" altLang="zh-CN" sz="2800" b="1" kern="100" dirty="0" smtClean="0">
                          <a:latin typeface="Times New Roman" panose="02020603050405020304"/>
                          <a:ea typeface="+mn-ea"/>
                        </a:rPr>
                        <a:t>        </a:t>
                      </a:r>
                      <a:r>
                        <a:rPr lang="en-US" altLang="zh-CN" sz="3200" b="1" kern="100" dirty="0" err="1" smtClean="0">
                          <a:solidFill>
                            <a:srgbClr val="FF0000"/>
                          </a:solidFill>
                          <a:latin typeface="Times New Roman" panose="02020603050405020304"/>
                          <a:ea typeface="+mn-ea"/>
                        </a:rPr>
                        <a:t>command.execute</a:t>
                      </a:r>
                      <a:r>
                        <a:rPr lang="en-US" altLang="zh-CN" sz="3200" b="1" kern="100" dirty="0" smtClean="0">
                          <a:solidFill>
                            <a:srgbClr val="FF0000"/>
                          </a:solidFill>
                          <a:latin typeface="Times New Roman" panose="02020603050405020304"/>
                          <a:ea typeface="+mn-ea"/>
                        </a:rPr>
                        <a:t>( );</a:t>
                      </a:r>
                      <a:endParaRPr lang="en-US" altLang="zh-CN" sz="3200" b="1" kern="100" dirty="0" smtClean="0">
                        <a:solidFill>
                          <a:srgbClr val="FF0000"/>
                        </a:solidFill>
                        <a:latin typeface="Times New Roman" panose="02020603050405020304"/>
                        <a:ea typeface="+mn-ea"/>
                      </a:endParaRPr>
                    </a:p>
                    <a:p>
                      <a:pPr algn="just">
                        <a:lnSpc>
                          <a:spcPct val="100000"/>
                        </a:lnSpc>
                        <a:spcAft>
                          <a:spcPts val="0"/>
                        </a:spcAft>
                      </a:pPr>
                      <a:r>
                        <a:rPr lang="en-US" altLang="zh-CN" sz="2800" b="1" kern="100" dirty="0" smtClean="0">
                          <a:latin typeface="Times New Roman" panose="02020603050405020304"/>
                          <a:ea typeface="+mn-ea"/>
                        </a:rPr>
                        <a:t>    }</a:t>
                      </a:r>
                      <a:endParaRPr lang="en-US" altLang="zh-CN" sz="2800" b="1" kern="100" dirty="0" smtClean="0">
                        <a:latin typeface="Times New Roman" panose="02020603050405020304"/>
                        <a:ea typeface="+mn-ea"/>
                      </a:endParaRPr>
                    </a:p>
                    <a:p>
                      <a:pPr algn="just">
                        <a:lnSpc>
                          <a:spcPct val="100000"/>
                        </a:lnSpc>
                        <a:spcAft>
                          <a:spcPts val="0"/>
                        </a:spcAft>
                      </a:pPr>
                      <a:r>
                        <a:rPr lang="en-US" altLang="zh-CN" sz="2800" b="1" kern="100" dirty="0" smtClean="0">
                          <a:latin typeface="Times New Roman" panose="02020603050405020304"/>
                          <a:ea typeface="+mn-ea"/>
                        </a:rPr>
                        <a:t>}</a:t>
                      </a:r>
                      <a:endParaRPr lang="en-US" altLang="zh-CN" sz="2800" b="1" kern="100" dirty="0" smtClean="0">
                        <a:latin typeface="Times New Roman" panose="02020603050405020304"/>
                        <a:ea typeface="+mn-ea"/>
                      </a:endParaRPr>
                    </a:p>
                  </a:txBody>
                  <a:tcPr marL="68580" marR="68580" marT="0" marB="0">
                    <a:lnL>
                      <a:noFill/>
                    </a:lnL>
                    <a:lnR>
                      <a:noFill/>
                    </a:lnR>
                    <a:lnT>
                      <a:noFill/>
                    </a:lnT>
                    <a:lnB>
                      <a:noFill/>
                    </a:lnB>
                    <a:solidFill>
                      <a:srgbClr val="F2F2F2"/>
                    </a:solidFill>
                  </a:tcPr>
                </a:tc>
              </a:tr>
            </a:tbl>
          </a:graphicData>
        </a:graphic>
      </p:graphicFrame>
    </p:spTree>
  </p:cSld>
  <p:clrMapOvr>
    <a:masterClrMapping/>
  </p:clrMapOvr>
  <p:transition spd="slow" advTm="0">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p:cNvSpPr txBox="1"/>
          <p:nvPr/>
        </p:nvSpPr>
        <p:spPr>
          <a:xfrm>
            <a:off x="931711" y="837507"/>
            <a:ext cx="10712080" cy="6163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模式分析</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具体命令类示例代码</a:t>
            </a:r>
            <a:r>
              <a:rPr lang="zh-CN" altLang="en-US" sz="2800" dirty="0" smtClean="0">
                <a:latin typeface="微软雅黑" panose="020B0503020204020204" pitchFamily="34" charset="-122"/>
                <a:ea typeface="微软雅黑" panose="020B0503020204020204" pitchFamily="34" charset="-122"/>
              </a:rPr>
              <a:t>：</a:t>
            </a:r>
            <a:endParaRPr lang="zh-CN" altLang="en-US"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11" name="表格 10"/>
          <p:cNvGraphicFramePr>
            <a:graphicFrameLocks noGrp="1"/>
          </p:cNvGraphicFramePr>
          <p:nvPr/>
        </p:nvGraphicFramePr>
        <p:xfrm>
          <a:off x="770583" y="1485578"/>
          <a:ext cx="10729192" cy="3528392"/>
        </p:xfrm>
        <a:graphic>
          <a:graphicData uri="http://schemas.openxmlformats.org/drawingml/2006/table">
            <a:tbl>
              <a:tblPr/>
              <a:tblGrid>
                <a:gridCol w="10729192"/>
              </a:tblGrid>
              <a:tr h="3528392">
                <a:tc>
                  <a:txBody>
                    <a:bodyPr/>
                    <a:lstStyle/>
                    <a:p>
                      <a:pPr algn="just">
                        <a:lnSpc>
                          <a:spcPct val="100000"/>
                        </a:lnSpc>
                        <a:spcAft>
                          <a:spcPts val="0"/>
                        </a:spcAft>
                      </a:pPr>
                      <a:r>
                        <a:rPr lang="en-US" altLang="zh-CN" sz="3200" b="1" kern="100" dirty="0" smtClean="0">
                          <a:latin typeface="Times New Roman" panose="02020603050405020304"/>
                          <a:ea typeface="+mn-ea"/>
                        </a:rPr>
                        <a:t>public class </a:t>
                      </a:r>
                      <a:r>
                        <a:rPr lang="en-US" altLang="zh-CN" sz="3200" b="1" kern="100" dirty="0" err="1" smtClean="0">
                          <a:latin typeface="Times New Roman" panose="02020603050405020304"/>
                          <a:ea typeface="+mn-ea"/>
                        </a:rPr>
                        <a:t>ConcreteCommand</a:t>
                      </a:r>
                      <a:r>
                        <a:rPr lang="en-US" altLang="zh-CN" sz="3200" b="1" kern="100" dirty="0" smtClean="0">
                          <a:latin typeface="Times New Roman" panose="02020603050405020304"/>
                          <a:ea typeface="+mn-ea"/>
                        </a:rPr>
                        <a:t> extends Command {</a:t>
                      </a:r>
                      <a:endParaRPr lang="en-US" altLang="zh-CN" sz="3200" b="1" kern="100" dirty="0" smtClean="0">
                        <a:latin typeface="Times New Roman" panose="02020603050405020304"/>
                        <a:ea typeface="+mn-ea"/>
                      </a:endParaRPr>
                    </a:p>
                    <a:p>
                      <a:pPr algn="just">
                        <a:lnSpc>
                          <a:spcPct val="100000"/>
                        </a:lnSpc>
                        <a:spcAft>
                          <a:spcPts val="0"/>
                        </a:spcAft>
                      </a:pPr>
                      <a:r>
                        <a:rPr lang="en-US" altLang="zh-CN" sz="3200" b="1" kern="100" dirty="0" smtClean="0">
                          <a:latin typeface="Times New Roman" panose="02020603050405020304"/>
                          <a:ea typeface="+mn-ea"/>
                        </a:rPr>
                        <a:t>    </a:t>
                      </a:r>
                      <a:r>
                        <a:rPr lang="en-US" altLang="zh-CN" sz="3200" b="1" kern="100" dirty="0" smtClean="0">
                          <a:solidFill>
                            <a:srgbClr val="FF0000"/>
                          </a:solidFill>
                          <a:latin typeface="Times New Roman" panose="02020603050405020304"/>
                          <a:ea typeface="+mn-ea"/>
                        </a:rPr>
                        <a:t>private Receiver </a:t>
                      </a:r>
                      <a:r>
                        <a:rPr lang="en-US" altLang="zh-CN" sz="3200" b="1" kern="100" dirty="0" err="1" smtClean="0">
                          <a:solidFill>
                            <a:srgbClr val="FF0000"/>
                          </a:solidFill>
                          <a:latin typeface="Times New Roman" panose="02020603050405020304"/>
                          <a:ea typeface="+mn-ea"/>
                        </a:rPr>
                        <a:t>receiver</a:t>
                      </a:r>
                      <a:r>
                        <a:rPr lang="en-US" altLang="zh-CN" sz="3200" b="1" kern="100" dirty="0" smtClean="0">
                          <a:solidFill>
                            <a:srgbClr val="FF0000"/>
                          </a:solidFill>
                          <a:latin typeface="Times New Roman" panose="02020603050405020304"/>
                          <a:ea typeface="+mn-ea"/>
                        </a:rPr>
                        <a:t>; </a:t>
                      </a:r>
                      <a:r>
                        <a:rPr lang="en-US" altLang="zh-CN" sz="3200" b="1" kern="100" dirty="0" smtClean="0">
                          <a:latin typeface="Times New Roman" panose="02020603050405020304"/>
                          <a:ea typeface="+mn-ea"/>
                        </a:rPr>
                        <a:t>//</a:t>
                      </a:r>
                      <a:r>
                        <a:rPr lang="zh-CN" altLang="en-US" sz="2800" b="1" kern="100" dirty="0" smtClean="0">
                          <a:latin typeface="Times New Roman" panose="02020603050405020304"/>
                          <a:ea typeface="+mn-ea"/>
                        </a:rPr>
                        <a:t>维持一个对请求接收者对象的引用</a:t>
                      </a:r>
                      <a:endParaRPr lang="zh-CN" altLang="en-US" sz="2800" b="1" kern="100" dirty="0" smtClean="0">
                        <a:latin typeface="Times New Roman" panose="02020603050405020304"/>
                        <a:ea typeface="+mn-ea"/>
                      </a:endParaRPr>
                    </a:p>
                    <a:p>
                      <a:pPr algn="just">
                        <a:lnSpc>
                          <a:spcPct val="100000"/>
                        </a:lnSpc>
                        <a:spcAft>
                          <a:spcPts val="0"/>
                        </a:spcAft>
                      </a:pPr>
                      <a:endParaRPr lang="zh-CN" altLang="en-US" sz="3200" b="1" kern="100" dirty="0" smtClean="0">
                        <a:latin typeface="Times New Roman" panose="02020603050405020304"/>
                        <a:ea typeface="+mn-ea"/>
                      </a:endParaRPr>
                    </a:p>
                    <a:p>
                      <a:pPr algn="just">
                        <a:lnSpc>
                          <a:spcPct val="100000"/>
                        </a:lnSpc>
                        <a:spcAft>
                          <a:spcPts val="0"/>
                        </a:spcAft>
                      </a:pPr>
                      <a:r>
                        <a:rPr lang="zh-CN" altLang="en-US" sz="3200" b="1" kern="100" dirty="0" smtClean="0">
                          <a:latin typeface="Times New Roman" panose="02020603050405020304"/>
                          <a:ea typeface="+mn-ea"/>
                        </a:rPr>
                        <a:t>    </a:t>
                      </a:r>
                      <a:r>
                        <a:rPr lang="en-US" altLang="zh-CN" sz="3200" b="1" kern="100" dirty="0" smtClean="0">
                          <a:latin typeface="Times New Roman" panose="02020603050405020304"/>
                          <a:ea typeface="+mn-ea"/>
                        </a:rPr>
                        <a:t>public void execute() {</a:t>
                      </a:r>
                      <a:endParaRPr lang="en-US" altLang="zh-CN" sz="3200" b="1" kern="100" dirty="0" smtClean="0">
                        <a:latin typeface="Times New Roman" panose="02020603050405020304"/>
                        <a:ea typeface="+mn-ea"/>
                      </a:endParaRPr>
                    </a:p>
                    <a:p>
                      <a:pPr algn="just">
                        <a:lnSpc>
                          <a:spcPct val="100000"/>
                        </a:lnSpc>
                        <a:spcAft>
                          <a:spcPts val="0"/>
                        </a:spcAft>
                      </a:pPr>
                      <a:r>
                        <a:rPr lang="en-US" altLang="zh-CN" sz="3200" b="1" kern="100" dirty="0" smtClean="0">
                          <a:latin typeface="Times New Roman" panose="02020603050405020304"/>
                          <a:ea typeface="+mn-ea"/>
                        </a:rPr>
                        <a:t>        </a:t>
                      </a:r>
                      <a:r>
                        <a:rPr lang="en-US" altLang="zh-CN" sz="3200" b="1" kern="100" dirty="0" err="1" smtClean="0">
                          <a:solidFill>
                            <a:srgbClr val="FF0000"/>
                          </a:solidFill>
                          <a:latin typeface="Times New Roman" panose="02020603050405020304"/>
                          <a:ea typeface="+mn-ea"/>
                        </a:rPr>
                        <a:t>receiver.action</a:t>
                      </a:r>
                      <a:r>
                        <a:rPr lang="en-US" altLang="zh-CN" sz="3200" b="1" kern="100" dirty="0" smtClean="0">
                          <a:solidFill>
                            <a:srgbClr val="FF0000"/>
                          </a:solidFill>
                          <a:latin typeface="Times New Roman" panose="02020603050405020304"/>
                          <a:ea typeface="+mn-ea"/>
                        </a:rPr>
                        <a:t>( ); </a:t>
                      </a:r>
                      <a:r>
                        <a:rPr lang="en-US" altLang="zh-CN" sz="3200" b="1" kern="100" dirty="0" smtClean="0">
                          <a:latin typeface="Times New Roman" panose="02020603050405020304"/>
                          <a:ea typeface="+mn-ea"/>
                        </a:rPr>
                        <a:t>//</a:t>
                      </a:r>
                      <a:r>
                        <a:rPr lang="zh-CN" altLang="en-US" sz="2800" b="1" kern="100" dirty="0" smtClean="0">
                          <a:latin typeface="Times New Roman" panose="02020603050405020304"/>
                          <a:ea typeface="+mn-ea"/>
                        </a:rPr>
                        <a:t>调用请求接收者的业务处理方法</a:t>
                      </a:r>
                      <a:r>
                        <a:rPr lang="en-US" altLang="zh-CN" sz="2800" b="1" kern="100" dirty="0" smtClean="0">
                          <a:latin typeface="Times New Roman" panose="02020603050405020304"/>
                          <a:ea typeface="+mn-ea"/>
                        </a:rPr>
                        <a:t>action( )</a:t>
                      </a:r>
                      <a:endParaRPr lang="en-US" altLang="zh-CN" sz="2800" b="1" kern="100" dirty="0" smtClean="0">
                        <a:latin typeface="Times New Roman" panose="02020603050405020304"/>
                        <a:ea typeface="+mn-ea"/>
                      </a:endParaRPr>
                    </a:p>
                    <a:p>
                      <a:pPr algn="just">
                        <a:lnSpc>
                          <a:spcPct val="100000"/>
                        </a:lnSpc>
                        <a:spcAft>
                          <a:spcPts val="0"/>
                        </a:spcAft>
                      </a:pPr>
                      <a:r>
                        <a:rPr lang="en-US" altLang="zh-CN" sz="3200" b="1" kern="100" dirty="0" smtClean="0">
                          <a:latin typeface="Times New Roman" panose="02020603050405020304"/>
                          <a:ea typeface="+mn-ea"/>
                        </a:rPr>
                        <a:t>    }</a:t>
                      </a:r>
                      <a:endParaRPr lang="en-US" altLang="zh-CN" sz="3200" b="1" kern="100" dirty="0" smtClean="0">
                        <a:latin typeface="Times New Roman" panose="02020603050405020304"/>
                        <a:ea typeface="+mn-ea"/>
                      </a:endParaRPr>
                    </a:p>
                    <a:p>
                      <a:pPr algn="just">
                        <a:lnSpc>
                          <a:spcPct val="100000"/>
                        </a:lnSpc>
                        <a:spcAft>
                          <a:spcPts val="0"/>
                        </a:spcAft>
                      </a:pPr>
                      <a:r>
                        <a:rPr lang="en-US" altLang="zh-CN" sz="3200" b="1" kern="100" dirty="0" smtClean="0">
                          <a:latin typeface="Times New Roman" panose="02020603050405020304"/>
                          <a:ea typeface="+mn-ea"/>
                        </a:rPr>
                        <a:t>}</a:t>
                      </a:r>
                      <a:endParaRPr lang="en-US" altLang="zh-CN" sz="3200" b="1" kern="100" dirty="0" smtClean="0">
                        <a:latin typeface="Times New Roman" panose="02020603050405020304"/>
                        <a:ea typeface="+mn-ea"/>
                      </a:endParaRPr>
                    </a:p>
                  </a:txBody>
                  <a:tcPr marL="68580" marR="68580" marT="0" marB="0">
                    <a:lnL>
                      <a:noFill/>
                    </a:lnL>
                    <a:lnR>
                      <a:noFill/>
                    </a:lnR>
                    <a:lnT>
                      <a:noFill/>
                    </a:lnT>
                    <a:lnB>
                      <a:noFill/>
                    </a:lnB>
                    <a:solidFill>
                      <a:srgbClr val="F2F2F2"/>
                    </a:solidFill>
                  </a:tcPr>
                </a:tc>
              </a:tr>
            </a:tbl>
          </a:graphicData>
        </a:graphic>
      </p:graphicFrame>
    </p:spTree>
  </p:cSld>
  <p:clrMapOvr>
    <a:masterClrMapping/>
  </p:clrMapOvr>
  <p:transition spd="slow" advTm="0">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338535" y="1102675"/>
            <a:ext cx="11144128" cy="52074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r>
              <a:rPr lang="en-US" altLang="zh-CN" sz="2800" b="1" dirty="0" smtClean="0">
                <a:latin typeface="微软雅黑" panose="020B0503020204020204" pitchFamily="34" charset="-122"/>
                <a:ea typeface="微软雅黑" panose="020B0503020204020204" pitchFamily="34" charset="-122"/>
              </a:rPr>
              <a:t>1</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电视机遥控器：</a:t>
            </a:r>
            <a:r>
              <a:rPr lang="zh-CN" altLang="en-US" sz="2800" dirty="0" smtClean="0">
                <a:latin typeface="微软雅黑" panose="020B0503020204020204" pitchFamily="34" charset="-122"/>
                <a:ea typeface="微软雅黑" panose="020B0503020204020204" pitchFamily="34" charset="-122"/>
              </a:rPr>
              <a:t>实例说明</a:t>
            </a:r>
            <a:endParaRPr lang="zh-CN" altLang="en-US" sz="2800" dirty="0">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电视机是请求的接收者，遥控器是请求的发送者，遥控器上有一些按钮，不同的按钮对应电视机的不同操作。抽象命令角色由一个命令接口来扮演，有三个具体的命令类实现了抽象命令接口，这三个具体命令类分别代表三种操作：打开电视机、关闭电视机和切换频道。显然，电视机遥控器就是一个典型的命令模式应用实例。</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2551" y="853545"/>
            <a:ext cx="11377264" cy="5852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8" name="Group 5"/>
          <p:cNvGrpSpPr/>
          <p:nvPr/>
        </p:nvGrpSpPr>
        <p:grpSpPr bwMode="auto">
          <a:xfrm>
            <a:off x="5002039" y="3233205"/>
            <a:ext cx="4193480" cy="2044450"/>
            <a:chOff x="2381" y="3283"/>
            <a:chExt cx="1361" cy="510"/>
          </a:xfrm>
        </p:grpSpPr>
        <p:pic>
          <p:nvPicPr>
            <p:cNvPr id="9" name="Picture 6" descr="gif005"/>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2381" y="3283"/>
              <a:ext cx="252"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7"/>
            <p:cNvSpPr txBox="1">
              <a:spLocks noChangeArrowheads="1"/>
            </p:cNvSpPr>
            <p:nvPr/>
          </p:nvSpPr>
          <p:spPr bwMode="auto">
            <a:xfrm>
              <a:off x="2608" y="3505"/>
              <a:ext cx="1134" cy="146"/>
            </a:xfrm>
            <a:prstGeom prst="rect">
              <a:avLst/>
            </a:prstGeom>
            <a:noFill/>
            <a:ln w="9525">
              <a:noFill/>
              <a:miter lim="800000"/>
            </a:ln>
            <a:effectLst>
              <a:outerShdw dist="35921" dir="2700000" algn="ctr" rotWithShape="0">
                <a:schemeClr val="bg2"/>
              </a:outerShdw>
            </a:effectLst>
          </p:spPr>
          <p:txBody>
            <a:bodyPr>
              <a:spAutoFit/>
            </a:bodyPr>
            <a:lstStyle/>
            <a:p>
              <a:pPr>
                <a:spcBef>
                  <a:spcPct val="50000"/>
                </a:spcBef>
                <a:defRPr/>
              </a:pPr>
              <a:r>
                <a:rPr lang="zh-CN" altLang="en-US" sz="3200" b="1" dirty="0">
                  <a:solidFill>
                    <a:srgbClr val="44B3BE"/>
                  </a:solidFill>
                  <a:latin typeface="华文行楷" panose="02010800040101010101" pitchFamily="2" charset="-122"/>
                  <a:ea typeface="华文行楷" panose="02010800040101010101" pitchFamily="2" charset="-122"/>
                </a:rPr>
                <a:t>演示</a:t>
              </a:r>
              <a:r>
                <a:rPr lang="en-US" altLang="zh-CN" sz="3200" b="1" dirty="0">
                  <a:solidFill>
                    <a:srgbClr val="44B3BE"/>
                  </a:solidFill>
                  <a:latin typeface="Arial" panose="020B0604020202020204"/>
                  <a:ea typeface="华文行楷" panose="02010800040101010101" pitchFamily="2" charset="-122"/>
                </a:rPr>
                <a:t>……</a:t>
              </a:r>
              <a:endParaRPr lang="en-US" altLang="zh-CN" sz="3200" b="1" dirty="0">
                <a:solidFill>
                  <a:srgbClr val="44B3BE"/>
                </a:solidFill>
                <a:latin typeface="华文行楷" panose="02010800040101010101" pitchFamily="2" charset="-122"/>
                <a:ea typeface="华文行楷" panose="02010800040101010101" pitchFamily="2" charset="-122"/>
              </a:endParaRPr>
            </a:p>
          </p:txBody>
        </p:sp>
      </p:grpSp>
      <p:sp>
        <p:nvSpPr>
          <p:cNvPr id="11" name="内容占位符 2"/>
          <p:cNvSpPr txBox="1"/>
          <p:nvPr/>
        </p:nvSpPr>
        <p:spPr>
          <a:xfrm>
            <a:off x="236079" y="1044928"/>
            <a:ext cx="7735304" cy="202482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r>
              <a:rPr lang="en-US" altLang="zh-CN" sz="2800" b="1" dirty="0" smtClean="0">
                <a:latin typeface="微软雅黑" panose="020B0503020204020204" pitchFamily="34" charset="-122"/>
                <a:ea typeface="微软雅黑" panose="020B0503020204020204" pitchFamily="34" charset="-122"/>
              </a:rPr>
              <a:t>1</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电视机遥控器：参考代码</a:t>
            </a:r>
            <a:endParaRPr lang="en-US" altLang="zh-CN" sz="2800" dirty="0">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en-US" altLang="zh-CN" sz="2800" dirty="0" err="1">
                <a:latin typeface="微软雅黑" panose="020B0503020204020204" pitchFamily="34" charset="-122"/>
                <a:ea typeface="微软雅黑" panose="020B0503020204020204" pitchFamily="34" charset="-122"/>
              </a:rPr>
              <a:t>DesignPatterns</a:t>
            </a:r>
            <a:r>
              <a:rPr lang="zh-CN" altLang="en-US" sz="2800" dirty="0">
                <a:latin typeface="微软雅黑" panose="020B0503020204020204" pitchFamily="34" charset="-122"/>
                <a:ea typeface="微软雅黑" panose="020B0503020204020204" pitchFamily="34" charset="-122"/>
              </a:rPr>
              <a:t>之</a:t>
            </a:r>
            <a:r>
              <a:rPr lang="en-US" altLang="zh-CN" sz="2800" dirty="0">
                <a:latin typeface="微软雅黑" panose="020B0503020204020204" pitchFamily="34" charset="-122"/>
                <a:ea typeface="微软雅黑" panose="020B0503020204020204" pitchFamily="34" charset="-122"/>
              </a:rPr>
              <a:t>command</a:t>
            </a:r>
            <a:r>
              <a:rPr lang="zh-CN" altLang="en-US" sz="2800" dirty="0">
                <a:latin typeface="微软雅黑" panose="020B0503020204020204" pitchFamily="34" charset="-122"/>
                <a:ea typeface="微软雅黑" panose="020B0503020204020204" pitchFamily="34" charset="-122"/>
              </a:rPr>
              <a:t>包</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355647" y="837506"/>
            <a:ext cx="11576176" cy="549547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spcBef>
                <a:spcPts val="0"/>
              </a:spcBef>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r>
              <a:rPr lang="en-US" altLang="zh-CN" sz="2800" b="1" dirty="0" smtClean="0">
                <a:latin typeface="微软雅黑" panose="020B0503020204020204" pitchFamily="34" charset="-122"/>
                <a:ea typeface="微软雅黑" panose="020B0503020204020204" pitchFamily="34" charset="-122"/>
              </a:rPr>
              <a:t>2</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spcBef>
                <a:spcPts val="0"/>
              </a:spcBef>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功能键设置：实例说明</a:t>
            </a:r>
            <a:endParaRPr lang="en-US" altLang="zh-CN" sz="2800" dirty="0">
              <a:latin typeface="微软雅黑" panose="020B0503020204020204" pitchFamily="34" charset="-122"/>
              <a:ea typeface="微软雅黑" panose="020B0503020204020204" pitchFamily="34" charset="-122"/>
            </a:endParaRPr>
          </a:p>
          <a:p>
            <a:pPr marL="1257300" lvl="2" indent="-342900" algn="l">
              <a:lnSpc>
                <a:spcPct val="150000"/>
              </a:lnSpc>
              <a:spcBef>
                <a:spcPts val="0"/>
              </a:spcBef>
              <a:buClr>
                <a:srgbClr val="EC7328"/>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为了用户使用方便，某系统提供了一系列功能键，用户可以自定义功能键的功能，例如功能键</a:t>
            </a:r>
            <a:r>
              <a:rPr lang="en-US" altLang="zh-CN" sz="2800" dirty="0" err="1">
                <a:latin typeface="微软雅黑" panose="020B0503020204020204" pitchFamily="34" charset="-122"/>
                <a:ea typeface="微软雅黑" panose="020B0503020204020204" pitchFamily="34" charset="-122"/>
              </a:rPr>
              <a:t>FunctionButton</a:t>
            </a:r>
            <a:r>
              <a:rPr lang="zh-CN" altLang="en-US" sz="2800" dirty="0">
                <a:latin typeface="微软雅黑" panose="020B0503020204020204" pitchFamily="34" charset="-122"/>
                <a:ea typeface="微软雅黑" panose="020B0503020204020204" pitchFamily="34" charset="-122"/>
              </a:rPr>
              <a:t>可以用于退出系统（由</a:t>
            </a:r>
            <a:r>
              <a:rPr lang="en-US" altLang="zh-CN" sz="2800" dirty="0" err="1">
                <a:latin typeface="微软雅黑" panose="020B0503020204020204" pitchFamily="34" charset="-122"/>
                <a:ea typeface="微软雅黑" panose="020B0503020204020204" pitchFamily="34" charset="-122"/>
              </a:rPr>
              <a:t>SystemExitClass</a:t>
            </a:r>
            <a:r>
              <a:rPr lang="zh-CN" altLang="en-US" sz="2800" dirty="0">
                <a:latin typeface="微软雅黑" panose="020B0503020204020204" pitchFamily="34" charset="-122"/>
                <a:ea typeface="微软雅黑" panose="020B0503020204020204" pitchFamily="34" charset="-122"/>
              </a:rPr>
              <a:t>类来实现），也可以用于显示帮助文档（由</a:t>
            </a:r>
            <a:r>
              <a:rPr lang="en-US" altLang="zh-CN" sz="2800" dirty="0" err="1">
                <a:latin typeface="微软雅黑" panose="020B0503020204020204" pitchFamily="34" charset="-122"/>
                <a:ea typeface="微软雅黑" panose="020B0503020204020204" pitchFamily="34" charset="-122"/>
              </a:rPr>
              <a:t>DisplayHelpClass</a:t>
            </a:r>
            <a:r>
              <a:rPr lang="zh-CN" altLang="en-US" sz="2800" dirty="0">
                <a:latin typeface="微软雅黑" panose="020B0503020204020204" pitchFamily="34" charset="-122"/>
                <a:ea typeface="微软雅黑" panose="020B0503020204020204" pitchFamily="34" charset="-122"/>
              </a:rPr>
              <a:t>类来实现）。</a:t>
            </a:r>
            <a:endParaRPr lang="zh-CN" altLang="en-US" sz="2800" dirty="0">
              <a:latin typeface="微软雅黑" panose="020B0503020204020204" pitchFamily="34" charset="-122"/>
              <a:ea typeface="微软雅黑" panose="020B0503020204020204" pitchFamily="34" charset="-122"/>
            </a:endParaRPr>
          </a:p>
          <a:p>
            <a:pPr marL="1257300" lvl="2" indent="-342900" algn="l">
              <a:lnSpc>
                <a:spcPct val="150000"/>
              </a:lnSpc>
              <a:spcBef>
                <a:spcPts val="0"/>
              </a:spcBef>
              <a:buClr>
                <a:srgbClr val="EC7328"/>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用户可以通过修改配置文件来改变功能键的用途，现使用命令模式来设计该系统，使得功能键类与功能类之间解耦，可为同一个功能键设置不同的功能。</a:t>
            </a:r>
            <a:endParaRPr lang="zh-CN" altLang="en-US" sz="2800" dirty="0">
              <a:latin typeface="微软雅黑" panose="020B0503020204020204" pitchFamily="34" charset="-122"/>
              <a:ea typeface="微软雅黑" panose="020B0503020204020204" pitchFamily="34" charset="-122"/>
            </a:endParaRPr>
          </a:p>
        </p:txBody>
      </p:sp>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10543" y="1136204"/>
            <a:ext cx="11521280" cy="5245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236079" y="900913"/>
            <a:ext cx="9823536" cy="202482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r>
              <a:rPr lang="en-US" altLang="zh-CN" sz="2800" b="1" dirty="0" smtClean="0">
                <a:latin typeface="微软雅黑" panose="020B0503020204020204" pitchFamily="34" charset="-122"/>
                <a:ea typeface="微软雅黑" panose="020B0503020204020204" pitchFamily="34" charset="-122"/>
              </a:rPr>
              <a:t>2</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功能键设置：</a:t>
            </a:r>
            <a:r>
              <a:rPr lang="zh-CN" altLang="en-US" sz="2800" dirty="0" smtClean="0">
                <a:latin typeface="微软雅黑" panose="020B0503020204020204" pitchFamily="34" charset="-122"/>
                <a:ea typeface="微软雅黑" panose="020B0503020204020204" pitchFamily="34" charset="-122"/>
              </a:rPr>
              <a:t>参考代码</a:t>
            </a:r>
            <a:endParaRPr lang="en-US" altLang="zh-CN" sz="2800" dirty="0" smtClean="0">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en-US" altLang="zh-CN" sz="2800" dirty="0" err="1" smtClean="0">
                <a:latin typeface="微软雅黑" panose="020B0503020204020204" pitchFamily="34" charset="-122"/>
                <a:ea typeface="微软雅黑" panose="020B0503020204020204" pitchFamily="34" charset="-122"/>
              </a:rPr>
              <a:t>DesignPatterns</a:t>
            </a:r>
            <a:r>
              <a:rPr lang="zh-CN" altLang="en-US" sz="2800" dirty="0" smtClean="0">
                <a:latin typeface="微软雅黑" panose="020B0503020204020204" pitchFamily="34" charset="-122"/>
                <a:ea typeface="微软雅黑" panose="020B0503020204020204" pitchFamily="34" charset="-122"/>
              </a:rPr>
              <a:t>之</a:t>
            </a:r>
            <a:r>
              <a:rPr lang="en-US" altLang="zh-CN" sz="2800" dirty="0">
                <a:latin typeface="微软雅黑" panose="020B0503020204020204" pitchFamily="34" charset="-122"/>
                <a:ea typeface="微软雅黑" panose="020B0503020204020204" pitchFamily="34" charset="-122"/>
              </a:rPr>
              <a:t>command2</a:t>
            </a:r>
            <a:r>
              <a:rPr lang="zh-CN" altLang="en-US" sz="2800" dirty="0" smtClean="0">
                <a:latin typeface="微软雅黑" panose="020B0503020204020204" pitchFamily="34" charset="-122"/>
                <a:ea typeface="微软雅黑" panose="020B0503020204020204" pitchFamily="34" charset="-122"/>
              </a:rPr>
              <a:t>包</a:t>
            </a:r>
            <a:endParaRPr lang="en-US" altLang="zh-CN" sz="2400" b="1" dirty="0" smtClean="0">
              <a:latin typeface="微软雅黑" panose="020B0503020204020204" pitchFamily="34" charset="-122"/>
              <a:ea typeface="微软雅黑" panose="020B0503020204020204" pitchFamily="34" charset="-122"/>
            </a:endParaRPr>
          </a:p>
        </p:txBody>
      </p:sp>
      <p:grpSp>
        <p:nvGrpSpPr>
          <p:cNvPr id="8" name="Group 5"/>
          <p:cNvGrpSpPr/>
          <p:nvPr/>
        </p:nvGrpSpPr>
        <p:grpSpPr bwMode="auto">
          <a:xfrm>
            <a:off x="4031468" y="3141762"/>
            <a:ext cx="4193480" cy="2044450"/>
            <a:chOff x="2381" y="3283"/>
            <a:chExt cx="1361" cy="510"/>
          </a:xfrm>
        </p:grpSpPr>
        <p:pic>
          <p:nvPicPr>
            <p:cNvPr id="9" name="Picture 6" descr="gif005"/>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2381" y="3283"/>
              <a:ext cx="252"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7"/>
            <p:cNvSpPr txBox="1">
              <a:spLocks noChangeArrowheads="1"/>
            </p:cNvSpPr>
            <p:nvPr/>
          </p:nvSpPr>
          <p:spPr bwMode="auto">
            <a:xfrm>
              <a:off x="2608" y="3505"/>
              <a:ext cx="1134" cy="146"/>
            </a:xfrm>
            <a:prstGeom prst="rect">
              <a:avLst/>
            </a:prstGeom>
            <a:noFill/>
            <a:ln w="9525">
              <a:noFill/>
              <a:miter lim="800000"/>
            </a:ln>
            <a:effectLst>
              <a:outerShdw dist="35921" dir="2700000" algn="ctr" rotWithShape="0">
                <a:schemeClr val="bg2"/>
              </a:outerShdw>
            </a:effectLst>
          </p:spPr>
          <p:txBody>
            <a:bodyPr>
              <a:spAutoFit/>
            </a:bodyPr>
            <a:lstStyle/>
            <a:p>
              <a:pPr>
                <a:spcBef>
                  <a:spcPct val="50000"/>
                </a:spcBef>
                <a:defRPr/>
              </a:pPr>
              <a:r>
                <a:rPr lang="zh-CN" altLang="en-US" sz="3200" b="1" dirty="0">
                  <a:solidFill>
                    <a:srgbClr val="44B3BE"/>
                  </a:solidFill>
                  <a:latin typeface="华文行楷" panose="02010800040101010101" pitchFamily="2" charset="-122"/>
                  <a:ea typeface="华文行楷" panose="02010800040101010101" pitchFamily="2" charset="-122"/>
                </a:rPr>
                <a:t>演示</a:t>
              </a:r>
              <a:r>
                <a:rPr lang="en-US" altLang="zh-CN" sz="3200" b="1" dirty="0">
                  <a:solidFill>
                    <a:srgbClr val="44B3BE"/>
                  </a:solidFill>
                  <a:latin typeface="Arial" panose="020B0604020202020204"/>
                  <a:ea typeface="华文行楷" panose="02010800040101010101" pitchFamily="2" charset="-122"/>
                </a:rPr>
                <a:t>……</a:t>
              </a:r>
              <a:endParaRPr lang="en-US" altLang="zh-CN" sz="3200" b="1" dirty="0">
                <a:solidFill>
                  <a:srgbClr val="44B3BE"/>
                </a:solidFill>
                <a:latin typeface="华文行楷" panose="02010800040101010101" pitchFamily="2" charset="-122"/>
                <a:ea typeface="华文行楷" panose="02010800040101010101" pitchFamily="2" charset="-122"/>
              </a:endParaRPr>
            </a:p>
          </p:txBody>
        </p:sp>
      </p:grpSp>
      <p:sp>
        <p:nvSpPr>
          <p:cNvPr id="11"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Rectangle 3"/>
          <p:cNvSpPr txBox="1">
            <a:spLocks noChangeArrowheads="1"/>
          </p:cNvSpPr>
          <p:nvPr/>
        </p:nvSpPr>
        <p:spPr>
          <a:xfrm>
            <a:off x="630117" y="693490"/>
            <a:ext cx="11229698" cy="5544616"/>
          </a:xfrm>
          <a:prstGeom prst="rect">
            <a:avLst/>
          </a:prstGeom>
        </p:spPr>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nSpc>
                <a:spcPct val="150000"/>
              </a:lnSpc>
              <a:spcBef>
                <a:spcPts val="0"/>
              </a:spcBef>
            </a:pPr>
            <a:r>
              <a:rPr lang="zh-CN" altLang="en-US" sz="2800" b="1" dirty="0" smtClean="0">
                <a:latin typeface="微软雅黑" panose="020B0503020204020204" pitchFamily="34" charset="-122"/>
                <a:ea typeface="微软雅黑" panose="020B0503020204020204" pitchFamily="34" charset="-122"/>
              </a:rPr>
              <a:t>结果及分析</a:t>
            </a:r>
            <a:endParaRPr lang="en-US" altLang="zh-CN" sz="2800" b="1" dirty="0" smtClean="0">
              <a:latin typeface="微软雅黑" panose="020B0503020204020204" pitchFamily="34" charset="-122"/>
              <a:ea typeface="微软雅黑" panose="020B0503020204020204" pitchFamily="34" charset="-122"/>
            </a:endParaRPr>
          </a:p>
          <a:p>
            <a:pPr lvl="1">
              <a:lnSpc>
                <a:spcPct val="150000"/>
              </a:lnSpc>
              <a:spcBef>
                <a:spcPts val="0"/>
              </a:spcBef>
            </a:pPr>
            <a:r>
              <a:rPr lang="zh-CN" altLang="en-US" sz="2800" dirty="0" smtClean="0">
                <a:latin typeface="微软雅黑" panose="020B0503020204020204" pitchFamily="34" charset="-122"/>
                <a:ea typeface="微软雅黑" panose="020B0503020204020204" pitchFamily="34" charset="-122"/>
              </a:rPr>
              <a:t>如果需要更换具体命令类，无须修改源代码，只需修改</a:t>
            </a:r>
            <a:r>
              <a:rPr lang="zh-CN" altLang="en-US" sz="2800" dirty="0" smtClean="0">
                <a:solidFill>
                  <a:srgbClr val="FF3300"/>
                </a:solidFill>
                <a:latin typeface="微软雅黑" panose="020B0503020204020204" pitchFamily="34" charset="-122"/>
                <a:ea typeface="微软雅黑" panose="020B0503020204020204" pitchFamily="34" charset="-122"/>
              </a:rPr>
              <a:t>配置文件</a:t>
            </a:r>
            <a:r>
              <a:rPr lang="zh-CN" altLang="en-US" sz="2800" dirty="0" smtClean="0">
                <a:latin typeface="微软雅黑" panose="020B0503020204020204" pitchFamily="34" charset="-122"/>
                <a:ea typeface="微软雅黑" panose="020B0503020204020204" pitchFamily="34" charset="-122"/>
              </a:rPr>
              <a:t>，完全</a:t>
            </a:r>
            <a:r>
              <a:rPr lang="zh-CN" altLang="en-US" sz="2800" dirty="0" smtClean="0">
                <a:solidFill>
                  <a:srgbClr val="FF3300"/>
                </a:solidFill>
                <a:latin typeface="微软雅黑" panose="020B0503020204020204" pitchFamily="34" charset="-122"/>
                <a:ea typeface="微软雅黑" panose="020B0503020204020204" pitchFamily="34" charset="-122"/>
              </a:rPr>
              <a:t>符合开闭原则</a:t>
            </a:r>
            <a:endParaRPr lang="en-US" altLang="zh-CN" sz="2800" dirty="0" smtClean="0">
              <a:solidFill>
                <a:srgbClr val="FF3300"/>
              </a:solidFill>
              <a:latin typeface="微软雅黑" panose="020B0503020204020204" pitchFamily="34" charset="-122"/>
              <a:ea typeface="微软雅黑" panose="020B0503020204020204" pitchFamily="34" charset="-122"/>
            </a:endParaRPr>
          </a:p>
          <a:p>
            <a:pPr lvl="1">
              <a:lnSpc>
                <a:spcPct val="150000"/>
              </a:lnSpc>
              <a:spcBef>
                <a:spcPts val="0"/>
              </a:spcBef>
            </a:pPr>
            <a:r>
              <a:rPr lang="zh-CN" altLang="en-US" sz="2800" dirty="0" smtClean="0">
                <a:latin typeface="微软雅黑" panose="020B0503020204020204" pitchFamily="34" charset="-122"/>
                <a:ea typeface="微软雅黑" panose="020B0503020204020204" pitchFamily="34" charset="-122"/>
              </a:rPr>
              <a:t>每一个</a:t>
            </a:r>
            <a:r>
              <a:rPr lang="zh-CN" altLang="en-US" sz="2800" dirty="0" smtClean="0">
                <a:solidFill>
                  <a:srgbClr val="FF3300"/>
                </a:solidFill>
                <a:latin typeface="微软雅黑" panose="020B0503020204020204" pitchFamily="34" charset="-122"/>
                <a:ea typeface="微软雅黑" panose="020B0503020204020204" pitchFamily="34" charset="-122"/>
              </a:rPr>
              <a:t>具体命令类</a:t>
            </a:r>
            <a:r>
              <a:rPr lang="zh-CN" altLang="en-US" sz="2800" dirty="0" smtClean="0">
                <a:latin typeface="微软雅黑" panose="020B0503020204020204" pitchFamily="34" charset="-122"/>
                <a:ea typeface="微软雅黑" panose="020B0503020204020204" pitchFamily="34" charset="-122"/>
              </a:rPr>
              <a:t>对应一个</a:t>
            </a:r>
            <a:r>
              <a:rPr lang="zh-CN" altLang="en-US" sz="2800" dirty="0" smtClean="0">
                <a:solidFill>
                  <a:srgbClr val="FF3300"/>
                </a:solidFill>
                <a:latin typeface="微软雅黑" panose="020B0503020204020204" pitchFamily="34" charset="-122"/>
                <a:ea typeface="微软雅黑" panose="020B0503020204020204" pitchFamily="34" charset="-122"/>
              </a:rPr>
              <a:t>请求的处理者（接收者）</a:t>
            </a:r>
            <a:r>
              <a:rPr lang="zh-CN" altLang="en-US" sz="2800" dirty="0" smtClean="0">
                <a:latin typeface="微软雅黑" panose="020B0503020204020204" pitchFamily="34" charset="-122"/>
                <a:ea typeface="微软雅黑" panose="020B0503020204020204" pitchFamily="34" charset="-122"/>
              </a:rPr>
              <a:t>，通过向请求发送者注入不同的具体命令对象可以使相同的发送者对应不同的接收者，从而实现“</a:t>
            </a:r>
            <a:r>
              <a:rPr lang="zh-CN" altLang="en-US" sz="2800" dirty="0" smtClean="0">
                <a:solidFill>
                  <a:srgbClr val="0070C0"/>
                </a:solidFill>
                <a:latin typeface="微软雅黑" panose="020B0503020204020204" pitchFamily="34" charset="-122"/>
                <a:ea typeface="微软雅黑" panose="020B0503020204020204" pitchFamily="34" charset="-122"/>
              </a:rPr>
              <a:t>将一个请求封装为一个对象，用不同的请求对客户进行参数化</a:t>
            </a:r>
            <a:r>
              <a:rPr lang="zh-CN" altLang="en-US" sz="2800" dirty="0" smtClean="0">
                <a:latin typeface="微软雅黑" panose="020B0503020204020204" pitchFamily="34" charset="-122"/>
                <a:ea typeface="微软雅黑" panose="020B0503020204020204" pitchFamily="34" charset="-122"/>
              </a:rPr>
              <a:t>”，</a:t>
            </a:r>
            <a:r>
              <a:rPr lang="zh-CN" altLang="en-US" sz="2800" dirty="0" smtClean="0">
                <a:solidFill>
                  <a:srgbClr val="FF3300"/>
                </a:solidFill>
                <a:latin typeface="微软雅黑" panose="020B0503020204020204" pitchFamily="34" charset="-122"/>
                <a:ea typeface="微软雅黑" panose="020B0503020204020204" pitchFamily="34" charset="-122"/>
              </a:rPr>
              <a:t>客户端只需要将具体命令对象作为参数注入请求发送者，无须直接操作请求的接收者</a:t>
            </a:r>
            <a:endParaRPr lang="en-US" altLang="zh-CN" sz="2800"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355647" y="837506"/>
            <a:ext cx="11576176" cy="549547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spcBef>
                <a:spcPts val="0"/>
              </a:spcBef>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r>
              <a:rPr lang="en-US" altLang="zh-CN" sz="2800" b="1" dirty="0" smtClean="0">
                <a:latin typeface="微软雅黑" panose="020B0503020204020204" pitchFamily="34" charset="-122"/>
                <a:ea typeface="微软雅黑" panose="020B0503020204020204" pitchFamily="34" charset="-122"/>
              </a:rPr>
              <a:t>3</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spcBef>
                <a:spcPts val="0"/>
              </a:spcBef>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实现命令队列：</a:t>
            </a:r>
            <a:r>
              <a:rPr lang="zh-CN" altLang="en-US" sz="2800" dirty="0">
                <a:latin typeface="微软雅黑" panose="020B0503020204020204" pitchFamily="34" charset="-122"/>
                <a:ea typeface="微软雅黑" panose="020B0503020204020204" pitchFamily="34" charset="-122"/>
              </a:rPr>
              <a:t>实例说明</a:t>
            </a:r>
            <a:endParaRPr lang="en-US" altLang="zh-CN" sz="2800" dirty="0">
              <a:latin typeface="微软雅黑" panose="020B0503020204020204" pitchFamily="34" charset="-122"/>
              <a:ea typeface="微软雅黑" panose="020B0503020204020204" pitchFamily="34" charset="-122"/>
            </a:endParaRPr>
          </a:p>
          <a:p>
            <a:pPr marL="1257300" lvl="2" indent="-342900" algn="l">
              <a:lnSpc>
                <a:spcPct val="150000"/>
              </a:lnSpc>
              <a:spcBef>
                <a:spcPts val="0"/>
              </a:spcBef>
              <a:buClr>
                <a:srgbClr val="EC7328"/>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当一个请求发送者发送一个请求时，有不止一个请求接收者产生响应，这些请求接收者将逐个执行业务方法，完成对请求的处理</a:t>
            </a:r>
            <a:endParaRPr lang="zh-CN" altLang="en-US" sz="2800" dirty="0">
              <a:latin typeface="微软雅黑" panose="020B0503020204020204" pitchFamily="34" charset="-122"/>
              <a:ea typeface="微软雅黑" panose="020B0503020204020204" pitchFamily="34" charset="-122"/>
            </a:endParaRPr>
          </a:p>
          <a:p>
            <a:pPr marL="1257300" lvl="2" indent="-342900" algn="l">
              <a:lnSpc>
                <a:spcPct val="150000"/>
              </a:lnSpc>
              <a:spcBef>
                <a:spcPts val="0"/>
              </a:spcBef>
              <a:buClr>
                <a:srgbClr val="EC7328"/>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增加一个</a:t>
            </a:r>
            <a:r>
              <a:rPr lang="en-US" altLang="zh-CN" sz="2800" dirty="0" err="1">
                <a:latin typeface="微软雅黑" panose="020B0503020204020204" pitchFamily="34" charset="-122"/>
                <a:ea typeface="微软雅黑" panose="020B0503020204020204" pitchFamily="34" charset="-122"/>
              </a:rPr>
              <a:t>CommandQueue</a:t>
            </a:r>
            <a:r>
              <a:rPr lang="zh-CN" altLang="en-US" sz="2800" dirty="0">
                <a:latin typeface="微软雅黑" panose="020B0503020204020204" pitchFamily="34" charset="-122"/>
                <a:ea typeface="微软雅黑" panose="020B0503020204020204" pitchFamily="34" charset="-122"/>
              </a:rPr>
              <a:t>类，由该类负责存储多个命令对象，而不同的命令对象可以对应不同的请求接收者</a:t>
            </a:r>
            <a:endParaRPr lang="zh-CN" altLang="en-US" sz="2800" dirty="0">
              <a:latin typeface="微软雅黑" panose="020B0503020204020204" pitchFamily="34" charset="-122"/>
              <a:ea typeface="微软雅黑" panose="020B0503020204020204" pitchFamily="34" charset="-122"/>
            </a:endParaRPr>
          </a:p>
          <a:p>
            <a:pPr marL="1257300" lvl="2" indent="-342900" algn="l">
              <a:lnSpc>
                <a:spcPct val="150000"/>
              </a:lnSpc>
              <a:spcBef>
                <a:spcPts val="0"/>
              </a:spcBef>
              <a:buClr>
                <a:srgbClr val="EC7328"/>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批处理</a:t>
            </a:r>
            <a:endParaRPr lang="zh-CN" altLang="en-US" sz="2800" dirty="0">
              <a:latin typeface="微软雅黑" panose="020B0503020204020204" pitchFamily="34" charset="-122"/>
              <a:ea typeface="微软雅黑" panose="020B0503020204020204" pitchFamily="34" charset="-122"/>
            </a:endParaRPr>
          </a:p>
          <a:p>
            <a:pPr lvl="2" algn="l">
              <a:lnSpc>
                <a:spcPct val="150000"/>
              </a:lnSpc>
              <a:spcBef>
                <a:spcPts val="0"/>
              </a:spcBef>
              <a:buClr>
                <a:srgbClr val="EC7328"/>
              </a:buClr>
            </a:pPr>
            <a:endParaRPr lang="zh-CN" altLang="en-US" sz="2800" dirty="0">
              <a:latin typeface="微软雅黑" panose="020B0503020204020204" pitchFamily="34" charset="-122"/>
              <a:ea typeface="微软雅黑" panose="020B0503020204020204" pitchFamily="34" charset="-122"/>
            </a:endParaRPr>
          </a:p>
        </p:txBody>
      </p:sp>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5" name="表格 4"/>
          <p:cNvGraphicFramePr>
            <a:graphicFrameLocks noGrp="1"/>
          </p:cNvGraphicFramePr>
          <p:nvPr/>
        </p:nvGraphicFramePr>
        <p:xfrm>
          <a:off x="1058615" y="765498"/>
          <a:ext cx="10729192" cy="6096000"/>
        </p:xfrm>
        <a:graphic>
          <a:graphicData uri="http://schemas.openxmlformats.org/drawingml/2006/table">
            <a:tbl>
              <a:tblPr/>
              <a:tblGrid>
                <a:gridCol w="10729192"/>
              </a:tblGrid>
              <a:tr h="5170754">
                <a:tc>
                  <a:txBody>
                    <a:bodyPr/>
                    <a:lstStyle>
                      <a:lvl1pPr>
                        <a:lnSpc>
                          <a:spcPct val="120000"/>
                        </a:lnSpc>
                        <a:spcBef>
                          <a:spcPct val="20000"/>
                        </a:spcBef>
                        <a:buClr>
                          <a:srgbClr val="FF3300"/>
                        </a:buClr>
                        <a:buFont typeface="Wingdings" panose="05000000000000000000" pitchFamily="2" charset="2"/>
                        <a:defRPr sz="28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defRPr sz="20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defRPr>
                          <a:solidFill>
                            <a:srgbClr val="333333"/>
                          </a:solidFill>
                          <a:latin typeface="Tahoma" panose="020B0604030504040204" pitchFamily="34" charset="0"/>
                          <a:ea typeface="黑体" panose="02010609060101010101" pitchFamily="49" charset="-122"/>
                        </a:defRPr>
                      </a:lvl3pPr>
                      <a:lvl4pPr marL="1600200" indent="-228600">
                        <a:spcBef>
                          <a:spcPct val="20000"/>
                        </a:spcBef>
                        <a:defRPr>
                          <a:solidFill>
                            <a:srgbClr val="4D4D4D"/>
                          </a:solidFill>
                          <a:latin typeface="Arial" panose="020B0604020202020204" pitchFamily="34" charset="0"/>
                          <a:ea typeface="宋体" panose="02010600030101010101" pitchFamily="2" charset="-122"/>
                        </a:defRPr>
                      </a:lvl4pPr>
                      <a:lvl5pPr marL="2057400" indent="-228600">
                        <a:spcBef>
                          <a:spcPct val="20000"/>
                        </a:spcBef>
                        <a:defRPr>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rgbClr val="4D4D4D"/>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public class Invoker {</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zh-CN" altLang="en-US" sz="24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维持一个</a:t>
                      </a:r>
                      <a:r>
                        <a:rPr kumimoji="0" lang="en-US" altLang="zh-CN" sz="2400" b="1" i="0" u="none" strike="noStrike" cap="none" normalizeH="0" baseline="0" dirty="0" err="1"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CommandQueue</a:t>
                      </a:r>
                      <a:r>
                        <a:rPr kumimoji="0" lang="zh-CN" altLang="en-US" sz="24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对象的引用</a:t>
                      </a:r>
                      <a:endParaRPr kumimoji="0" lang="en-US" altLang="zh-CN" sz="24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    private </a:t>
                      </a:r>
                      <a:r>
                        <a:rPr kumimoji="0" lang="en-US" altLang="zh-CN" sz="2800" b="1" i="0" u="none" strike="noStrike" cap="none" normalizeH="0" baseline="0" dirty="0" err="1"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CommandQueue</a:t>
                      </a:r>
                      <a:r>
                        <a:rPr kumimoji="0" lang="en-US" altLang="zh-CN" sz="28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en-US" altLang="zh-CN" sz="2800" b="1" i="0" u="none" strike="noStrike" cap="none" normalizeH="0" baseline="0" dirty="0" err="1"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commandQueue</a:t>
                      </a:r>
                      <a:r>
                        <a:rPr kumimoji="0" lang="en-US" altLang="zh-CN" sz="28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 </a:t>
                      </a:r>
                      <a:endParaRPr kumimoji="0" lang="en-US" altLang="zh-CN" sz="28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构造注入</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public Invoker(</a:t>
                      </a:r>
                      <a:r>
                        <a:rPr kumimoji="0" lang="en-US" altLang="zh-CN" sz="2400" b="1" i="0" u="none" strike="noStrike" cap="none" normalizeH="0" baseline="0" dirty="0" err="1"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CommandQueue</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en-US" altLang="zh-CN" sz="2400" b="1" i="0" u="none" strike="noStrike" cap="none" normalizeH="0" baseline="0" dirty="0" err="1"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commandQueue</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this. </a:t>
                      </a:r>
                      <a:r>
                        <a:rPr kumimoji="0" lang="en-US" altLang="zh-CN" sz="2400" b="1" i="0" u="none" strike="noStrike" cap="none" normalizeH="0" baseline="0" dirty="0" err="1"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commandQueue</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 </a:t>
                      </a:r>
                      <a:r>
                        <a:rPr kumimoji="0" lang="en-US" altLang="zh-CN" sz="2400" b="1" i="0" u="none" strike="noStrike" cap="none" normalizeH="0" baseline="0" dirty="0" err="1"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commandQueue</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设值注入</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public void </a:t>
                      </a:r>
                      <a:r>
                        <a:rPr kumimoji="0" lang="en-US" altLang="zh-CN" sz="2400" b="1" i="0" u="none" strike="noStrike" cap="none" normalizeH="0" baseline="0" dirty="0" err="1"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setCommandQueue</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en-US" altLang="zh-CN" sz="2400" b="1" i="0" u="none" strike="noStrike" cap="none" normalizeH="0" baseline="0" dirty="0" err="1"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CommandQueue</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en-US" altLang="zh-CN" sz="2400" b="1" i="0" u="none" strike="noStrike" cap="none" normalizeH="0" baseline="0" dirty="0" err="1"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commandQueue</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en-US" altLang="zh-CN" sz="2400" b="1" i="0" u="none" strike="noStrike" cap="none" normalizeH="0" baseline="0" dirty="0" err="1"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this.commandQueue</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 </a:t>
                      </a:r>
                      <a:r>
                        <a:rPr kumimoji="0" lang="en-US" altLang="zh-CN" sz="2400" b="1" i="0" u="none" strike="noStrike" cap="none" normalizeH="0" baseline="0" dirty="0" err="1"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commandQueue</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en-US" altLang="zh-CN" sz="24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zh-CN" altLang="en-US" sz="24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调用</a:t>
                      </a:r>
                      <a:r>
                        <a:rPr kumimoji="0" lang="en-US" altLang="zh-CN" sz="2400" b="1" i="0" u="none" strike="noStrike" kern="1200" cap="none" normalizeH="0" baseline="0" dirty="0" err="1"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CommandQueue</a:t>
                      </a:r>
                      <a:r>
                        <a:rPr kumimoji="0" lang="zh-CN" altLang="en-US" sz="24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类的</a:t>
                      </a:r>
                      <a:r>
                        <a:rPr kumimoji="0" lang="en-US" altLang="zh-CN" sz="2400" b="1" i="0" u="none" strike="noStrike" kern="1200"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execute</a:t>
                      </a:r>
                      <a:r>
                        <a:rPr kumimoji="0" lang="en-US" altLang="zh-CN" sz="24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a:t>
                      </a:r>
                      <a:r>
                        <a:rPr kumimoji="0" lang="zh-CN" altLang="en-US" sz="24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方法</a:t>
                      </a:r>
                      <a:r>
                        <a:rPr kumimoji="0" lang="en-US" altLang="zh-CN" sz="24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	</a:t>
                      </a:r>
                      <a:endParaRPr kumimoji="0" lang="en-US" altLang="zh-CN" sz="24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en-US" altLang="zh-CN" sz="28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public void call() {</a:t>
                      </a:r>
                      <a:endParaRPr kumimoji="0" lang="en-US" altLang="zh-CN" sz="28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en-US" altLang="zh-CN" sz="2800" b="1" i="0" u="none" strike="noStrike" cap="none" normalizeH="0" baseline="0" dirty="0" err="1"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commandQueue.execute</a:t>
                      </a:r>
                      <a:r>
                        <a:rPr kumimoji="0" lang="en-US" altLang="zh-CN" sz="28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a:t>
                      </a:r>
                      <a:endParaRPr kumimoji="0" lang="en-US" altLang="zh-CN" sz="28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rPr>
                        <a:t>    }</a:t>
                      </a:r>
                      <a:endParaRPr kumimoji="0" lang="en-US" altLang="zh-CN" sz="2800" b="1" i="0" u="none" strike="noStrike" cap="none" normalizeH="0" baseline="0" dirty="0" smtClean="0">
                        <a:ln>
                          <a:noFill/>
                        </a:ln>
                        <a:solidFill>
                          <a:srgbClr val="FF6600"/>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a:t>
                      </a:r>
                      <a:endParaRPr kumimoji="0" lang="zh-CN"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2"/>
                    </a:solidFill>
                  </a:tcPr>
                </a:tc>
              </a:tr>
            </a:tbl>
          </a:graphicData>
        </a:graphic>
      </p:graphicFrame>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5" name="表格 4"/>
          <p:cNvGraphicFramePr>
            <a:graphicFrameLocks noGrp="1"/>
          </p:cNvGraphicFramePr>
          <p:nvPr/>
        </p:nvGraphicFramePr>
        <p:xfrm>
          <a:off x="554559" y="765498"/>
          <a:ext cx="11377264" cy="6187440"/>
        </p:xfrm>
        <a:graphic>
          <a:graphicData uri="http://schemas.openxmlformats.org/drawingml/2006/table">
            <a:tbl>
              <a:tblPr/>
              <a:tblGrid>
                <a:gridCol w="11377264"/>
              </a:tblGrid>
              <a:tr h="5170754">
                <a:tc>
                  <a:txBody>
                    <a:bodyPr/>
                    <a:lstStyle>
                      <a:lvl1pPr>
                        <a:lnSpc>
                          <a:spcPct val="120000"/>
                        </a:lnSpc>
                        <a:spcBef>
                          <a:spcPct val="20000"/>
                        </a:spcBef>
                        <a:buClr>
                          <a:srgbClr val="FF3300"/>
                        </a:buClr>
                        <a:buFont typeface="Wingdings" panose="05000000000000000000" pitchFamily="2" charset="2"/>
                        <a:defRPr sz="28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defRPr sz="20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defRPr>
                          <a:solidFill>
                            <a:srgbClr val="333333"/>
                          </a:solidFill>
                          <a:latin typeface="Tahoma" panose="020B0604030504040204" pitchFamily="34" charset="0"/>
                          <a:ea typeface="黑体" panose="02010609060101010101" pitchFamily="49" charset="-122"/>
                        </a:defRPr>
                      </a:lvl3pPr>
                      <a:lvl4pPr marL="1600200" indent="-228600">
                        <a:spcBef>
                          <a:spcPct val="20000"/>
                        </a:spcBef>
                        <a:defRPr>
                          <a:solidFill>
                            <a:srgbClr val="4D4D4D"/>
                          </a:solidFill>
                          <a:latin typeface="Arial" panose="020B0604020202020204" pitchFamily="34" charset="0"/>
                          <a:ea typeface="宋体" panose="02010600030101010101" pitchFamily="2" charset="-122"/>
                        </a:defRPr>
                      </a:lvl4pPr>
                      <a:lvl5pPr marL="2057400" indent="-228600">
                        <a:spcBef>
                          <a:spcPct val="20000"/>
                        </a:spcBef>
                        <a:defRPr>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rgbClr val="4D4D4D"/>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public class </a:t>
                      </a:r>
                      <a:r>
                        <a:rPr kumimoji="0" lang="en-US" altLang="zh-CN" sz="2400" b="1" i="0" u="none" strike="noStrike" cap="none" normalizeH="0" baseline="0" dirty="0" err="1"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CommandQueue</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定义一个</a:t>
                      </a:r>
                      <a:r>
                        <a:rPr kumimoji="0" lang="en-US" altLang="zh-CN" sz="2400" b="1" i="0" u="none" strike="noStrike" cap="none" normalizeH="0" baseline="0" dirty="0" err="1"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ArrayList</a:t>
                      </a: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来存储命令队列</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en-US" altLang="zh-CN" sz="2600" b="1" i="0" u="none" strike="noStrike" cap="none" normalizeH="0" baseline="0" dirty="0" smtClean="0">
                          <a:ln>
                            <a:noFill/>
                          </a:ln>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rPr>
                        <a:t>private </a:t>
                      </a:r>
                      <a:r>
                        <a:rPr kumimoji="0" lang="en-US" altLang="zh-CN" sz="2600" b="1" i="0" u="none" strike="noStrike" cap="none" normalizeH="0" baseline="0" dirty="0" err="1" smtClean="0">
                          <a:ln>
                            <a:noFill/>
                          </a:ln>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rPr>
                        <a:t>ArrayList</a:t>
                      </a:r>
                      <a:r>
                        <a:rPr kumimoji="0" lang="en-US" altLang="zh-CN" sz="2600" b="1" i="0" u="none" strike="noStrike" cap="none" normalizeH="0" baseline="0" dirty="0" smtClean="0">
                          <a:ln>
                            <a:noFill/>
                          </a:ln>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rPr>
                        <a:t>&lt;Command&gt; commands = new </a:t>
                      </a:r>
                      <a:r>
                        <a:rPr kumimoji="0" lang="en-US" altLang="zh-CN" sz="2600" b="1" i="0" u="none" strike="noStrike" cap="none" normalizeH="0" baseline="0" dirty="0" err="1" smtClean="0">
                          <a:ln>
                            <a:noFill/>
                          </a:ln>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rPr>
                        <a:t>ArrayList</a:t>
                      </a:r>
                      <a:r>
                        <a:rPr kumimoji="0" lang="en-US" altLang="zh-CN" sz="2600" b="1" i="0" u="none" strike="noStrike" cap="none" normalizeH="0" baseline="0" dirty="0" smtClean="0">
                          <a:ln>
                            <a:noFill/>
                          </a:ln>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rPr>
                        <a:t>&lt;Command&gt;();</a:t>
                      </a:r>
                      <a:endParaRPr kumimoji="0" lang="en-US" altLang="zh-CN" sz="2600" b="1" i="0" u="none" strike="noStrike" cap="none" normalizeH="0" baseline="0" dirty="0" smtClean="0">
                        <a:ln>
                          <a:noFill/>
                        </a:ln>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public void </a:t>
                      </a:r>
                      <a:r>
                        <a:rPr kumimoji="0" lang="en-US" altLang="zh-CN" sz="2400" b="1" i="0" u="none" strike="noStrike" cap="none" normalizeH="0" baseline="0" dirty="0" err="1"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addCommand</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(Command command) {</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en-US" altLang="zh-CN" sz="2400" b="1" i="0" u="none" strike="noStrike" cap="none" normalizeH="0" baseline="0" dirty="0" err="1"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commands.add</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(command);</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	</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public void </a:t>
                      </a:r>
                      <a:r>
                        <a:rPr kumimoji="0" lang="en-US" altLang="zh-CN" sz="2400" b="1" i="0" u="none" strike="noStrike" cap="none" normalizeH="0" baseline="0" dirty="0" err="1"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removeCommand</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(Command command) {</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en-US" altLang="zh-CN" sz="2400" b="1" i="0" u="none" strike="noStrike" cap="none" normalizeH="0" baseline="0" dirty="0" err="1"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commands.remove</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(command);</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循环调用每一个命令对象的</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execute()</a:t>
                      </a: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方法</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en-US" altLang="zh-CN" sz="2800" b="1" i="0" u="none" strike="noStrike" cap="none" normalizeH="0" baseline="0" dirty="0" smtClean="0">
                          <a:ln>
                            <a:noFill/>
                          </a:ln>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rPr>
                        <a:t>public void execute() {</a:t>
                      </a:r>
                      <a:endParaRPr kumimoji="0" lang="en-US" altLang="zh-CN" sz="2800" b="1" i="0" u="none" strike="noStrike" cap="none" normalizeH="0" baseline="0" dirty="0" smtClean="0">
                        <a:ln>
                          <a:noFill/>
                        </a:ln>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smtClean="0">
                          <a:ln>
                            <a:noFill/>
                          </a:ln>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rPr>
                        <a:t>        for (Object command : commands) {</a:t>
                      </a:r>
                      <a:endParaRPr kumimoji="0" lang="en-US" altLang="zh-CN" sz="2800" b="1" i="0" u="none" strike="noStrike" cap="none" normalizeH="0" baseline="0" dirty="0" smtClean="0">
                        <a:ln>
                          <a:noFill/>
                        </a:ln>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smtClean="0">
                          <a:ln>
                            <a:noFill/>
                          </a:ln>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rPr>
                        <a:t>            ((Command)command).execute();</a:t>
                      </a:r>
                      <a:endParaRPr kumimoji="0" lang="en-US" altLang="zh-CN" sz="2800" b="1" i="0" u="none" strike="noStrike" cap="none" normalizeH="0" baseline="0" dirty="0" smtClean="0">
                        <a:ln>
                          <a:noFill/>
                        </a:ln>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smtClean="0">
                          <a:ln>
                            <a:noFill/>
                          </a:ln>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rPr>
                        <a:t>        }</a:t>
                      </a:r>
                      <a:endParaRPr kumimoji="0" lang="en-US" altLang="zh-CN" sz="2800" b="1" i="0" u="none" strike="noStrike" cap="none" normalizeH="0" baseline="0" dirty="0" smtClean="0">
                        <a:ln>
                          <a:noFill/>
                        </a:ln>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smtClean="0">
                          <a:ln>
                            <a:noFill/>
                          </a:ln>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rPr>
                        <a:t>    }</a:t>
                      </a:r>
                      <a:endParaRPr kumimoji="0" lang="en-US" altLang="zh-CN" sz="2800" b="1" i="0" u="none" strike="noStrike" cap="none" normalizeH="0" baseline="0" dirty="0" smtClean="0">
                        <a:ln>
                          <a:noFill/>
                        </a:ln>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a:t>
                      </a:r>
                      <a:endParaRPr kumimoji="0" lang="zh-CN" altLang="zh-CN" sz="2400" b="1" i="0" u="none" strike="noStrike" cap="none" normalizeH="0" baseline="0" dirty="0" smtClean="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2"/>
                    </a:solidFill>
                  </a:tcPr>
                </a:tc>
              </a:tr>
            </a:tbl>
          </a:graphicData>
        </a:graphic>
      </p:graphicFrame>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427655" y="1172042"/>
            <a:ext cx="11144128" cy="427397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命令模式优点：</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solidFill>
                  <a:srgbClr val="EC7328"/>
                </a:solidFill>
                <a:latin typeface="微软雅黑" panose="020B0503020204020204" pitchFamily="34" charset="-122"/>
                <a:ea typeface="微软雅黑" panose="020B0503020204020204" pitchFamily="34" charset="-122"/>
              </a:rPr>
              <a:t>降低</a:t>
            </a:r>
            <a:r>
              <a:rPr lang="zh-CN" altLang="en-US" sz="2800" dirty="0">
                <a:solidFill>
                  <a:srgbClr val="EC7328"/>
                </a:solidFill>
                <a:latin typeface="微软雅黑" panose="020B0503020204020204" pitchFamily="34" charset="-122"/>
                <a:ea typeface="微软雅黑" panose="020B0503020204020204" pitchFamily="34" charset="-122"/>
              </a:rPr>
              <a:t>系统的耦合度</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新的命令可以很容易地加入到系统中，</a:t>
            </a:r>
            <a:r>
              <a:rPr lang="zh-CN" altLang="en-US" sz="2800" dirty="0">
                <a:solidFill>
                  <a:srgbClr val="EC7328"/>
                </a:solidFill>
                <a:latin typeface="微软雅黑" panose="020B0503020204020204" pitchFamily="34" charset="-122"/>
                <a:ea typeface="微软雅黑" panose="020B0503020204020204" pitchFamily="34" charset="-122"/>
              </a:rPr>
              <a:t>符合开闭原则</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可以比较容易地设计一个</a:t>
            </a:r>
            <a:r>
              <a:rPr lang="zh-CN" altLang="en-US" sz="2800" dirty="0">
                <a:solidFill>
                  <a:srgbClr val="EC7328"/>
                </a:solidFill>
                <a:latin typeface="微软雅黑" panose="020B0503020204020204" pitchFamily="34" charset="-122"/>
                <a:ea typeface="微软雅黑" panose="020B0503020204020204" pitchFamily="34" charset="-122"/>
              </a:rPr>
              <a:t>命令队列或宏命令（组合命令）</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为请求的</a:t>
            </a:r>
            <a:r>
              <a:rPr lang="zh-CN" altLang="en-US" sz="2800" dirty="0">
                <a:solidFill>
                  <a:srgbClr val="EC7328"/>
                </a:solidFill>
                <a:latin typeface="微软雅黑" panose="020B0503020204020204" pitchFamily="34" charset="-122"/>
                <a:ea typeface="微软雅黑" panose="020B0503020204020204" pitchFamily="34" charset="-122"/>
              </a:rPr>
              <a:t>撤销</a:t>
            </a:r>
            <a:r>
              <a:rPr lang="en-US" altLang="zh-CN" sz="2800" dirty="0">
                <a:solidFill>
                  <a:srgbClr val="EC7328"/>
                </a:solidFill>
                <a:latin typeface="微软雅黑" panose="020B0503020204020204" pitchFamily="34" charset="-122"/>
                <a:ea typeface="微软雅黑" panose="020B0503020204020204" pitchFamily="34" charset="-122"/>
              </a:rPr>
              <a:t>(Undo)</a:t>
            </a:r>
            <a:r>
              <a:rPr lang="zh-CN" altLang="en-US" sz="2800" dirty="0">
                <a:solidFill>
                  <a:srgbClr val="EC7328"/>
                </a:solidFill>
                <a:latin typeface="微软雅黑" panose="020B0503020204020204" pitchFamily="34" charset="-122"/>
                <a:ea typeface="微软雅黑" panose="020B0503020204020204" pitchFamily="34" charset="-122"/>
              </a:rPr>
              <a:t>和恢复</a:t>
            </a:r>
            <a:r>
              <a:rPr lang="en-US" altLang="zh-CN" sz="2800" dirty="0">
                <a:solidFill>
                  <a:srgbClr val="EC7328"/>
                </a:solidFill>
                <a:latin typeface="微软雅黑" panose="020B0503020204020204" pitchFamily="34" charset="-122"/>
                <a:ea typeface="微软雅黑" panose="020B0503020204020204" pitchFamily="34" charset="-122"/>
              </a:rPr>
              <a:t>(Redo)</a:t>
            </a:r>
            <a:r>
              <a:rPr lang="zh-CN" altLang="en-US" sz="2800" dirty="0">
                <a:solidFill>
                  <a:srgbClr val="EC7328"/>
                </a:solidFill>
                <a:latin typeface="微软雅黑" panose="020B0503020204020204" pitchFamily="34" charset="-122"/>
                <a:ea typeface="微软雅黑" panose="020B0503020204020204" pitchFamily="34" charset="-122"/>
              </a:rPr>
              <a:t>操作</a:t>
            </a:r>
            <a:r>
              <a:rPr lang="zh-CN" altLang="en-US" sz="2800" dirty="0">
                <a:latin typeface="微软雅黑" panose="020B0503020204020204" pitchFamily="34" charset="-122"/>
                <a:ea typeface="微软雅黑" panose="020B0503020204020204" pitchFamily="34" charset="-122"/>
              </a:rPr>
              <a:t>提供了一种设计和实现</a:t>
            </a:r>
            <a:r>
              <a:rPr lang="zh-CN" altLang="en-US" sz="2800" dirty="0" smtClean="0">
                <a:latin typeface="微软雅黑" panose="020B0503020204020204" pitchFamily="34" charset="-122"/>
                <a:ea typeface="微软雅黑" panose="020B0503020204020204" pitchFamily="34" charset="-122"/>
              </a:rPr>
              <a:t>方案</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283639" y="1316058"/>
            <a:ext cx="11144128" cy="24017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命令模式缺点：</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使用</a:t>
            </a:r>
            <a:r>
              <a:rPr lang="zh-CN" altLang="en-US" sz="2800" dirty="0">
                <a:latin typeface="微软雅黑" panose="020B0503020204020204" pitchFamily="34" charset="-122"/>
                <a:ea typeface="微软雅黑" panose="020B0503020204020204" pitchFamily="34" charset="-122"/>
              </a:rPr>
              <a:t>命令模式</a:t>
            </a:r>
            <a:r>
              <a:rPr lang="zh-CN" altLang="en-US" sz="2800" dirty="0">
                <a:solidFill>
                  <a:srgbClr val="EC7328"/>
                </a:solidFill>
                <a:latin typeface="微软雅黑" panose="020B0503020204020204" pitchFamily="34" charset="-122"/>
                <a:ea typeface="微软雅黑" panose="020B0503020204020204" pitchFamily="34" charset="-122"/>
              </a:rPr>
              <a:t>可能会导致某些系统有过多的具体命令类</a:t>
            </a:r>
            <a:r>
              <a:rPr lang="zh-CN" altLang="en-US" sz="2800" dirty="0">
                <a:latin typeface="微软雅黑" panose="020B0503020204020204" pitchFamily="34" charset="-122"/>
                <a:ea typeface="微软雅黑" panose="020B0503020204020204" pitchFamily="34" charset="-122"/>
              </a:rPr>
              <a:t>（针对每一个对请求接收者的调用操作都需要设计一个具体命令类</a:t>
            </a:r>
            <a:r>
              <a:rPr lang="zh-CN" altLang="en-US" sz="2800" dirty="0" smtClean="0">
                <a:latin typeface="微软雅黑" panose="020B0503020204020204" pitchFamily="34" charset="-122"/>
                <a:ea typeface="微软雅黑" panose="020B0503020204020204" pitchFamily="34" charset="-122"/>
              </a:rPr>
              <a:t>）</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499663" y="1172042"/>
            <a:ext cx="11144128" cy="427397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在</a:t>
            </a:r>
            <a:r>
              <a:rPr lang="zh-CN" altLang="en-US" sz="2800" b="1" dirty="0">
                <a:latin typeface="微软雅黑" panose="020B0503020204020204" pitchFamily="34" charset="-122"/>
                <a:ea typeface="微软雅黑" panose="020B0503020204020204" pitchFamily="34" charset="-122"/>
              </a:rPr>
              <a:t>以下情况下可以</a:t>
            </a:r>
            <a:r>
              <a:rPr lang="zh-CN" altLang="en-US" sz="2800" b="1" dirty="0" smtClean="0">
                <a:latin typeface="微软雅黑" panose="020B0503020204020204" pitchFamily="34" charset="-122"/>
                <a:ea typeface="微软雅黑" panose="020B0503020204020204" pitchFamily="34" charset="-122"/>
              </a:rPr>
              <a:t>使用命令模式</a:t>
            </a:r>
            <a:r>
              <a:rPr lang="zh-CN" altLang="en-US" sz="2800" b="1" dirty="0">
                <a:latin typeface="微软雅黑" panose="020B0503020204020204" pitchFamily="34" charset="-122"/>
                <a:ea typeface="微软雅黑" panose="020B0503020204020204" pitchFamily="34" charset="-122"/>
              </a:rPr>
              <a:t>：</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需要</a:t>
            </a:r>
            <a:r>
              <a:rPr lang="zh-CN" altLang="en-US" sz="2800" dirty="0">
                <a:solidFill>
                  <a:srgbClr val="EC7328"/>
                </a:solidFill>
                <a:latin typeface="微软雅黑" panose="020B0503020204020204" pitchFamily="34" charset="-122"/>
                <a:ea typeface="微软雅黑" panose="020B0503020204020204" pitchFamily="34" charset="-122"/>
              </a:rPr>
              <a:t>将请求调用者和请求接收者解耦</a:t>
            </a:r>
            <a:r>
              <a:rPr lang="zh-CN" altLang="en-US" sz="2800" dirty="0">
                <a:latin typeface="微软雅黑" panose="020B0503020204020204" pitchFamily="34" charset="-122"/>
                <a:ea typeface="微软雅黑" panose="020B0503020204020204" pitchFamily="34" charset="-122"/>
              </a:rPr>
              <a:t>，使得调用者和接收者不直接交互</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需要</a:t>
            </a:r>
            <a:r>
              <a:rPr lang="zh-CN" altLang="en-US" sz="2800" dirty="0">
                <a:solidFill>
                  <a:srgbClr val="EC7328"/>
                </a:solidFill>
                <a:latin typeface="微软雅黑" panose="020B0503020204020204" pitchFamily="34" charset="-122"/>
                <a:ea typeface="微软雅黑" panose="020B0503020204020204" pitchFamily="34" charset="-122"/>
              </a:rPr>
              <a:t>在不同的时间指定请求、将请求排队和执行请求</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需要</a:t>
            </a:r>
            <a:r>
              <a:rPr lang="zh-CN" altLang="en-US" sz="2800" dirty="0">
                <a:solidFill>
                  <a:srgbClr val="EC7328"/>
                </a:solidFill>
                <a:latin typeface="微软雅黑" panose="020B0503020204020204" pitchFamily="34" charset="-122"/>
                <a:ea typeface="微软雅黑" panose="020B0503020204020204" pitchFamily="34" charset="-122"/>
              </a:rPr>
              <a:t>支持命令的撤销</a:t>
            </a:r>
            <a:r>
              <a:rPr lang="en-US" altLang="zh-CN" sz="2800" dirty="0">
                <a:solidFill>
                  <a:srgbClr val="EC7328"/>
                </a:solidFill>
                <a:latin typeface="微软雅黑" panose="020B0503020204020204" pitchFamily="34" charset="-122"/>
                <a:ea typeface="微软雅黑" panose="020B0503020204020204" pitchFamily="34" charset="-122"/>
              </a:rPr>
              <a:t>(Undo)</a:t>
            </a:r>
            <a:r>
              <a:rPr lang="zh-CN" altLang="en-US" sz="2800" dirty="0">
                <a:solidFill>
                  <a:srgbClr val="EC7328"/>
                </a:solidFill>
                <a:latin typeface="微软雅黑" panose="020B0503020204020204" pitchFamily="34" charset="-122"/>
                <a:ea typeface="微软雅黑" panose="020B0503020204020204" pitchFamily="34" charset="-122"/>
              </a:rPr>
              <a:t>操作和恢复</a:t>
            </a:r>
            <a:r>
              <a:rPr lang="en-US" altLang="zh-CN" sz="2800" dirty="0">
                <a:solidFill>
                  <a:srgbClr val="EC7328"/>
                </a:solidFill>
                <a:latin typeface="微软雅黑" panose="020B0503020204020204" pitchFamily="34" charset="-122"/>
                <a:ea typeface="微软雅黑" panose="020B0503020204020204" pitchFamily="34" charset="-122"/>
              </a:rPr>
              <a:t>(Redo)</a:t>
            </a:r>
            <a:r>
              <a:rPr lang="zh-CN" altLang="en-US" sz="2800" dirty="0">
                <a:solidFill>
                  <a:srgbClr val="EC7328"/>
                </a:solidFill>
                <a:latin typeface="微软雅黑" panose="020B0503020204020204" pitchFamily="34" charset="-122"/>
                <a:ea typeface="微软雅黑" panose="020B0503020204020204" pitchFamily="34" charset="-122"/>
              </a:rPr>
              <a:t>操作</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需要</a:t>
            </a:r>
            <a:r>
              <a:rPr lang="zh-CN" altLang="en-US" sz="2800" dirty="0">
                <a:latin typeface="微软雅黑" panose="020B0503020204020204" pitchFamily="34" charset="-122"/>
                <a:ea typeface="微软雅黑" panose="020B0503020204020204" pitchFamily="34" charset="-122"/>
              </a:rPr>
              <a:t>将一组操作组合在一起形成</a:t>
            </a:r>
            <a:r>
              <a:rPr lang="zh-CN" altLang="en-US" sz="2800" dirty="0" smtClean="0">
                <a:solidFill>
                  <a:srgbClr val="EC7328"/>
                </a:solidFill>
                <a:latin typeface="微软雅黑" panose="020B0503020204020204" pitchFamily="34" charset="-122"/>
                <a:ea typeface="微软雅黑" panose="020B0503020204020204" pitchFamily="34" charset="-122"/>
              </a:rPr>
              <a:t>宏命令</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914599" y="837506"/>
            <a:ext cx="10729191" cy="5632311"/>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模式应用</a:t>
            </a:r>
            <a:r>
              <a:rPr lang="zh-CN" altLang="en-US" b="1" dirty="0" smtClean="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Java</a:t>
            </a:r>
            <a:r>
              <a:rPr lang="zh-CN" altLang="en-US" dirty="0">
                <a:latin typeface="微软雅黑" panose="020B0503020204020204" pitchFamily="34" charset="-122"/>
                <a:ea typeface="微软雅黑" panose="020B0503020204020204" pitchFamily="34" charset="-122"/>
              </a:rPr>
              <a:t>语言使用命令模式实现</a:t>
            </a:r>
            <a:r>
              <a:rPr lang="en-US" altLang="zh-CN" dirty="0">
                <a:latin typeface="微软雅黑" panose="020B0503020204020204" pitchFamily="34" charset="-122"/>
                <a:ea typeface="微软雅黑" panose="020B0503020204020204" pitchFamily="34" charset="-122"/>
              </a:rPr>
              <a:t>AWT/Swing GUI</a:t>
            </a:r>
            <a:r>
              <a:rPr lang="zh-CN" altLang="en-US" dirty="0">
                <a:latin typeface="微软雅黑" panose="020B0503020204020204" pitchFamily="34" charset="-122"/>
                <a:ea typeface="微软雅黑" panose="020B0503020204020204" pitchFamily="34" charset="-122"/>
              </a:rPr>
              <a:t>的委派事件模型</a:t>
            </a:r>
            <a:r>
              <a:rPr lang="en-US" altLang="zh-CN" dirty="0">
                <a:latin typeface="微软雅黑" panose="020B0503020204020204" pitchFamily="34" charset="-122"/>
                <a:ea typeface="微软雅黑" panose="020B0503020204020204" pitchFamily="34" charset="-122"/>
              </a:rPr>
              <a:t>(Delegation Event Model</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DEM)</a:t>
            </a:r>
            <a:r>
              <a:rPr lang="zh-CN" altLang="en-US"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AWT/Swing</a:t>
            </a:r>
            <a:r>
              <a:rPr lang="zh-CN" altLang="en-US" dirty="0">
                <a:latin typeface="微软雅黑" panose="020B0503020204020204" pitchFamily="34" charset="-122"/>
                <a:ea typeface="微软雅黑" panose="020B0503020204020204" pitchFamily="34" charset="-122"/>
              </a:rPr>
              <a:t>中，</a:t>
            </a:r>
            <a:r>
              <a:rPr lang="en-US" altLang="zh-CN" dirty="0">
                <a:latin typeface="微软雅黑" panose="020B0503020204020204" pitchFamily="34" charset="-122"/>
                <a:ea typeface="微软雅黑" panose="020B0503020204020204" pitchFamily="34" charset="-122"/>
              </a:rPr>
              <a:t>Frame</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Button</a:t>
            </a:r>
            <a:r>
              <a:rPr lang="zh-CN" altLang="en-US" dirty="0">
                <a:latin typeface="微软雅黑" panose="020B0503020204020204" pitchFamily="34" charset="-122"/>
                <a:ea typeface="微软雅黑" panose="020B0503020204020204" pitchFamily="34" charset="-122"/>
              </a:rPr>
              <a:t>等界面组件是请求发送者，而</a:t>
            </a:r>
            <a:r>
              <a:rPr lang="en-US" altLang="zh-CN" dirty="0">
                <a:latin typeface="微软雅黑" panose="020B0503020204020204" pitchFamily="34" charset="-122"/>
                <a:ea typeface="微软雅黑" panose="020B0503020204020204" pitchFamily="34" charset="-122"/>
              </a:rPr>
              <a:t>AWT</a:t>
            </a:r>
            <a:r>
              <a:rPr lang="zh-CN" altLang="en-US" dirty="0">
                <a:latin typeface="微软雅黑" panose="020B0503020204020204" pitchFamily="34" charset="-122"/>
                <a:ea typeface="微软雅黑" panose="020B0503020204020204" pitchFamily="34" charset="-122"/>
              </a:rPr>
              <a:t>提供的事件监听器接口和事件适配器类是抽象命令接口，用户可以自己写抽象命令接口的子类来实现事件处理，即实现具体命令类，而在具体命令类中可以调用业务处理方法来实现该事件的处理。对于界面组件而言，只需要了解命令接口即可，无须关心接口的实现，组件类并不关心实际操作，而操作由用户来实现。在实现时，可以结合观察者模式，将具体命令对象注册到组件类中，组件在事件触发时将回调（</a:t>
            </a:r>
            <a:r>
              <a:rPr lang="en-US" altLang="zh-CN" dirty="0">
                <a:latin typeface="微软雅黑" panose="020B0503020204020204" pitchFamily="34" charset="-122"/>
                <a:ea typeface="微软雅黑" panose="020B0503020204020204" pitchFamily="34" charset="-122"/>
              </a:rPr>
              <a:t>Callback</a:t>
            </a:r>
            <a:r>
              <a:rPr lang="zh-CN" altLang="en-US" dirty="0">
                <a:latin typeface="微软雅黑" panose="020B0503020204020204" pitchFamily="34" charset="-122"/>
                <a:ea typeface="微软雅黑" panose="020B0503020204020204" pitchFamily="34" charset="-122"/>
              </a:rPr>
              <a:t>）具体命令类中定义的事件处理方法，从而实现事件处理</a:t>
            </a:r>
            <a:r>
              <a:rPr lang="zh-CN" altLang="en-US" dirty="0" smtClean="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14599" y="693490"/>
            <a:ext cx="10729191" cy="2677656"/>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模式应用：</a:t>
            </a:r>
            <a:endParaRPr lang="zh-CN" altLang="en-US" sz="2800" b="1" dirty="0">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2</a:t>
            </a:r>
            <a:r>
              <a:rPr lang="zh-CN" altLang="en-US" sz="2800" dirty="0" smtClean="0">
                <a:latin typeface="微软雅黑" panose="020B0503020204020204" pitchFamily="34" charset="-122"/>
                <a:ea typeface="微软雅黑" panose="020B0503020204020204" pitchFamily="34" charset="-122"/>
              </a:rPr>
              <a:t>）很多</a:t>
            </a:r>
            <a:r>
              <a:rPr lang="zh-CN" altLang="en-US" sz="2800" dirty="0">
                <a:latin typeface="微软雅黑" panose="020B0503020204020204" pitchFamily="34" charset="-122"/>
                <a:ea typeface="微软雅黑" panose="020B0503020204020204" pitchFamily="34" charset="-122"/>
              </a:rPr>
              <a:t>系统都提供了宏命令功能，如</a:t>
            </a:r>
            <a:r>
              <a:rPr lang="en-US" altLang="zh-CN" sz="2800" dirty="0">
                <a:latin typeface="微软雅黑" panose="020B0503020204020204" pitchFamily="34" charset="-122"/>
                <a:ea typeface="微软雅黑" panose="020B0503020204020204" pitchFamily="34" charset="-122"/>
              </a:rPr>
              <a:t>UNIX</a:t>
            </a:r>
            <a:r>
              <a:rPr lang="zh-CN" altLang="en-US" sz="2800" dirty="0">
                <a:latin typeface="微软雅黑" panose="020B0503020204020204" pitchFamily="34" charset="-122"/>
                <a:ea typeface="微软雅黑" panose="020B0503020204020204" pitchFamily="34" charset="-122"/>
              </a:rPr>
              <a:t>平台下的</a:t>
            </a:r>
            <a:r>
              <a:rPr lang="en-US" altLang="zh-CN" sz="2800" dirty="0">
                <a:latin typeface="微软雅黑" panose="020B0503020204020204" pitchFamily="34" charset="-122"/>
                <a:ea typeface="微软雅黑" panose="020B0503020204020204" pitchFamily="34" charset="-122"/>
              </a:rPr>
              <a:t>Shell</a:t>
            </a:r>
            <a:r>
              <a:rPr lang="zh-CN" altLang="en-US" sz="2800" dirty="0">
                <a:latin typeface="微软雅黑" panose="020B0503020204020204" pitchFamily="34" charset="-122"/>
                <a:ea typeface="微软雅黑" panose="020B0503020204020204" pitchFamily="34" charset="-122"/>
              </a:rPr>
              <a:t>编程，可以将多条命令封装在一个命令对象中，只需要一条简单的命令即可执行一个命令序列，这也是命令模式的应用实例</a:t>
            </a:r>
            <a:r>
              <a:rPr lang="zh-CN" altLang="en-US" sz="2800" dirty="0" smtClean="0">
                <a:latin typeface="微软雅黑" panose="020B0503020204020204" pitchFamily="34" charset="-122"/>
                <a:ea typeface="微软雅黑" panose="020B0503020204020204" pitchFamily="34" charset="-122"/>
              </a:rPr>
              <a:t>之一。</a:t>
            </a:r>
            <a:endParaRPr lang="zh-CN" altLang="en-US" sz="2800" dirty="0">
              <a:latin typeface="微软雅黑" panose="020B0503020204020204" pitchFamily="34" charset="-122"/>
              <a:ea typeface="微软雅黑" panose="020B0503020204020204" pitchFamily="34" charset="-122"/>
            </a:endParaRPr>
          </a:p>
        </p:txBody>
      </p:sp>
      <p:sp>
        <p:nvSpPr>
          <p:cNvPr id="4"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30623" y="771645"/>
            <a:ext cx="10729191" cy="738664"/>
          </a:xfrm>
          <a:prstGeom prst="rect">
            <a:avLst/>
          </a:prstGeom>
        </p:spPr>
        <p:txBody>
          <a:bodyPr wrap="square">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1</a:t>
            </a:r>
            <a:r>
              <a:rPr lang="zh-CN" altLang="en-US" sz="2800" b="1" dirty="0" smtClean="0">
                <a:latin typeface="微软雅黑" panose="020B0503020204020204" pitchFamily="34" charset="-122"/>
                <a:ea typeface="微软雅黑" panose="020B0503020204020204" pitchFamily="34" charset="-122"/>
              </a:rPr>
              <a:t>）撤销操作的实现</a:t>
            </a:r>
            <a:endParaRPr lang="en-US" altLang="zh-CN" sz="2800" b="1" dirty="0" smtClean="0">
              <a:latin typeface="微软雅黑" panose="020B0503020204020204" pitchFamily="34" charset="-122"/>
              <a:ea typeface="微软雅黑" panose="020B0503020204020204" pitchFamily="34" charset="-122"/>
            </a:endParaRPr>
          </a:p>
        </p:txBody>
      </p:sp>
      <p:sp>
        <p:nvSpPr>
          <p:cNvPr id="4"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p:cNvSpPr/>
          <p:nvPr/>
        </p:nvSpPr>
        <p:spPr>
          <a:xfrm>
            <a:off x="50503" y="1510309"/>
            <a:ext cx="11393160" cy="5262245"/>
          </a:xfrm>
          <a:prstGeom prst="rect">
            <a:avLst/>
          </a:prstGeom>
        </p:spPr>
        <p:txBody>
          <a:bodyPr wrap="square">
            <a:spAutoFit/>
          </a:bodyPr>
          <a:lstStyle/>
          <a:p>
            <a:pPr marL="1066800" lvl="1" indent="-457200">
              <a:lnSpc>
                <a:spcPct val="150000"/>
              </a:lnSpc>
              <a:buFont typeface="Wingdings" panose="05000000000000000000" pitchFamily="2" charset="2"/>
              <a:buChar char="l"/>
            </a:pPr>
            <a:r>
              <a:rPr lang="zh-CN" altLang="en-US" sz="2800" dirty="0">
                <a:latin typeface="微软雅黑" panose="020B0503020204020204" pitchFamily="34" charset="-122"/>
                <a:ea typeface="微软雅黑" panose="020B0503020204020204" pitchFamily="34" charset="-122"/>
              </a:rPr>
              <a:t>可以通过对命令类进行修改使得系统支持</a:t>
            </a:r>
            <a:r>
              <a:rPr lang="zh-CN" altLang="en-US" sz="2800" dirty="0">
                <a:solidFill>
                  <a:srgbClr val="FF3300"/>
                </a:solidFill>
                <a:latin typeface="微软雅黑" panose="020B0503020204020204" pitchFamily="34" charset="-122"/>
                <a:ea typeface="微软雅黑" panose="020B0503020204020204" pitchFamily="34" charset="-122"/>
              </a:rPr>
              <a:t>撤销</a:t>
            </a:r>
            <a:r>
              <a:rPr lang="en-US" altLang="zh-CN" sz="2800" dirty="0">
                <a:solidFill>
                  <a:srgbClr val="FF3300"/>
                </a:solidFill>
                <a:latin typeface="微软雅黑" panose="020B0503020204020204" pitchFamily="34" charset="-122"/>
                <a:ea typeface="微软雅黑" panose="020B0503020204020204" pitchFamily="34" charset="-122"/>
              </a:rPr>
              <a:t>(Undo)</a:t>
            </a:r>
            <a:r>
              <a:rPr lang="zh-CN" altLang="en-US" sz="2800" dirty="0">
                <a:solidFill>
                  <a:srgbClr val="FF3300"/>
                </a:solidFill>
                <a:latin typeface="微软雅黑" panose="020B0503020204020204" pitchFamily="34" charset="-122"/>
                <a:ea typeface="微软雅黑" panose="020B0503020204020204" pitchFamily="34" charset="-122"/>
              </a:rPr>
              <a:t>操作</a:t>
            </a:r>
            <a:r>
              <a:rPr lang="zh-CN" altLang="en-US" sz="2800" dirty="0">
                <a:latin typeface="微软雅黑" panose="020B0503020204020204" pitchFamily="34" charset="-122"/>
                <a:ea typeface="微软雅黑" panose="020B0503020204020204" pitchFamily="34" charset="-122"/>
              </a:rPr>
              <a:t>和</a:t>
            </a:r>
            <a:r>
              <a:rPr lang="zh-CN" altLang="en-US" sz="2800" dirty="0">
                <a:solidFill>
                  <a:srgbClr val="FF3300"/>
                </a:solidFill>
                <a:latin typeface="微软雅黑" panose="020B0503020204020204" pitchFamily="34" charset="-122"/>
                <a:ea typeface="微软雅黑" panose="020B0503020204020204" pitchFamily="34" charset="-122"/>
              </a:rPr>
              <a:t>恢复</a:t>
            </a:r>
            <a:r>
              <a:rPr lang="en-US" altLang="zh-CN" sz="2800" dirty="0">
                <a:solidFill>
                  <a:srgbClr val="FF3300"/>
                </a:solidFill>
                <a:latin typeface="微软雅黑" panose="020B0503020204020204" pitchFamily="34" charset="-122"/>
                <a:ea typeface="微软雅黑" panose="020B0503020204020204" pitchFamily="34" charset="-122"/>
              </a:rPr>
              <a:t>(Redo)</a:t>
            </a:r>
            <a:r>
              <a:rPr lang="zh-CN" altLang="en-US" sz="2800" dirty="0" smtClean="0">
                <a:solidFill>
                  <a:srgbClr val="FF3300"/>
                </a:solidFill>
                <a:latin typeface="微软雅黑" panose="020B0503020204020204" pitchFamily="34" charset="-122"/>
                <a:ea typeface="微软雅黑" panose="020B0503020204020204" pitchFamily="34" charset="-122"/>
              </a:rPr>
              <a:t>操作</a:t>
            </a:r>
            <a:endParaRPr lang="en-US" altLang="zh-CN" sz="2800" dirty="0" smtClean="0">
              <a:solidFill>
                <a:srgbClr val="FF3300"/>
              </a:solidFill>
              <a:latin typeface="微软雅黑" panose="020B0503020204020204" pitchFamily="34" charset="-122"/>
              <a:ea typeface="微软雅黑" panose="020B0503020204020204" pitchFamily="34" charset="-122"/>
            </a:endParaRPr>
          </a:p>
          <a:p>
            <a:pPr marL="1066800" lvl="1" indent="-457200">
              <a:lnSpc>
                <a:spcPct val="150000"/>
              </a:lnSpc>
              <a:buFont typeface="Wingdings" panose="05000000000000000000" pitchFamily="2" charset="2"/>
              <a:buChar char="l"/>
            </a:pPr>
            <a:r>
              <a:rPr lang="zh-CN" altLang="zh-CN" sz="2800" kern="100" dirty="0">
                <a:latin typeface="微软雅黑" panose="020B0503020204020204" pitchFamily="34" charset="-122"/>
                <a:ea typeface="微软雅黑" panose="020B0503020204020204" pitchFamily="34" charset="-122"/>
                <a:cs typeface="Times New Roman" panose="02020603050405020304"/>
              </a:rPr>
              <a:t>为了能够撤销操作，需要有一个机制来记录所有的命令执行历史。这通常是通过一个命令调用者（Invoker）来完成的，它会维护一个命令栈，这个栈可以用来存储执行过的命令对象。</a:t>
            </a:r>
            <a:endParaRPr lang="zh-CN" altLang="zh-CN" sz="2800" kern="100" dirty="0">
              <a:latin typeface="微软雅黑" panose="020B0503020204020204" pitchFamily="34" charset="-122"/>
              <a:ea typeface="微软雅黑" panose="020B0503020204020204" pitchFamily="34" charset="-122"/>
              <a:cs typeface="Times New Roman" panose="02020603050405020304"/>
            </a:endParaRPr>
          </a:p>
          <a:p>
            <a:pPr marL="1066800" lvl="1" indent="-457200">
              <a:lnSpc>
                <a:spcPct val="150000"/>
              </a:lnSpc>
              <a:buFont typeface="Wingdings" panose="05000000000000000000" pitchFamily="2" charset="2"/>
              <a:buChar char="l"/>
            </a:pPr>
            <a:r>
              <a:rPr lang="zh-CN" altLang="zh-CN" sz="2800" kern="100" dirty="0">
                <a:latin typeface="微软雅黑" panose="020B0503020204020204" pitchFamily="34" charset="-122"/>
                <a:ea typeface="微软雅黑" panose="020B0503020204020204" pitchFamily="34" charset="-122"/>
                <a:cs typeface="Times New Roman" panose="02020603050405020304"/>
              </a:rPr>
              <a:t>当执行一个命令时，调用者将该命令压入命令栈中并调用其execute()方法。当需要撤销时，从栈顶弹出最近的命令，并调用其undo()方法。</a:t>
            </a:r>
            <a:endParaRPr lang="zh-CN" altLang="zh-CN" sz="2800" kern="100" dirty="0">
              <a:latin typeface="微软雅黑" panose="020B0503020204020204" pitchFamily="34" charset="-122"/>
              <a:ea typeface="微软雅黑" panose="020B0503020204020204" pitchFamily="34" charset="-122"/>
              <a:cs typeface="Times New Roman" panose="02020603050405020304"/>
            </a:endParaRPr>
          </a:p>
        </p:txBody>
      </p:sp>
    </p:spTree>
  </p:cSld>
  <p:clrMapOvr>
    <a:masterClrMapping/>
  </p:clrMapOvr>
  <p:transition spd="slow" advTm="0">
    <p:wip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30623" y="771645"/>
            <a:ext cx="10729191" cy="738664"/>
          </a:xfrm>
          <a:prstGeom prst="rect">
            <a:avLst/>
          </a:prstGeom>
        </p:spPr>
        <p:txBody>
          <a:bodyPr wrap="square">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1</a:t>
            </a:r>
            <a:r>
              <a:rPr lang="zh-CN" altLang="en-US" sz="2800" b="1" dirty="0" smtClean="0">
                <a:latin typeface="微软雅黑" panose="020B0503020204020204" pitchFamily="34" charset="-122"/>
                <a:ea typeface="微软雅黑" panose="020B0503020204020204" pitchFamily="34" charset="-122"/>
              </a:rPr>
              <a:t>）撤销操作的实现</a:t>
            </a:r>
            <a:endParaRPr lang="en-US" altLang="zh-CN" sz="2800" b="1" dirty="0" smtClean="0">
              <a:latin typeface="微软雅黑" panose="020B0503020204020204" pitchFamily="34" charset="-122"/>
              <a:ea typeface="微软雅黑" panose="020B0503020204020204" pitchFamily="34" charset="-122"/>
            </a:endParaRPr>
          </a:p>
        </p:txBody>
      </p:sp>
      <p:sp>
        <p:nvSpPr>
          <p:cNvPr id="4"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 y="1543302"/>
            <a:ext cx="11246125" cy="4910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30623" y="693490"/>
            <a:ext cx="10729191" cy="738664"/>
          </a:xfrm>
          <a:prstGeom prst="rect">
            <a:avLst/>
          </a:prstGeom>
        </p:spPr>
        <p:txBody>
          <a:bodyPr wrap="square">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2</a:t>
            </a:r>
            <a:r>
              <a:rPr lang="zh-CN" altLang="en-US" sz="2800" b="1" dirty="0" smtClean="0">
                <a:latin typeface="微软雅黑" panose="020B0503020204020204" pitchFamily="34" charset="-122"/>
                <a:ea typeface="微软雅黑" panose="020B0503020204020204" pitchFamily="34" charset="-122"/>
              </a:rPr>
              <a:t>）宏命令</a:t>
            </a:r>
            <a:endParaRPr lang="en-US" altLang="zh-CN" sz="2800" b="1" dirty="0" smtClean="0">
              <a:latin typeface="微软雅黑" panose="020B0503020204020204" pitchFamily="34" charset="-122"/>
              <a:ea typeface="微软雅黑" panose="020B0503020204020204" pitchFamily="34" charset="-122"/>
            </a:endParaRPr>
          </a:p>
        </p:txBody>
      </p:sp>
      <p:sp>
        <p:nvSpPr>
          <p:cNvPr id="4"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矩形 1"/>
          <p:cNvSpPr/>
          <p:nvPr/>
        </p:nvSpPr>
        <p:spPr>
          <a:xfrm>
            <a:off x="266527" y="1269554"/>
            <a:ext cx="11809312" cy="5262979"/>
          </a:xfrm>
          <a:prstGeom prst="rect">
            <a:avLst/>
          </a:prstGeom>
        </p:spPr>
        <p:txBody>
          <a:bodyPr wrap="square">
            <a:spAutoFit/>
          </a:bodyPr>
          <a:lstStyle/>
          <a:p>
            <a:pPr marL="342900" indent="-342900">
              <a:lnSpc>
                <a:spcPct val="150000"/>
              </a:lnSpc>
              <a:buFont typeface="Wingdings" panose="05000000000000000000" pitchFamily="2" charset="2"/>
              <a:buChar char="ü"/>
            </a:pPr>
            <a:r>
              <a:rPr lang="zh-CN" altLang="en-US" sz="2800" b="1" dirty="0">
                <a:latin typeface="微软雅黑" panose="020B0503020204020204" pitchFamily="34" charset="-122"/>
                <a:ea typeface="微软雅黑" panose="020B0503020204020204" pitchFamily="34" charset="-122"/>
              </a:rPr>
              <a:t>宏命令</a:t>
            </a:r>
            <a:r>
              <a:rPr lang="en-US" altLang="zh-CN" sz="2800" b="1" dirty="0">
                <a:latin typeface="微软雅黑" panose="020B0503020204020204" pitchFamily="34" charset="-122"/>
                <a:ea typeface="微软雅黑" panose="020B0503020204020204" pitchFamily="34" charset="-122"/>
              </a:rPr>
              <a:t>(Macro Command)</a:t>
            </a:r>
            <a:r>
              <a:rPr lang="zh-CN" altLang="en-US" sz="2800" dirty="0">
                <a:latin typeface="微软雅黑" panose="020B0503020204020204" pitchFamily="34" charset="-122"/>
                <a:ea typeface="微软雅黑" panose="020B0503020204020204" pitchFamily="34" charset="-122"/>
              </a:rPr>
              <a:t>又称为</a:t>
            </a:r>
            <a:r>
              <a:rPr lang="zh-CN" altLang="en-US" sz="2800" b="1" dirty="0">
                <a:latin typeface="微软雅黑" panose="020B0503020204020204" pitchFamily="34" charset="-122"/>
                <a:ea typeface="微软雅黑" panose="020B0503020204020204" pitchFamily="34" charset="-122"/>
              </a:rPr>
              <a:t>组合命令</a:t>
            </a:r>
            <a:r>
              <a:rPr lang="en-US" altLang="zh-CN" sz="2800" dirty="0">
                <a:latin typeface="微软雅黑" panose="020B0503020204020204" pitchFamily="34" charset="-122"/>
                <a:ea typeface="微软雅黑" panose="020B0503020204020204" pitchFamily="34" charset="-122"/>
              </a:rPr>
              <a:t>(Composite Command)</a:t>
            </a:r>
            <a:r>
              <a:rPr lang="zh-CN" altLang="en-US" sz="2800" dirty="0">
                <a:latin typeface="微软雅黑" panose="020B0503020204020204" pitchFamily="34" charset="-122"/>
                <a:ea typeface="微软雅黑" panose="020B0503020204020204" pitchFamily="34" charset="-122"/>
              </a:rPr>
              <a:t>，它是</a:t>
            </a:r>
            <a:r>
              <a:rPr lang="zh-CN" altLang="en-US" sz="2800" b="1" dirty="0">
                <a:solidFill>
                  <a:srgbClr val="FF0000"/>
                </a:solidFill>
                <a:latin typeface="微软雅黑" panose="020B0503020204020204" pitchFamily="34" charset="-122"/>
                <a:ea typeface="微软雅黑" panose="020B0503020204020204" pitchFamily="34" charset="-122"/>
              </a:rPr>
              <a:t>组合模式和命令模式</a:t>
            </a:r>
            <a:r>
              <a:rPr lang="zh-CN" altLang="en-US" sz="2800" dirty="0">
                <a:latin typeface="微软雅黑" panose="020B0503020204020204" pitchFamily="34" charset="-122"/>
                <a:ea typeface="微软雅黑" panose="020B0503020204020204" pitchFamily="34" charset="-122"/>
              </a:rPr>
              <a:t>联用的产物</a:t>
            </a:r>
            <a:endParaRPr lang="zh-CN" altLang="en-US" sz="28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宏命令是一个具体命令类，它</a:t>
            </a:r>
            <a:r>
              <a:rPr lang="zh-CN" altLang="en-US" sz="2800" b="1" dirty="0">
                <a:latin typeface="微软雅黑" panose="020B0503020204020204" pitchFamily="34" charset="-122"/>
                <a:ea typeface="微软雅黑" panose="020B0503020204020204" pitchFamily="34" charset="-122"/>
              </a:rPr>
              <a:t>拥有一个</a:t>
            </a:r>
            <a:r>
              <a:rPr lang="zh-CN" altLang="en-US" sz="2800" b="1" dirty="0">
                <a:solidFill>
                  <a:srgbClr val="FF0000"/>
                </a:solidFill>
                <a:latin typeface="微软雅黑" panose="020B0503020204020204" pitchFamily="34" charset="-122"/>
                <a:ea typeface="微软雅黑" panose="020B0503020204020204" pitchFamily="34" charset="-122"/>
              </a:rPr>
              <a:t>集合</a:t>
            </a:r>
            <a:r>
              <a:rPr lang="zh-CN" altLang="en-US" sz="2800" dirty="0">
                <a:latin typeface="微软雅黑" panose="020B0503020204020204" pitchFamily="34" charset="-122"/>
                <a:ea typeface="微软雅黑" panose="020B0503020204020204" pitchFamily="34" charset="-122"/>
              </a:rPr>
              <a:t>，在该集合中包含了对其他命令对象的引用</a:t>
            </a:r>
            <a:endParaRPr lang="zh-CN" altLang="en-US" sz="28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当调用宏命令的</a:t>
            </a:r>
            <a:r>
              <a:rPr lang="en-US" altLang="zh-CN" sz="2800" dirty="0">
                <a:latin typeface="微软雅黑" panose="020B0503020204020204" pitchFamily="34" charset="-122"/>
                <a:ea typeface="微软雅黑" panose="020B0503020204020204" pitchFamily="34" charset="-122"/>
              </a:rPr>
              <a:t>execute()</a:t>
            </a:r>
            <a:r>
              <a:rPr lang="zh-CN" altLang="en-US" sz="2800" dirty="0">
                <a:latin typeface="微软雅黑" panose="020B0503020204020204" pitchFamily="34" charset="-122"/>
                <a:ea typeface="微软雅黑" panose="020B0503020204020204" pitchFamily="34" charset="-122"/>
              </a:rPr>
              <a:t>方法时，</a:t>
            </a:r>
            <a:r>
              <a:rPr lang="zh-CN" altLang="en-US" sz="2800" b="1" dirty="0">
                <a:latin typeface="微软雅黑" panose="020B0503020204020204" pitchFamily="34" charset="-122"/>
                <a:ea typeface="微软雅黑" panose="020B0503020204020204" pitchFamily="34" charset="-122"/>
              </a:rPr>
              <a:t>将</a:t>
            </a:r>
            <a:r>
              <a:rPr lang="zh-CN" altLang="en-US" sz="2800" b="1" dirty="0">
                <a:solidFill>
                  <a:srgbClr val="FF0000"/>
                </a:solidFill>
                <a:latin typeface="微软雅黑" panose="020B0503020204020204" pitchFamily="34" charset="-122"/>
                <a:ea typeface="微软雅黑" panose="020B0503020204020204" pitchFamily="34" charset="-122"/>
              </a:rPr>
              <a:t>递归调用</a:t>
            </a:r>
            <a:r>
              <a:rPr lang="zh-CN" altLang="en-US" sz="2800" b="1" dirty="0">
                <a:latin typeface="微软雅黑" panose="020B0503020204020204" pitchFamily="34" charset="-122"/>
                <a:ea typeface="微软雅黑" panose="020B0503020204020204" pitchFamily="34" charset="-122"/>
              </a:rPr>
              <a:t>它所包含的每个成员命令的</a:t>
            </a:r>
            <a:r>
              <a:rPr lang="en-US" altLang="zh-CN" sz="2800" b="1" dirty="0">
                <a:latin typeface="微软雅黑" panose="020B0503020204020204" pitchFamily="34" charset="-122"/>
                <a:ea typeface="微软雅黑" panose="020B0503020204020204" pitchFamily="34" charset="-122"/>
              </a:rPr>
              <a:t>execute()</a:t>
            </a:r>
            <a:r>
              <a:rPr lang="zh-CN" altLang="en-US" sz="2800" b="1" dirty="0">
                <a:latin typeface="微软雅黑" panose="020B0503020204020204" pitchFamily="34" charset="-122"/>
                <a:ea typeface="微软雅黑" panose="020B0503020204020204" pitchFamily="34" charset="-122"/>
              </a:rPr>
              <a:t>方法</a:t>
            </a:r>
            <a:r>
              <a:rPr lang="zh-CN" altLang="en-US" sz="2800" dirty="0">
                <a:latin typeface="微软雅黑" panose="020B0503020204020204" pitchFamily="34" charset="-122"/>
                <a:ea typeface="微软雅黑" panose="020B0503020204020204" pitchFamily="34" charset="-122"/>
              </a:rPr>
              <a:t>。一个宏命令的成员可以是简单命令，还可以继续是宏命令</a:t>
            </a:r>
            <a:endParaRPr lang="zh-CN" altLang="en-US" sz="28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执行一个宏命令将触发多个具体命令的执行，从而</a:t>
            </a:r>
            <a:r>
              <a:rPr lang="zh-CN" altLang="en-US" sz="2800" b="1" dirty="0">
                <a:solidFill>
                  <a:srgbClr val="FF0000"/>
                </a:solidFill>
                <a:latin typeface="微软雅黑" panose="020B0503020204020204" pitchFamily="34" charset="-122"/>
                <a:ea typeface="微软雅黑" panose="020B0503020204020204" pitchFamily="34" charset="-122"/>
              </a:rPr>
              <a:t>实现对命令的</a:t>
            </a:r>
            <a:r>
              <a:rPr lang="zh-CN" altLang="en-US" sz="2800" b="1" dirty="0" smtClean="0">
                <a:solidFill>
                  <a:srgbClr val="FF0000"/>
                </a:solidFill>
                <a:latin typeface="微软雅黑" panose="020B0503020204020204" pitchFamily="34" charset="-122"/>
                <a:ea typeface="微软雅黑" panose="020B0503020204020204" pitchFamily="34" charset="-122"/>
              </a:rPr>
              <a:t>批处理</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38537" y="1269554"/>
            <a:ext cx="11593286" cy="540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698575" y="693490"/>
            <a:ext cx="10729191" cy="738664"/>
          </a:xfrm>
          <a:prstGeom prst="rect">
            <a:avLst/>
          </a:prstGeom>
        </p:spPr>
        <p:txBody>
          <a:bodyPr wrap="square">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2</a:t>
            </a:r>
            <a:r>
              <a:rPr lang="zh-CN" altLang="en-US" sz="2800" b="1" dirty="0" smtClean="0">
                <a:latin typeface="微软雅黑" panose="020B0503020204020204" pitchFamily="34" charset="-122"/>
                <a:ea typeface="微软雅黑" panose="020B0503020204020204" pitchFamily="34" charset="-122"/>
              </a:rPr>
              <a:t>）宏命令</a:t>
            </a:r>
            <a:endParaRPr lang="en-US" altLang="zh-CN" sz="2800" b="1" dirty="0" smtClean="0">
              <a:latin typeface="微软雅黑" panose="020B0503020204020204" pitchFamily="34" charset="-122"/>
              <a:ea typeface="微软雅黑" panose="020B0503020204020204" pitchFamily="34" charset="-122"/>
            </a:endParaRPr>
          </a:p>
        </p:txBody>
      </p:sp>
      <p:sp>
        <p:nvSpPr>
          <p:cNvPr id="4"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30623" y="693490"/>
            <a:ext cx="10729191" cy="738664"/>
          </a:xfrm>
          <a:prstGeom prst="rect">
            <a:avLst/>
          </a:prstGeom>
        </p:spPr>
        <p:txBody>
          <a:bodyPr wrap="square">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3</a:t>
            </a:r>
            <a:r>
              <a:rPr lang="zh-CN" altLang="en-US" sz="2800" b="1" dirty="0" smtClean="0">
                <a:latin typeface="微软雅黑" panose="020B0503020204020204" pitchFamily="34" charset="-122"/>
                <a:ea typeface="微软雅黑" panose="020B0503020204020204" pitchFamily="34" charset="-122"/>
              </a:rPr>
              <a:t>）记录请求日志</a:t>
            </a:r>
            <a:endParaRPr lang="en-US" altLang="zh-CN" sz="2800" b="1" dirty="0" smtClean="0">
              <a:latin typeface="微软雅黑" panose="020B0503020204020204" pitchFamily="34" charset="-122"/>
              <a:ea typeface="微软雅黑" panose="020B0503020204020204" pitchFamily="34" charset="-122"/>
            </a:endParaRPr>
          </a:p>
        </p:txBody>
      </p:sp>
      <p:sp>
        <p:nvSpPr>
          <p:cNvPr id="4"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Rectangle 3"/>
          <p:cNvSpPr txBox="1">
            <a:spLocks noChangeArrowheads="1"/>
          </p:cNvSpPr>
          <p:nvPr/>
        </p:nvSpPr>
        <p:spPr>
          <a:xfrm>
            <a:off x="380999" y="1341562"/>
            <a:ext cx="11262791" cy="4557514"/>
          </a:xfrm>
          <a:prstGeom prst="rect">
            <a:avLst/>
          </a:prstGeom>
        </p:spPr>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l"/>
            </a:pPr>
            <a:r>
              <a:rPr lang="zh-CN" altLang="en-US" sz="2800" dirty="0" smtClean="0">
                <a:latin typeface="微软雅黑" panose="020B0503020204020204" pitchFamily="34" charset="-122"/>
                <a:ea typeface="微软雅黑" panose="020B0503020204020204" pitchFamily="34" charset="-122"/>
              </a:rPr>
              <a:t>动机</a:t>
            </a:r>
            <a:endParaRPr lang="en-US" altLang="zh-CN" sz="2800" dirty="0" smtClean="0">
              <a:latin typeface="微软雅黑" panose="020B0503020204020204" pitchFamily="34" charset="-122"/>
              <a:ea typeface="微软雅黑" panose="020B0503020204020204" pitchFamily="34" charset="-122"/>
            </a:endParaRPr>
          </a:p>
          <a:p>
            <a:pPr lvl="1">
              <a:lnSpc>
                <a:spcPct val="150000"/>
              </a:lnSpc>
              <a:spcBef>
                <a:spcPts val="0"/>
              </a:spcBef>
              <a:buFont typeface="Wingdings" panose="05000000000000000000" pitchFamily="2" charset="2"/>
              <a:buChar char="ü"/>
            </a:pPr>
            <a:r>
              <a:rPr lang="zh-CN" altLang="en-US" sz="2800" dirty="0" smtClean="0">
                <a:solidFill>
                  <a:srgbClr val="FF3300"/>
                </a:solidFill>
                <a:latin typeface="微软雅黑" panose="020B0503020204020204" pitchFamily="34" charset="-122"/>
                <a:ea typeface="微软雅黑" panose="020B0503020204020204" pitchFamily="34" charset="-122"/>
              </a:rPr>
              <a:t>将请求的历史记录保存下来</a:t>
            </a:r>
            <a:r>
              <a:rPr lang="zh-CN" altLang="en-US" sz="2800" dirty="0" smtClean="0">
                <a:latin typeface="微软雅黑" panose="020B0503020204020204" pitchFamily="34" charset="-122"/>
                <a:ea typeface="微软雅黑" panose="020B0503020204020204" pitchFamily="34" charset="-122"/>
              </a:rPr>
              <a:t>，通常以</a:t>
            </a:r>
            <a:r>
              <a:rPr lang="zh-CN" altLang="en-US" sz="2800" dirty="0" smtClean="0">
                <a:solidFill>
                  <a:srgbClr val="FF3300"/>
                </a:solidFill>
                <a:latin typeface="微软雅黑" panose="020B0503020204020204" pitchFamily="34" charset="-122"/>
                <a:ea typeface="微软雅黑" panose="020B0503020204020204" pitchFamily="34" charset="-122"/>
              </a:rPr>
              <a:t>日志文件</a:t>
            </a:r>
            <a:r>
              <a:rPr lang="en-US" altLang="zh-CN" sz="2800" dirty="0" smtClean="0">
                <a:solidFill>
                  <a:srgbClr val="FF3300"/>
                </a:solidFill>
                <a:latin typeface="微软雅黑" panose="020B0503020204020204" pitchFamily="34" charset="-122"/>
                <a:ea typeface="微软雅黑" panose="020B0503020204020204" pitchFamily="34" charset="-122"/>
              </a:rPr>
              <a:t>(Log File)</a:t>
            </a:r>
            <a:r>
              <a:rPr lang="zh-CN" altLang="en-US" sz="2800" dirty="0" smtClean="0">
                <a:latin typeface="微软雅黑" panose="020B0503020204020204" pitchFamily="34" charset="-122"/>
                <a:ea typeface="微软雅黑" panose="020B0503020204020204" pitchFamily="34" charset="-122"/>
              </a:rPr>
              <a:t>的形式永久存储在计算机中</a:t>
            </a:r>
            <a:endParaRPr lang="en-US" altLang="zh-CN" sz="2800" dirty="0" smtClean="0">
              <a:latin typeface="微软雅黑" panose="020B0503020204020204" pitchFamily="34" charset="-122"/>
              <a:ea typeface="微软雅黑" panose="020B0503020204020204" pitchFamily="34" charset="-122"/>
            </a:endParaRPr>
          </a:p>
          <a:p>
            <a:pPr lvl="2">
              <a:lnSpc>
                <a:spcPct val="150000"/>
              </a:lnSpc>
              <a:spcBef>
                <a:spcPts val="0"/>
              </a:spcBef>
              <a:buFont typeface="Tahoma" panose="020B0604030504040204" pitchFamily="34" charset="0"/>
              <a:buChar char="•"/>
            </a:pPr>
            <a:r>
              <a:rPr lang="zh-CN" altLang="en-US" sz="2800" dirty="0" smtClean="0">
                <a:latin typeface="微软雅黑" panose="020B0503020204020204" pitchFamily="34" charset="-122"/>
                <a:ea typeface="微软雅黑" panose="020B0503020204020204" pitchFamily="34" charset="-122"/>
              </a:rPr>
              <a:t>为系统提供一种</a:t>
            </a:r>
            <a:r>
              <a:rPr lang="zh-CN" altLang="en-US" sz="2800" dirty="0" smtClean="0">
                <a:solidFill>
                  <a:srgbClr val="FF3300"/>
                </a:solidFill>
                <a:latin typeface="微软雅黑" panose="020B0503020204020204" pitchFamily="34" charset="-122"/>
                <a:ea typeface="微软雅黑" panose="020B0503020204020204" pitchFamily="34" charset="-122"/>
              </a:rPr>
              <a:t>恢复机制</a:t>
            </a:r>
            <a:endParaRPr lang="en-US" altLang="zh-CN" sz="2800" dirty="0" smtClean="0">
              <a:solidFill>
                <a:srgbClr val="FF3300"/>
              </a:solidFill>
              <a:latin typeface="微软雅黑" panose="020B0503020204020204" pitchFamily="34" charset="-122"/>
              <a:ea typeface="微软雅黑" panose="020B0503020204020204" pitchFamily="34" charset="-122"/>
            </a:endParaRPr>
          </a:p>
          <a:p>
            <a:pPr lvl="2">
              <a:lnSpc>
                <a:spcPct val="150000"/>
              </a:lnSpc>
              <a:spcBef>
                <a:spcPts val="0"/>
              </a:spcBef>
              <a:buFont typeface="Tahoma" panose="020B0604030504040204" pitchFamily="34" charset="0"/>
              <a:buChar char="•"/>
            </a:pPr>
            <a:r>
              <a:rPr lang="zh-CN" altLang="en-US" sz="2800" dirty="0" smtClean="0">
                <a:latin typeface="微软雅黑" panose="020B0503020204020204" pitchFamily="34" charset="-122"/>
                <a:ea typeface="微软雅黑" panose="020B0503020204020204" pitchFamily="34" charset="-122"/>
              </a:rPr>
              <a:t>可以用于实现</a:t>
            </a:r>
            <a:r>
              <a:rPr lang="zh-CN" altLang="en-US" sz="2800" dirty="0" smtClean="0">
                <a:solidFill>
                  <a:srgbClr val="FF3300"/>
                </a:solidFill>
                <a:latin typeface="微软雅黑" panose="020B0503020204020204" pitchFamily="34" charset="-122"/>
                <a:ea typeface="微软雅黑" panose="020B0503020204020204" pitchFamily="34" charset="-122"/>
              </a:rPr>
              <a:t>批处理</a:t>
            </a:r>
            <a:endParaRPr lang="en-US" altLang="zh-CN" sz="2800" dirty="0" smtClean="0">
              <a:solidFill>
                <a:srgbClr val="FF3300"/>
              </a:solidFill>
              <a:latin typeface="微软雅黑" panose="020B0503020204020204" pitchFamily="34" charset="-122"/>
              <a:ea typeface="微软雅黑" panose="020B0503020204020204" pitchFamily="34" charset="-122"/>
            </a:endParaRPr>
          </a:p>
          <a:p>
            <a:pPr lvl="2">
              <a:lnSpc>
                <a:spcPct val="150000"/>
              </a:lnSpc>
              <a:spcBef>
                <a:spcPts val="0"/>
              </a:spcBef>
              <a:buFont typeface="Tahoma" panose="020B0604030504040204" pitchFamily="34" charset="0"/>
              <a:buChar char="•"/>
            </a:pPr>
            <a:r>
              <a:rPr lang="zh-CN" altLang="en-US" sz="2800" dirty="0" smtClean="0">
                <a:solidFill>
                  <a:srgbClr val="FF3300"/>
                </a:solidFill>
                <a:latin typeface="微软雅黑" panose="020B0503020204020204" pitchFamily="34" charset="-122"/>
                <a:ea typeface="微软雅黑" panose="020B0503020204020204" pitchFamily="34" charset="-122"/>
              </a:rPr>
              <a:t>防止因为断电或者系统重启等原因造成请求丢失</a:t>
            </a:r>
            <a:r>
              <a:rPr lang="zh-CN" altLang="en-US" sz="2800" dirty="0" smtClean="0">
                <a:latin typeface="微软雅黑" panose="020B0503020204020204" pitchFamily="34" charset="-122"/>
                <a:ea typeface="微软雅黑" panose="020B0503020204020204" pitchFamily="34" charset="-122"/>
              </a:rPr>
              <a:t>，而且可以</a:t>
            </a:r>
            <a:r>
              <a:rPr lang="zh-CN" altLang="en-US" sz="2800" dirty="0" smtClean="0">
                <a:solidFill>
                  <a:srgbClr val="FF3300"/>
                </a:solidFill>
                <a:latin typeface="微软雅黑" panose="020B0503020204020204" pitchFamily="34" charset="-122"/>
                <a:ea typeface="微软雅黑" panose="020B0503020204020204" pitchFamily="34" charset="-122"/>
              </a:rPr>
              <a:t>避免重新发送全部请求时造成某些命令的重复执行</a:t>
            </a:r>
            <a:endParaRPr lang="en-US" altLang="zh-CN" sz="2800" dirty="0" smtClean="0">
              <a:solidFill>
                <a:srgbClr val="FF3300"/>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30623" y="693490"/>
            <a:ext cx="10729191" cy="738664"/>
          </a:xfrm>
          <a:prstGeom prst="rect">
            <a:avLst/>
          </a:prstGeom>
        </p:spPr>
        <p:txBody>
          <a:bodyPr wrap="square">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3</a:t>
            </a:r>
            <a:r>
              <a:rPr lang="zh-CN" altLang="en-US" sz="2800" b="1" dirty="0" smtClean="0">
                <a:latin typeface="微软雅黑" panose="020B0503020204020204" pitchFamily="34" charset="-122"/>
                <a:ea typeface="微软雅黑" panose="020B0503020204020204" pitchFamily="34" charset="-122"/>
              </a:rPr>
              <a:t>）记录请求日志</a:t>
            </a:r>
            <a:endParaRPr lang="en-US" altLang="zh-CN" sz="2800" b="1" dirty="0" smtClean="0">
              <a:latin typeface="微软雅黑" panose="020B0503020204020204" pitchFamily="34" charset="-122"/>
              <a:ea typeface="微软雅黑" panose="020B0503020204020204" pitchFamily="34" charset="-122"/>
            </a:endParaRPr>
          </a:p>
        </p:txBody>
      </p:sp>
      <p:sp>
        <p:nvSpPr>
          <p:cNvPr id="4"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18.5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Rectangle 3"/>
          <p:cNvSpPr txBox="1">
            <a:spLocks noChangeArrowheads="1"/>
          </p:cNvSpPr>
          <p:nvPr/>
        </p:nvSpPr>
        <p:spPr>
          <a:xfrm>
            <a:off x="453008" y="1413570"/>
            <a:ext cx="11190783" cy="2160240"/>
          </a:xfrm>
          <a:prstGeom prst="rect">
            <a:avLst/>
          </a:prstGeom>
        </p:spPr>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l"/>
            </a:pPr>
            <a:r>
              <a:rPr lang="zh-CN" altLang="en-US" sz="2800" dirty="0" smtClean="0">
                <a:latin typeface="微软雅黑" panose="020B0503020204020204" pitchFamily="34" charset="-122"/>
                <a:ea typeface="微软雅黑" panose="020B0503020204020204" pitchFamily="34" charset="-122"/>
              </a:rPr>
              <a:t>实现</a:t>
            </a:r>
            <a:endParaRPr lang="en-US" altLang="zh-CN" sz="2800" dirty="0" smtClean="0">
              <a:latin typeface="微软雅黑" panose="020B0503020204020204" pitchFamily="34" charset="-122"/>
              <a:ea typeface="微软雅黑" panose="020B0503020204020204" pitchFamily="34" charset="-122"/>
            </a:endParaRPr>
          </a:p>
          <a:p>
            <a:pPr lvl="1">
              <a:lnSpc>
                <a:spcPct val="150000"/>
              </a:lnSpc>
              <a:spcBef>
                <a:spcPts val="0"/>
              </a:spcBef>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将发送请求的命令对象</a:t>
            </a:r>
            <a:r>
              <a:rPr lang="zh-CN" altLang="en-US" sz="2800" dirty="0" smtClean="0">
                <a:solidFill>
                  <a:srgbClr val="FF3300"/>
                </a:solidFill>
                <a:latin typeface="微软雅黑" panose="020B0503020204020204" pitchFamily="34" charset="-122"/>
                <a:ea typeface="微软雅黑" panose="020B0503020204020204" pitchFamily="34" charset="-122"/>
              </a:rPr>
              <a:t>通过序列化写到日志文件</a:t>
            </a:r>
            <a:r>
              <a:rPr lang="zh-CN" altLang="en-US" sz="2800" dirty="0" smtClean="0">
                <a:latin typeface="微软雅黑" panose="020B0503020204020204" pitchFamily="34" charset="-122"/>
                <a:ea typeface="微软雅黑" panose="020B0503020204020204" pitchFamily="34" charset="-122"/>
              </a:rPr>
              <a:t>中</a:t>
            </a:r>
            <a:endParaRPr lang="zh-CN" altLang="en-US" sz="2800" dirty="0" smtClean="0">
              <a:latin typeface="微软雅黑" panose="020B0503020204020204" pitchFamily="34" charset="-122"/>
              <a:ea typeface="微软雅黑" panose="020B0503020204020204" pitchFamily="34" charset="-122"/>
            </a:endParaRPr>
          </a:p>
          <a:p>
            <a:pPr lvl="1">
              <a:lnSpc>
                <a:spcPct val="150000"/>
              </a:lnSpc>
              <a:spcBef>
                <a:spcPts val="0"/>
              </a:spcBef>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命令类必须实现接口</a:t>
            </a:r>
            <a:r>
              <a:rPr lang="en-US" altLang="zh-CN" sz="2800" dirty="0" err="1" smtClean="0">
                <a:solidFill>
                  <a:srgbClr val="FF3300"/>
                </a:solidFill>
                <a:latin typeface="微软雅黑" panose="020B0503020204020204" pitchFamily="34" charset="-122"/>
                <a:ea typeface="微软雅黑" panose="020B0503020204020204" pitchFamily="34" charset="-122"/>
              </a:rPr>
              <a:t>Serializable</a:t>
            </a:r>
            <a:endParaRPr lang="zh-CN" altLang="en-US" sz="2800" dirty="0" smtClean="0">
              <a:solidFill>
                <a:srgbClr val="FF33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1660103" y="4023370"/>
            <a:ext cx="7391400" cy="990600"/>
            <a:chOff x="1660103" y="4023370"/>
            <a:chExt cx="7391400" cy="990600"/>
          </a:xfrm>
        </p:grpSpPr>
        <p:sp>
          <p:nvSpPr>
            <p:cNvPr id="7" name="椭圆 6"/>
            <p:cNvSpPr/>
            <p:nvPr/>
          </p:nvSpPr>
          <p:spPr>
            <a:xfrm>
              <a:off x="1660103" y="4099570"/>
              <a:ext cx="2667000" cy="914400"/>
            </a:xfrm>
            <a:prstGeom prst="ellipse">
              <a:avLst/>
            </a:prstGeom>
            <a:solidFill>
              <a:srgbClr val="EDF6F7"/>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800" b="1" dirty="0">
                  <a:solidFill>
                    <a:schemeClr val="tx1"/>
                  </a:solidFill>
                </a:rPr>
                <a:t>命令对象</a:t>
              </a:r>
              <a:endParaRPr lang="zh-CN" altLang="en-US" sz="2800" b="1" dirty="0">
                <a:solidFill>
                  <a:schemeClr val="tx1"/>
                </a:solidFill>
              </a:endParaRPr>
            </a:p>
          </p:txBody>
        </p:sp>
        <p:sp>
          <p:nvSpPr>
            <p:cNvPr id="8" name="矩形 7"/>
            <p:cNvSpPr/>
            <p:nvPr/>
          </p:nvSpPr>
          <p:spPr>
            <a:xfrm>
              <a:off x="6841703" y="4023370"/>
              <a:ext cx="2209800" cy="990600"/>
            </a:xfrm>
            <a:prstGeom prst="rect">
              <a:avLst/>
            </a:prstGeom>
            <a:solidFill>
              <a:srgbClr val="DBD9F7"/>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800" b="1" dirty="0">
                  <a:solidFill>
                    <a:schemeClr val="tx1"/>
                  </a:solidFill>
                </a:rPr>
                <a:t>日志文件</a:t>
              </a:r>
              <a:endParaRPr lang="zh-CN" altLang="en-US" sz="2800" b="1" dirty="0">
                <a:solidFill>
                  <a:schemeClr val="tx1"/>
                </a:solidFill>
              </a:endParaRPr>
            </a:p>
          </p:txBody>
        </p:sp>
        <p:sp>
          <p:nvSpPr>
            <p:cNvPr id="9" name="右箭头 8"/>
            <p:cNvSpPr/>
            <p:nvPr/>
          </p:nvSpPr>
          <p:spPr>
            <a:xfrm>
              <a:off x="4631903" y="4423420"/>
              <a:ext cx="1828800" cy="228600"/>
            </a:xfrm>
            <a:prstGeom prst="rightArrow">
              <a:avLst/>
            </a:prstGeom>
            <a:solidFill>
              <a:srgbClr val="FF3300"/>
            </a:solid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 name="TextBox 7"/>
            <p:cNvSpPr txBox="1">
              <a:spLocks noChangeArrowheads="1"/>
            </p:cNvSpPr>
            <p:nvPr/>
          </p:nvSpPr>
          <p:spPr bwMode="auto">
            <a:xfrm>
              <a:off x="5012903" y="4023370"/>
              <a:ext cx="958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eaLnBrk="1" hangingPunct="1">
                <a:lnSpc>
                  <a:spcPct val="100000"/>
                </a:lnSpc>
                <a:spcBef>
                  <a:spcPct val="0"/>
                </a:spcBef>
                <a:buClrTx/>
                <a:buFontTx/>
                <a:buNone/>
              </a:pPr>
              <a:r>
                <a:rPr lang="zh-CN" altLang="en-US" sz="2000" b="1">
                  <a:solidFill>
                    <a:srgbClr val="FF3300"/>
                  </a:solidFill>
                  <a:latin typeface="Arial" panose="020B0604020202020204" pitchFamily="34" charset="0"/>
                  <a:ea typeface="宋体" panose="02010600030101010101" pitchFamily="2" charset="-122"/>
                </a:rPr>
                <a:t>序列化</a:t>
              </a:r>
              <a:endParaRPr lang="zh-CN" altLang="en-US" sz="2000" b="1">
                <a:solidFill>
                  <a:srgbClr val="FF3300"/>
                </a:solidFill>
                <a:latin typeface="Arial" panose="020B0604020202020204" pitchFamily="34" charset="0"/>
                <a:ea typeface="宋体" panose="02010600030101010101" pitchFamily="2" charset="-122"/>
              </a:endParaRPr>
            </a:p>
          </p:txBody>
        </p:sp>
      </p:grpSp>
    </p:spTree>
  </p:cSld>
  <p:clrMapOvr>
    <a:masterClrMapping/>
  </p:clrMapOvr>
  <p:transition spd="slow" advTm="0">
    <p:wip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07567" y="1014090"/>
            <a:ext cx="7620000" cy="50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advTm="0">
    <p:wipe/>
  </p:transition>
  <p:timing>
    <p:tnLst>
      <p:par>
        <p:cTn id="1" dur="indefinite" restart="never" nodeType="tmRoot"/>
      </p:par>
    </p:tnLst>
  </p:timing>
</p:sld>
</file>

<file path=ppt/tags/tag1.xml><?xml version="1.0" encoding="utf-8"?>
<p:tagLst xmlns:p="http://schemas.openxmlformats.org/presentationml/2006/main">
  <p:tag name="ISPRING_ULTRA_SCORM_SLIDE_COUNT" val="4"/>
  <p:tag name="ISPRING_PRESENTATION_TITLE" val="PowerPoint 演示文稿"/>
  <p:tag name="ISPRING_RESOURCE_PATHS_HASH_PRESENTER" val="af3f2d575d923f6e4ff64f325e7b41567660d7"/>
  <p:tag name="commondata" val="eyJoZGlkIjoiZmIwNTgzN2VkODcyMGZjYmE5ZDczYWZmOTUyYTJjOTMifQ=="/>
</p:tagLst>
</file>

<file path=ppt/theme/theme1.xml><?xml version="1.0" encoding="utf-8"?>
<a:theme xmlns:a="http://schemas.openxmlformats.org/drawingml/2006/main" name="第一PPT，www.1ppt.com">
  <a:themeElements>
    <a:clrScheme name="自定义 107">
      <a:dk1>
        <a:sysClr val="windowText" lastClr="000000"/>
      </a:dk1>
      <a:lt1>
        <a:sysClr val="window" lastClr="FFFFFF"/>
      </a:lt1>
      <a:dk2>
        <a:srgbClr val="1F497D"/>
      </a:dk2>
      <a:lt2>
        <a:srgbClr val="EEECE1"/>
      </a:lt2>
      <a:accent1>
        <a:srgbClr val="0070C0"/>
      </a:accent1>
      <a:accent2>
        <a:srgbClr val="FFC000"/>
      </a:accent2>
      <a:accent3>
        <a:srgbClr val="BFBFBF"/>
      </a:accent3>
      <a:accent4>
        <a:srgbClr val="BFBFBF"/>
      </a:accent4>
      <a:accent5>
        <a:srgbClr val="BFBFB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6258</Words>
  <Application>WPS 演示</Application>
  <PresentationFormat>自定义</PresentationFormat>
  <Paragraphs>453</Paragraphs>
  <Slides>40</Slides>
  <Notes>2</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40</vt:i4>
      </vt:variant>
    </vt:vector>
  </HeadingPairs>
  <TitlesOfParts>
    <vt:vector size="58" baseType="lpstr">
      <vt:lpstr>Arial</vt:lpstr>
      <vt:lpstr>宋体</vt:lpstr>
      <vt:lpstr>Wingdings</vt:lpstr>
      <vt:lpstr>Eras Bold ITC</vt:lpstr>
      <vt:lpstr>微软雅黑</vt:lpstr>
      <vt:lpstr>Arial Unicode MS</vt:lpstr>
      <vt:lpstr>Times New Roman</vt:lpstr>
      <vt:lpstr>黑体</vt:lpstr>
      <vt:lpstr>Times New Roman</vt:lpstr>
      <vt:lpstr>Arial Unicode MS</vt:lpstr>
      <vt:lpstr>Calibri</vt:lpstr>
      <vt:lpstr>华文行楷</vt:lpstr>
      <vt:lpstr>Arial</vt:lpstr>
      <vt:lpstr>Tahoma</vt:lpstr>
      <vt:lpstr>隶书</vt:lpstr>
      <vt:lpstr>楷体_GB2312</vt:lpstr>
      <vt:lpstr>新宋体</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蓝色简洁</dc:title>
  <dc:creator>第一PPT</dc:creator>
  <cp:keywords>www.1ppt.com</cp:keywords>
  <cp:lastModifiedBy>i-sugars</cp:lastModifiedBy>
  <cp:revision>400</cp:revision>
  <dcterms:created xsi:type="dcterms:W3CDTF">2014-08-23T07:50:00Z</dcterms:created>
  <dcterms:modified xsi:type="dcterms:W3CDTF">2024-10-20T18:37:37Z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DF38A177C6CA41C080609B03AFDCDF5F_12</vt:lpwstr>
  </property>
  <property fmtid="{D5CDD505-2E9C-101B-9397-08002B2CF9AE}" pid="3" name="KSOProductBuildVer">
    <vt:lpwstr>2052-12.1.0.18608</vt:lpwstr>
  </property>
</Properties>
</file>