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42" r:id="rId3"/>
    <p:sldId id="437" r:id="rId5"/>
    <p:sldId id="600" r:id="rId6"/>
    <p:sldId id="560" r:id="rId7"/>
    <p:sldId id="536" r:id="rId8"/>
    <p:sldId id="624" r:id="rId9"/>
    <p:sldId id="579" r:id="rId10"/>
    <p:sldId id="571" r:id="rId11"/>
    <p:sldId id="472" r:id="rId12"/>
    <p:sldId id="606" r:id="rId13"/>
    <p:sldId id="587" r:id="rId14"/>
    <p:sldId id="608" r:id="rId15"/>
    <p:sldId id="625" r:id="rId16"/>
    <p:sldId id="605" r:id="rId17"/>
    <p:sldId id="447" r:id="rId18"/>
    <p:sldId id="584" r:id="rId19"/>
    <p:sldId id="548" r:id="rId20"/>
    <p:sldId id="549" r:id="rId21"/>
    <p:sldId id="621" r:id="rId22"/>
    <p:sldId id="627" r:id="rId23"/>
    <p:sldId id="551" r:id="rId24"/>
    <p:sldId id="609" r:id="rId25"/>
    <p:sldId id="448" r:id="rId26"/>
    <p:sldId id="565" r:id="rId27"/>
    <p:sldId id="553" r:id="rId28"/>
    <p:sldId id="554" r:id="rId29"/>
    <p:sldId id="555" r:id="rId30"/>
    <p:sldId id="623" r:id="rId31"/>
    <p:sldId id="628" r:id="rId32"/>
    <p:sldId id="487" r:id="rId33"/>
  </p:sldIdLst>
  <p:sldSz cx="12198350" cy="6859270"/>
  <p:notesSz cx="6858000" cy="9144000"/>
  <p:custDataLst>
    <p:tags r:id="rId37"/>
  </p:custDataLst>
  <p:defaultTextStyle>
    <a:defPPr>
      <a:defRPr lang="zh-CN"/>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2" userDrawn="1">
          <p15:clr>
            <a:srgbClr val="A4A3A4"/>
          </p15:clr>
        </p15:guide>
        <p15:guide id="3" pos="304" userDrawn="1">
          <p15:clr>
            <a:srgbClr val="A4A3A4"/>
          </p15:clr>
        </p15:guide>
        <p15:guide id="4" pos="1892" userDrawn="1">
          <p15:clr>
            <a:srgbClr val="A4A3A4"/>
          </p15:clr>
        </p15:guide>
        <p15:guide id="5" pos="121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DA2"/>
    <a:srgbClr val="FAFAFA"/>
    <a:srgbClr val="FFC400"/>
    <a:srgbClr val="FFD347"/>
    <a:srgbClr val="FFC91D"/>
    <a:srgbClr val="0071C1"/>
    <a:srgbClr val="4144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59" autoAdjust="0"/>
    <p:restoredTop sz="92513" autoAdjust="0"/>
  </p:normalViewPr>
  <p:slideViewPr>
    <p:cSldViewPr showGuides="1">
      <p:cViewPr varScale="1">
        <p:scale>
          <a:sx n="55" d="100"/>
          <a:sy n="55" d="100"/>
        </p:scale>
        <p:origin x="-102" y="-360"/>
      </p:cViewPr>
      <p:guideLst>
        <p:guide orient="horz" pos="2160"/>
        <p:guide pos="3842"/>
        <p:guide pos="304"/>
        <p:guide pos="1892"/>
        <p:guide pos="1211"/>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7" Type="http://schemas.openxmlformats.org/officeDocument/2006/relationships/tags" Target="tags/tag1.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262AE03-6EE8-41FD-8A37-86C6BC5E264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21FD59-C920-460C-B1C9-0346C59420B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1219835" rtl="0" eaLnBrk="1" latinLnBrk="0" hangingPunct="1">
      <a:defRPr sz="1600" kern="1200">
        <a:solidFill>
          <a:schemeClr val="tx1"/>
        </a:solidFill>
        <a:latin typeface="+mn-lt"/>
        <a:ea typeface="+mn-ea"/>
        <a:cs typeface="+mn-cs"/>
      </a:defRPr>
    </a:lvl1pPr>
    <a:lvl2pPr marL="609600" algn="l" defTabSz="1219835" rtl="0" eaLnBrk="1" latinLnBrk="0" hangingPunct="1">
      <a:defRPr sz="1600" kern="1200">
        <a:solidFill>
          <a:schemeClr val="tx1"/>
        </a:solidFill>
        <a:latin typeface="+mn-lt"/>
        <a:ea typeface="+mn-ea"/>
        <a:cs typeface="+mn-cs"/>
      </a:defRPr>
    </a:lvl2pPr>
    <a:lvl3pPr marL="1219835" algn="l" defTabSz="1219835" rtl="0" eaLnBrk="1" latinLnBrk="0" hangingPunct="1">
      <a:defRPr sz="1600" kern="1200">
        <a:solidFill>
          <a:schemeClr val="tx1"/>
        </a:solidFill>
        <a:latin typeface="+mn-lt"/>
        <a:ea typeface="+mn-ea"/>
        <a:cs typeface="+mn-cs"/>
      </a:defRPr>
    </a:lvl3pPr>
    <a:lvl4pPr marL="1829435" algn="l" defTabSz="1219835" rtl="0" eaLnBrk="1" latinLnBrk="0" hangingPunct="1">
      <a:defRPr sz="1600" kern="1200">
        <a:solidFill>
          <a:schemeClr val="tx1"/>
        </a:solidFill>
        <a:latin typeface="+mn-lt"/>
        <a:ea typeface="+mn-ea"/>
        <a:cs typeface="+mn-cs"/>
      </a:defRPr>
    </a:lvl4pPr>
    <a:lvl5pPr marL="2439035" algn="l" defTabSz="1219835" rtl="0" eaLnBrk="1" latinLnBrk="0" hangingPunct="1">
      <a:defRPr sz="1600" kern="1200">
        <a:solidFill>
          <a:schemeClr val="tx1"/>
        </a:solidFill>
        <a:latin typeface="+mn-lt"/>
        <a:ea typeface="+mn-ea"/>
        <a:cs typeface="+mn-cs"/>
      </a:defRPr>
    </a:lvl5pPr>
    <a:lvl6pPr marL="3049270" algn="l" defTabSz="1219835" rtl="0" eaLnBrk="1" latinLnBrk="0" hangingPunct="1">
      <a:defRPr sz="1600" kern="1200">
        <a:solidFill>
          <a:schemeClr val="tx1"/>
        </a:solidFill>
        <a:latin typeface="+mn-lt"/>
        <a:ea typeface="+mn-ea"/>
        <a:cs typeface="+mn-cs"/>
      </a:defRPr>
    </a:lvl6pPr>
    <a:lvl7pPr marL="3658870" algn="l" defTabSz="1219835" rtl="0" eaLnBrk="1" latinLnBrk="0" hangingPunct="1">
      <a:defRPr sz="1600" kern="1200">
        <a:solidFill>
          <a:schemeClr val="tx1"/>
        </a:solidFill>
        <a:latin typeface="+mn-lt"/>
        <a:ea typeface="+mn-ea"/>
        <a:cs typeface="+mn-cs"/>
      </a:defRPr>
    </a:lvl7pPr>
    <a:lvl8pPr marL="4268470" algn="l" defTabSz="1219835" rtl="0" eaLnBrk="1" latinLnBrk="0" hangingPunct="1">
      <a:defRPr sz="1600" kern="1200">
        <a:solidFill>
          <a:schemeClr val="tx1"/>
        </a:solidFill>
        <a:latin typeface="+mn-lt"/>
        <a:ea typeface="+mn-ea"/>
        <a:cs typeface="+mn-cs"/>
      </a:defRPr>
    </a:lvl8pPr>
    <a:lvl9pPr marL="4878705" algn="l" defTabSz="121983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E0E0E2-7263-44C4-AAA9-733DBA7BD20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Tree>
  </p:cSld>
  <p:clrMapOvr>
    <a:masterClrMapping/>
  </p:clrMapOvr>
  <p:transition spd="slow" advTm="0">
    <p:wip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5" name="直接连接符 4"/>
          <p:cNvCxnSpPr/>
          <p:nvPr userDrawn="1"/>
        </p:nvCxnSpPr>
        <p:spPr>
          <a:xfrm>
            <a:off x="1562671" y="693490"/>
            <a:ext cx="10635679"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22511" y="0"/>
            <a:ext cx="1155204" cy="1100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advTm="0">
    <p:wip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918" y="274702"/>
            <a:ext cx="10978515" cy="1143265"/>
          </a:xfrm>
          <a:prstGeom prst="rect">
            <a:avLst/>
          </a:prstGeom>
        </p:spPr>
        <p:txBody>
          <a:bodyPr lIns="121963" tIns="60981" rIns="121963" bIns="60981"/>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4" name="页脚占位符 3"/>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5" name="灯片编号占位符 4"/>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3" name="页脚占位符 2"/>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4" name="灯片编号占位符 3"/>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920" y="273112"/>
            <a:ext cx="4013173" cy="1162320"/>
          </a:xfrm>
          <a:prstGeom prst="rect">
            <a:avLst/>
          </a:prstGeom>
        </p:spPr>
        <p:txBody>
          <a:bodyPr lIns="121963" tIns="60981" rIns="121963" bIns="60981" anchor="b"/>
          <a:lstStyle>
            <a:lvl1pPr algn="l">
              <a:defRPr sz="27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9216" y="273114"/>
            <a:ext cx="6819216" cy="5854469"/>
          </a:xfrm>
          <a:prstGeom prst="rect">
            <a:avLst/>
          </a:prstGeom>
        </p:spPr>
        <p:txBody>
          <a:bodyPr lIns="121963" tIns="60981" rIns="121963" bIns="60981"/>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09920" y="1435434"/>
            <a:ext cx="4013173" cy="4692149"/>
          </a:xfrm>
          <a:prstGeom prst="rect">
            <a:avLst/>
          </a:prstGeom>
        </p:spPr>
        <p:txBody>
          <a:bodyPr lIns="121963" tIns="60981" rIns="121963" bIns="60981"/>
          <a:lstStyle>
            <a:lvl1pPr marL="0" indent="0">
              <a:buNone/>
              <a:defRPr sz="1900"/>
            </a:lvl1pPr>
            <a:lvl2pPr marL="609600" indent="0">
              <a:buNone/>
              <a:defRPr sz="1600"/>
            </a:lvl2pPr>
            <a:lvl3pPr marL="1219835" indent="0">
              <a:buNone/>
              <a:defRPr sz="1300"/>
            </a:lvl3pPr>
            <a:lvl4pPr marL="1829435" indent="0">
              <a:buNone/>
              <a:defRPr sz="1200"/>
            </a:lvl4pPr>
            <a:lvl5pPr marL="2439035" indent="0">
              <a:buNone/>
              <a:defRPr sz="1200"/>
            </a:lvl5pPr>
            <a:lvl6pPr marL="3049270" indent="0">
              <a:buNone/>
              <a:defRPr sz="1200"/>
            </a:lvl6pPr>
            <a:lvl7pPr marL="3658870" indent="0">
              <a:buNone/>
              <a:defRPr sz="1200"/>
            </a:lvl7pPr>
            <a:lvl8pPr marL="4268470" indent="0">
              <a:buNone/>
              <a:defRPr sz="1200"/>
            </a:lvl8pPr>
            <a:lvl9pPr marL="4878705" indent="0">
              <a:buNone/>
              <a:defRPr sz="12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6" name="页脚占位符 5"/>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7" name="灯片编号占位符 6"/>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962" y="4801712"/>
            <a:ext cx="7319010" cy="566870"/>
          </a:xfrm>
          <a:prstGeom prst="rect">
            <a:avLst/>
          </a:prstGeom>
        </p:spPr>
        <p:txBody>
          <a:bodyPr lIns="121963" tIns="60981" rIns="121963" bIns="60981" anchor="b"/>
          <a:lstStyle>
            <a:lvl1pPr algn="l">
              <a:defRPr sz="27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90962" y="612916"/>
            <a:ext cx="7319010" cy="4115753"/>
          </a:xfrm>
          <a:prstGeom prst="rect">
            <a:avLst/>
          </a:prstGeom>
        </p:spPr>
        <p:txBody>
          <a:bodyPr lIns="121963" tIns="60981" rIns="121963" bIns="60981"/>
          <a:lstStyle>
            <a:lvl1pPr marL="0" indent="0">
              <a:buNone/>
              <a:defRPr sz="4300"/>
            </a:lvl1pPr>
            <a:lvl2pPr marL="609600" indent="0">
              <a:buNone/>
              <a:defRPr sz="3700"/>
            </a:lvl2pPr>
            <a:lvl3pPr marL="1219835" indent="0">
              <a:buNone/>
              <a:defRPr sz="3200"/>
            </a:lvl3pPr>
            <a:lvl4pPr marL="1829435" indent="0">
              <a:buNone/>
              <a:defRPr sz="2700"/>
            </a:lvl4pPr>
            <a:lvl5pPr marL="2439035" indent="0">
              <a:buNone/>
              <a:defRPr sz="2700"/>
            </a:lvl5pPr>
            <a:lvl6pPr marL="3049270" indent="0">
              <a:buNone/>
              <a:defRPr sz="2700"/>
            </a:lvl6pPr>
            <a:lvl7pPr marL="3658870" indent="0">
              <a:buNone/>
              <a:defRPr sz="2700"/>
            </a:lvl7pPr>
            <a:lvl8pPr marL="4268470" indent="0">
              <a:buNone/>
              <a:defRPr sz="2700"/>
            </a:lvl8pPr>
            <a:lvl9pPr marL="4878705" indent="0">
              <a:buNone/>
              <a:defRPr sz="2700"/>
            </a:lvl9pPr>
          </a:lstStyle>
          <a:p>
            <a:endParaRPr lang="zh-CN" altLang="en-US"/>
          </a:p>
        </p:txBody>
      </p:sp>
      <p:sp>
        <p:nvSpPr>
          <p:cNvPr id="4" name="文本占位符 3"/>
          <p:cNvSpPr>
            <a:spLocks noGrp="1"/>
          </p:cNvSpPr>
          <p:nvPr>
            <p:ph type="body" sz="half" idx="2"/>
          </p:nvPr>
        </p:nvSpPr>
        <p:spPr>
          <a:xfrm>
            <a:off x="2390962" y="5368581"/>
            <a:ext cx="7319010" cy="805049"/>
          </a:xfrm>
          <a:prstGeom prst="rect">
            <a:avLst/>
          </a:prstGeom>
        </p:spPr>
        <p:txBody>
          <a:bodyPr lIns="121963" tIns="60981" rIns="121963" bIns="60981"/>
          <a:lstStyle>
            <a:lvl1pPr marL="0" indent="0">
              <a:buNone/>
              <a:defRPr sz="1900"/>
            </a:lvl1pPr>
            <a:lvl2pPr marL="609600" indent="0">
              <a:buNone/>
              <a:defRPr sz="1600"/>
            </a:lvl2pPr>
            <a:lvl3pPr marL="1219835" indent="0">
              <a:buNone/>
              <a:defRPr sz="1300"/>
            </a:lvl3pPr>
            <a:lvl4pPr marL="1829435" indent="0">
              <a:buNone/>
              <a:defRPr sz="1200"/>
            </a:lvl4pPr>
            <a:lvl5pPr marL="2439035" indent="0">
              <a:buNone/>
              <a:defRPr sz="1200"/>
            </a:lvl5pPr>
            <a:lvl6pPr marL="3049270" indent="0">
              <a:buNone/>
              <a:defRPr sz="1200"/>
            </a:lvl6pPr>
            <a:lvl7pPr marL="3658870" indent="0">
              <a:buNone/>
              <a:defRPr sz="1200"/>
            </a:lvl7pPr>
            <a:lvl8pPr marL="4268470" indent="0">
              <a:buNone/>
              <a:defRPr sz="1200"/>
            </a:lvl8pPr>
            <a:lvl9pPr marL="4878705" indent="0">
              <a:buNone/>
              <a:defRPr sz="12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6" name="页脚占位符 5"/>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7" name="灯片编号占位符 6"/>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918" y="274702"/>
            <a:ext cx="10978515" cy="1143265"/>
          </a:xfrm>
          <a:prstGeom prst="rect">
            <a:avLst/>
          </a:prstGeom>
        </p:spPr>
        <p:txBody>
          <a:bodyPr lIns="121963" tIns="60981" rIns="121963" bIns="60981"/>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918" y="1600572"/>
            <a:ext cx="10978515" cy="4527011"/>
          </a:xfrm>
          <a:prstGeom prst="rect">
            <a:avLst/>
          </a:prstGeom>
        </p:spPr>
        <p:txBody>
          <a:bodyPr vert="eaVert" lIns="121963" tIns="60981" rIns="121963" bIns="6098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5" name="页脚占位符 4"/>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6" name="灯片编号占位符 5"/>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804" y="206422"/>
            <a:ext cx="2744629" cy="4388867"/>
          </a:xfrm>
          <a:prstGeom prst="rect">
            <a:avLst/>
          </a:prstGeom>
        </p:spPr>
        <p:txBody>
          <a:bodyPr vert="eaVert" lIns="121963" tIns="60981" rIns="121963" bIns="60981"/>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918" y="206422"/>
            <a:ext cx="8030580" cy="4388867"/>
          </a:xfrm>
          <a:prstGeom prst="rect">
            <a:avLst/>
          </a:prstGeom>
        </p:spPr>
        <p:txBody>
          <a:bodyPr vert="eaVert" lIns="121963" tIns="60981" rIns="121963" bIns="6098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5" name="页脚占位符 4"/>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6" name="灯片编号占位符 5"/>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Tree>
  </p:cSld>
  <p:clrMapOvr>
    <a:masterClrMapping/>
  </p:clrMapOvr>
  <p:transition spd="slow" advTm="0">
    <p:wip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slow" advTm="0">
    <p:wipe/>
  </p:transition>
  <p:timing>
    <p:tnLst>
      <p:par>
        <p:cTn id="1" dur="indefinite" restart="never" nodeType="tmRoot"/>
      </p:par>
    </p:tnLst>
  </p:timing>
  <p:txStyles>
    <p:titleStyle>
      <a:lvl1pPr algn="ctr" defTabSz="1219835"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83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emf"/></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emf"/></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emf"/></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screen"/>
          <a:stretch>
            <a:fillRect/>
          </a:stretch>
        </p:blipFill>
        <p:spPr>
          <a:xfrm>
            <a:off x="-616" y="-26590"/>
            <a:ext cx="12193647" cy="6860642"/>
          </a:xfrm>
          <a:prstGeom prst="rect">
            <a:avLst/>
          </a:prstGeom>
        </p:spPr>
      </p:pic>
      <p:cxnSp>
        <p:nvCxnSpPr>
          <p:cNvPr id="25" name="直接连接符 24"/>
          <p:cNvCxnSpPr/>
          <p:nvPr/>
        </p:nvCxnSpPr>
        <p:spPr>
          <a:xfrm>
            <a:off x="5327222" y="4390123"/>
            <a:ext cx="6028912"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582825" y="455097"/>
            <a:ext cx="2152446" cy="861974"/>
          </a:xfrm>
          <a:prstGeom prst="rect">
            <a:avLst/>
          </a:prstGeom>
          <a:noFill/>
        </p:spPr>
        <p:txBody>
          <a:bodyPr wrap="none" lIns="121917" tIns="60958" rIns="121917" bIns="60958" rtlCol="0">
            <a:spAutoFit/>
          </a:bodyPr>
          <a:lstStyle/>
          <a:p>
            <a:r>
              <a:rPr lang="en-US" altLang="zh-CN" sz="4800" dirty="0">
                <a:solidFill>
                  <a:schemeClr val="bg1"/>
                </a:solidFill>
                <a:latin typeface="Eras Bold ITC" panose="020B0907030504020204" pitchFamily="34" charset="0"/>
              </a:rPr>
              <a:t>LOGO</a:t>
            </a:r>
            <a:endParaRPr lang="zh-CN" altLang="en-US" sz="4800" dirty="0">
              <a:solidFill>
                <a:schemeClr val="bg1"/>
              </a:solidFill>
              <a:latin typeface="Eras Bold ITC" panose="020B0907030504020204" pitchFamily="34" charset="0"/>
            </a:endParaRPr>
          </a:p>
        </p:txBody>
      </p:sp>
      <p:sp>
        <p:nvSpPr>
          <p:cNvPr id="30" name="TextBox 29"/>
          <p:cNvSpPr txBox="1"/>
          <p:nvPr/>
        </p:nvSpPr>
        <p:spPr>
          <a:xfrm>
            <a:off x="8790240" y="5197738"/>
            <a:ext cx="1989455" cy="612775"/>
          </a:xfrm>
          <a:prstGeom prst="rect">
            <a:avLst/>
          </a:prstGeom>
          <a:noFill/>
        </p:spPr>
        <p:txBody>
          <a:bodyPr wrap="none" lIns="121917" tIns="60958" rIns="121917" bIns="60958" rtlCol="0">
            <a:spAutoFit/>
          </a:bodyPr>
          <a:lstStyle/>
          <a:p>
            <a:pPr algn="r"/>
            <a:r>
              <a:rPr lang="zh-CN" altLang="en-US" sz="3200" b="1" dirty="0" smtClean="0">
                <a:solidFill>
                  <a:schemeClr val="tx1">
                    <a:lumMod val="75000"/>
                    <a:lumOff val="25000"/>
                  </a:schemeClr>
                </a:solidFill>
                <a:latin typeface="微软雅黑" panose="020B0503020204020204" pitchFamily="34" charset="-122"/>
                <a:ea typeface="微软雅黑" panose="020B0503020204020204" pitchFamily="34" charset="-122"/>
              </a:rPr>
              <a:t> 软件学院</a:t>
            </a:r>
            <a:endParaRPr lang="en-US" altLang="zh-CN" sz="3200" b="1"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4" name="TextBox 23"/>
          <p:cNvSpPr txBox="1"/>
          <p:nvPr/>
        </p:nvSpPr>
        <p:spPr>
          <a:xfrm>
            <a:off x="6441392" y="2709714"/>
            <a:ext cx="4768287" cy="954103"/>
          </a:xfrm>
          <a:prstGeom prst="rect">
            <a:avLst/>
          </a:prstGeom>
          <a:noFill/>
        </p:spPr>
        <p:txBody>
          <a:bodyPr wrap="none" lIns="121917" tIns="60958" rIns="121917" bIns="60958" rtlCol="0">
            <a:spAutoFit/>
          </a:bodyPr>
          <a:lstStyle/>
          <a:p>
            <a:pPr algn="r"/>
            <a:r>
              <a:rPr lang="en-US" altLang="zh-CN" sz="5400" b="1" dirty="0" smtClean="0">
                <a:solidFill>
                  <a:schemeClr val="accent1"/>
                </a:solidFill>
                <a:latin typeface="微软雅黑" panose="020B0503020204020204" pitchFamily="34" charset="-122"/>
                <a:ea typeface="微软雅黑" panose="020B0503020204020204" pitchFamily="34" charset="-122"/>
              </a:rPr>
              <a:t>23 </a:t>
            </a:r>
            <a:r>
              <a:rPr lang="zh-CN" altLang="en-US" sz="5400" b="1" dirty="0" smtClean="0">
                <a:solidFill>
                  <a:schemeClr val="accent1"/>
                </a:solidFill>
                <a:latin typeface="微软雅黑" panose="020B0503020204020204" pitchFamily="34" charset="-122"/>
                <a:ea typeface="微软雅黑" panose="020B0503020204020204" pitchFamily="34" charset="-122"/>
              </a:rPr>
              <a:t>观察者模式</a:t>
            </a:r>
            <a:endParaRPr lang="zh-CN" altLang="en-US" sz="5400" b="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3722911" cy="68595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圆角矩形 66"/>
          <p:cNvSpPr/>
          <p:nvPr/>
        </p:nvSpPr>
        <p:spPr>
          <a:xfrm>
            <a:off x="4803031" y="2449086"/>
            <a:ext cx="1141485"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2" tIns="60946" rIns="121892" bIns="60946" anchor="ctr"/>
          <a:lstStyle/>
          <a:p>
            <a:pPr algn="ctr">
              <a:defRPr/>
            </a:pPr>
            <a:r>
              <a:rPr lang="en-US" altLang="zh-CN" sz="3200" dirty="0" smtClean="0">
                <a:latin typeface="+mj-lt"/>
                <a:ea typeface="Arial Unicode MS" panose="020B0604020202020204" pitchFamily="34" charset="-122"/>
                <a:cs typeface="Arial Unicode MS" panose="020B0604020202020204" pitchFamily="34" charset="-122"/>
              </a:rPr>
              <a:t>23.2</a:t>
            </a:r>
            <a:endParaRPr lang="zh-CN" altLang="en-US" sz="3200" dirty="0">
              <a:latin typeface="+mj-lt"/>
              <a:ea typeface="Arial Unicode MS" panose="020B0604020202020204" pitchFamily="34" charset="-122"/>
              <a:cs typeface="Arial Unicode MS" panose="020B0604020202020204" pitchFamily="34" charset="-122"/>
            </a:endParaRPr>
          </a:p>
        </p:txBody>
      </p:sp>
      <p:grpSp>
        <p:nvGrpSpPr>
          <p:cNvPr id="68" name="组合 67"/>
          <p:cNvGrpSpPr/>
          <p:nvPr/>
        </p:nvGrpSpPr>
        <p:grpSpPr>
          <a:xfrm>
            <a:off x="6313103" y="1516058"/>
            <a:ext cx="5114664" cy="554038"/>
            <a:chOff x="6339097" y="1579613"/>
            <a:chExt cx="3744416" cy="554038"/>
          </a:xfrm>
        </p:grpSpPr>
        <p:sp>
          <p:nvSpPr>
            <p:cNvPr id="69" name="圆角矩形 68"/>
            <p:cNvSpPr/>
            <p:nvPr/>
          </p:nvSpPr>
          <p:spPr>
            <a:xfrm>
              <a:off x="6339097" y="1622147"/>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latin typeface="+mj-lt"/>
                <a:ea typeface="Arial Unicode MS" panose="020B0604020202020204" pitchFamily="34" charset="-122"/>
                <a:cs typeface="Arial Unicode MS" panose="020B0604020202020204" pitchFamily="34" charset="-122"/>
              </a:endParaRPr>
            </a:p>
          </p:txBody>
        </p:sp>
        <p:sp>
          <p:nvSpPr>
            <p:cNvPr id="70" name="矩形 69"/>
            <p:cNvSpPr/>
            <p:nvPr/>
          </p:nvSpPr>
          <p:spPr>
            <a:xfrm>
              <a:off x="6723350" y="1579613"/>
              <a:ext cx="3202013" cy="554038"/>
            </a:xfrm>
            <a:prstGeom prst="rect">
              <a:avLst/>
            </a:prstGeom>
          </p:spPr>
          <p:txBody>
            <a:bodyPr wrap="square" lIns="121960" tIns="60980" rIns="121960" bIns="60980">
              <a:spAutoFit/>
            </a:bodyPr>
            <a:lstStyle/>
            <a:p>
              <a:pPr>
                <a:defRPr/>
              </a:pPr>
              <a:r>
                <a:rPr lang="zh-CN" altLang="en-US" sz="2800" b="1" kern="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模式动机与定义</a:t>
              </a:r>
              <a:endParaRPr lang="zh-CN" altLang="zh-CN"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1" name="圆角矩形 70"/>
          <p:cNvSpPr/>
          <p:nvPr/>
        </p:nvSpPr>
        <p:spPr>
          <a:xfrm>
            <a:off x="4803031" y="3340586"/>
            <a:ext cx="1141485"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2" tIns="60946" rIns="121892" bIns="60946" anchor="ctr"/>
          <a:lstStyle/>
          <a:p>
            <a:pPr algn="ctr">
              <a:defRPr/>
            </a:pPr>
            <a:r>
              <a:rPr lang="en-US" altLang="zh-CN" sz="3200" dirty="0" smtClean="0">
                <a:latin typeface="+mj-lt"/>
                <a:ea typeface="Arial Unicode MS" panose="020B0604020202020204" pitchFamily="34" charset="-122"/>
                <a:cs typeface="Arial Unicode MS" panose="020B0604020202020204" pitchFamily="34" charset="-122"/>
              </a:rPr>
              <a:t>23.3</a:t>
            </a:r>
            <a:endParaRPr lang="zh-CN" altLang="en-US" sz="3200" dirty="0">
              <a:latin typeface="+mj-lt"/>
              <a:ea typeface="Arial Unicode MS" panose="020B0604020202020204" pitchFamily="34" charset="-122"/>
              <a:cs typeface="Arial Unicode MS" panose="020B0604020202020204" pitchFamily="34" charset="-122"/>
            </a:endParaRPr>
          </a:p>
        </p:txBody>
      </p:sp>
      <p:grpSp>
        <p:nvGrpSpPr>
          <p:cNvPr id="72" name="组合 71"/>
          <p:cNvGrpSpPr/>
          <p:nvPr/>
        </p:nvGrpSpPr>
        <p:grpSpPr>
          <a:xfrm>
            <a:off x="6289221" y="2405662"/>
            <a:ext cx="5114664" cy="565542"/>
            <a:chOff x="6315199" y="2410178"/>
            <a:chExt cx="3744416" cy="565542"/>
          </a:xfrm>
        </p:grpSpPr>
        <p:sp>
          <p:nvSpPr>
            <p:cNvPr id="73" name="圆角矩形 72"/>
            <p:cNvSpPr/>
            <p:nvPr/>
          </p:nvSpPr>
          <p:spPr>
            <a:xfrm>
              <a:off x="6315199" y="2410178"/>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latin typeface="+mj-lt"/>
                <a:ea typeface="Arial Unicode MS" panose="020B0604020202020204" pitchFamily="34" charset="-122"/>
                <a:cs typeface="Arial Unicode MS" panose="020B0604020202020204" pitchFamily="34" charset="-122"/>
              </a:endParaRPr>
            </a:p>
          </p:txBody>
        </p:sp>
        <p:sp>
          <p:nvSpPr>
            <p:cNvPr id="74" name="矩形 73"/>
            <p:cNvSpPr/>
            <p:nvPr/>
          </p:nvSpPr>
          <p:spPr>
            <a:xfrm>
              <a:off x="6747248" y="2421682"/>
              <a:ext cx="2653075" cy="554038"/>
            </a:xfrm>
            <a:prstGeom prst="rect">
              <a:avLst/>
            </a:prstGeom>
          </p:spPr>
          <p:txBody>
            <a:bodyPr wrap="square" lIns="121960" tIns="60980" rIns="121960" bIns="60980">
              <a:spAutoFit/>
            </a:bodyPr>
            <a:lstStyle/>
            <a:p>
              <a:pPr>
                <a:defRPr/>
              </a:pPr>
              <a:r>
                <a:rPr lang="zh-CN" altLang="en-US" sz="2800" b="1" kern="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5" name="圆角矩形 74"/>
          <p:cNvSpPr/>
          <p:nvPr/>
        </p:nvSpPr>
        <p:spPr>
          <a:xfrm>
            <a:off x="4803031" y="4232086"/>
            <a:ext cx="1141485"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2" tIns="60946" rIns="121892" bIns="60946" anchor="ctr"/>
          <a:lstStyle/>
          <a:p>
            <a:pPr algn="ctr">
              <a:defRPr/>
            </a:pPr>
            <a:r>
              <a:rPr lang="en-US" altLang="zh-CN" sz="3200" dirty="0" smtClean="0">
                <a:latin typeface="+mj-lt"/>
                <a:ea typeface="Arial Unicode MS" panose="020B0604020202020204" pitchFamily="34" charset="-122"/>
                <a:cs typeface="Arial Unicode MS" panose="020B0604020202020204" pitchFamily="34" charset="-122"/>
              </a:rPr>
              <a:t>23.4</a:t>
            </a:r>
            <a:endParaRPr lang="zh-CN" altLang="en-US" sz="3200" dirty="0">
              <a:latin typeface="+mj-lt"/>
              <a:ea typeface="Arial Unicode MS" panose="020B0604020202020204" pitchFamily="34" charset="-122"/>
              <a:cs typeface="Arial Unicode MS" panose="020B0604020202020204" pitchFamily="34" charset="-122"/>
            </a:endParaRPr>
          </a:p>
        </p:txBody>
      </p:sp>
      <p:grpSp>
        <p:nvGrpSpPr>
          <p:cNvPr id="76" name="组合 75"/>
          <p:cNvGrpSpPr/>
          <p:nvPr/>
        </p:nvGrpSpPr>
        <p:grpSpPr>
          <a:xfrm>
            <a:off x="6313103" y="3306770"/>
            <a:ext cx="5114664" cy="554038"/>
            <a:chOff x="6339097" y="3285779"/>
            <a:chExt cx="3744416" cy="554038"/>
          </a:xfrm>
        </p:grpSpPr>
        <p:sp>
          <p:nvSpPr>
            <p:cNvPr id="77" name="圆角矩形 76"/>
            <p:cNvSpPr/>
            <p:nvPr/>
          </p:nvSpPr>
          <p:spPr>
            <a:xfrm>
              <a:off x="6339097" y="3296031"/>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latin typeface="+mj-lt"/>
                <a:ea typeface="Arial Unicode MS" panose="020B0604020202020204" pitchFamily="34" charset="-122"/>
                <a:cs typeface="Arial Unicode MS" panose="020B0604020202020204" pitchFamily="34" charset="-122"/>
              </a:endParaRPr>
            </a:p>
          </p:txBody>
        </p:sp>
        <p:sp>
          <p:nvSpPr>
            <p:cNvPr id="78" name="矩形 77"/>
            <p:cNvSpPr/>
            <p:nvPr/>
          </p:nvSpPr>
          <p:spPr>
            <a:xfrm>
              <a:off x="6723349" y="3285779"/>
              <a:ext cx="2736305" cy="554038"/>
            </a:xfrm>
            <a:prstGeom prst="rect">
              <a:avLst/>
            </a:prstGeom>
          </p:spPr>
          <p:txBody>
            <a:bodyPr wrap="square" lIns="121960" tIns="60980" rIns="121960" bIns="60980">
              <a:spAutoFit/>
            </a:bodyPr>
            <a:lstStyle/>
            <a:p>
              <a:pPr>
                <a:defRPr/>
              </a:pPr>
              <a:r>
                <a:rPr lang="zh-CN" altLang="en-US" sz="2800" b="1" kern="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87" name="TextBox 86"/>
          <p:cNvSpPr txBox="1"/>
          <p:nvPr/>
        </p:nvSpPr>
        <p:spPr>
          <a:xfrm>
            <a:off x="338535" y="2219568"/>
            <a:ext cx="2806485" cy="1354243"/>
          </a:xfrm>
          <a:prstGeom prst="rect">
            <a:avLst/>
          </a:prstGeom>
          <a:noFill/>
        </p:spPr>
        <p:txBody>
          <a:bodyPr wrap="square" lIns="121880" tIns="60938" rIns="121880" bIns="60938">
            <a:spAutoFit/>
          </a:bodyPr>
          <a:lstStyle/>
          <a:p>
            <a:pPr algn="r">
              <a:defRPr/>
            </a:pPr>
            <a:r>
              <a:rPr lang="zh-CN" altLang="en-US" sz="4800" b="1" spc="200" dirty="0" smtClean="0">
                <a:solidFill>
                  <a:schemeClr val="bg1"/>
                </a:solidFill>
                <a:latin typeface="微软雅黑" panose="020B0503020204020204" pitchFamily="34" charset="-122"/>
                <a:ea typeface="微软雅黑" panose="020B0503020204020204" pitchFamily="34" charset="-122"/>
              </a:rPr>
              <a:t>目录</a:t>
            </a:r>
            <a:endParaRPr lang="en-US" altLang="zh-CN" sz="4800" b="1" spc="200" dirty="0">
              <a:solidFill>
                <a:schemeClr val="bg1"/>
              </a:solidFill>
              <a:latin typeface="微软雅黑" panose="020B0503020204020204" pitchFamily="34" charset="-122"/>
              <a:ea typeface="微软雅黑" panose="020B0503020204020204" pitchFamily="34" charset="-122"/>
            </a:endParaRPr>
          </a:p>
          <a:p>
            <a:pPr algn="r">
              <a:defRPr/>
            </a:pPr>
            <a:r>
              <a:rPr lang="en-US" altLang="zh-CN" sz="3200" b="1" spc="200" dirty="0">
                <a:solidFill>
                  <a:schemeClr val="bg1"/>
                </a:solidFill>
                <a:latin typeface="微软雅黑" panose="020B0503020204020204" pitchFamily="34" charset="-122"/>
                <a:ea typeface="微软雅黑" panose="020B0503020204020204" pitchFamily="34" charset="-122"/>
              </a:rPr>
              <a:t>CONTENTS</a:t>
            </a:r>
            <a:endParaRPr lang="zh-CN" altLang="en-US" sz="3200" b="1" spc="200" dirty="0">
              <a:solidFill>
                <a:schemeClr val="bg1"/>
              </a:solidFill>
              <a:latin typeface="微软雅黑" panose="020B0503020204020204" pitchFamily="34" charset="-122"/>
              <a:ea typeface="微软雅黑" panose="020B0503020204020204" pitchFamily="34" charset="-122"/>
            </a:endParaRPr>
          </a:p>
        </p:txBody>
      </p:sp>
      <p:sp>
        <p:nvSpPr>
          <p:cNvPr id="17" name="圆角矩形 16"/>
          <p:cNvSpPr/>
          <p:nvPr/>
        </p:nvSpPr>
        <p:spPr>
          <a:xfrm>
            <a:off x="4803031" y="5123586"/>
            <a:ext cx="1141485"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2" tIns="60946" rIns="121892" bIns="60946" anchor="ctr"/>
          <a:lstStyle/>
          <a:p>
            <a:pPr algn="ctr">
              <a:defRPr/>
            </a:pPr>
            <a:r>
              <a:rPr lang="en-US" altLang="zh-CN" sz="3200" dirty="0" smtClean="0">
                <a:latin typeface="+mj-lt"/>
                <a:ea typeface="Arial Unicode MS" panose="020B0604020202020204" pitchFamily="34" charset="-122"/>
                <a:cs typeface="Arial Unicode MS" panose="020B0604020202020204" pitchFamily="34" charset="-122"/>
              </a:rPr>
              <a:t>23.5</a:t>
            </a:r>
            <a:endParaRPr lang="zh-CN" altLang="en-US" sz="3200" dirty="0">
              <a:latin typeface="+mj-lt"/>
              <a:ea typeface="Arial Unicode MS" panose="020B0604020202020204" pitchFamily="34" charset="-122"/>
              <a:cs typeface="Arial Unicode MS" panose="020B0604020202020204" pitchFamily="34" charset="-122"/>
            </a:endParaRPr>
          </a:p>
        </p:txBody>
      </p:sp>
      <p:grpSp>
        <p:nvGrpSpPr>
          <p:cNvPr id="18" name="组合 17"/>
          <p:cNvGrpSpPr/>
          <p:nvPr/>
        </p:nvGrpSpPr>
        <p:grpSpPr>
          <a:xfrm>
            <a:off x="6313103" y="4196374"/>
            <a:ext cx="5114664" cy="554038"/>
            <a:chOff x="6339097" y="3264311"/>
            <a:chExt cx="3744416" cy="554038"/>
          </a:xfrm>
        </p:grpSpPr>
        <p:sp>
          <p:nvSpPr>
            <p:cNvPr id="19" name="圆角矩形 18"/>
            <p:cNvSpPr/>
            <p:nvPr/>
          </p:nvSpPr>
          <p:spPr>
            <a:xfrm>
              <a:off x="6339097" y="3296031"/>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latin typeface="+mj-lt"/>
                <a:ea typeface="Arial Unicode MS" panose="020B0604020202020204" pitchFamily="34" charset="-122"/>
                <a:cs typeface="Arial Unicode MS" panose="020B0604020202020204" pitchFamily="34" charset="-122"/>
              </a:endParaRPr>
            </a:p>
          </p:txBody>
        </p:sp>
        <p:sp>
          <p:nvSpPr>
            <p:cNvPr id="20" name="矩形 19"/>
            <p:cNvSpPr/>
            <p:nvPr/>
          </p:nvSpPr>
          <p:spPr>
            <a:xfrm>
              <a:off x="6723349" y="3264311"/>
              <a:ext cx="2736305" cy="554038"/>
            </a:xfrm>
            <a:prstGeom prst="rect">
              <a:avLst/>
            </a:prstGeom>
          </p:spPr>
          <p:txBody>
            <a:bodyPr wrap="square" lIns="121960" tIns="60980" rIns="121960" bIns="60980">
              <a:spAutoFit/>
            </a:bodyPr>
            <a:lstStyle/>
            <a:p>
              <a:pPr>
                <a:defRPr/>
              </a:pPr>
              <a:r>
                <a:rPr lang="zh-CN" altLang="en-US" sz="2800" b="1" kern="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模式效果与应用</a:t>
              </a:r>
              <a:endParaRPr lang="zh-CN" altLang="zh-CN"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圆角矩形 3"/>
          <p:cNvSpPr/>
          <p:nvPr/>
        </p:nvSpPr>
        <p:spPr>
          <a:xfrm>
            <a:off x="4010943" y="549474"/>
            <a:ext cx="6384830" cy="7200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000" b="1" dirty="0" smtClean="0">
                <a:latin typeface="黑体" panose="02010609060101010101" pitchFamily="49" charset="-122"/>
                <a:ea typeface="黑体" panose="02010609060101010101" pitchFamily="49" charset="-122"/>
              </a:rPr>
              <a:t>23 </a:t>
            </a:r>
            <a:r>
              <a:rPr lang="zh-CN" altLang="en-US" sz="4000" b="1" dirty="0" smtClean="0">
                <a:latin typeface="黑体" panose="02010609060101010101" pitchFamily="49" charset="-122"/>
                <a:ea typeface="黑体" panose="02010609060101010101" pitchFamily="49" charset="-122"/>
              </a:rPr>
              <a:t>观察者模式</a:t>
            </a:r>
            <a:endParaRPr lang="zh-CN" altLang="en-US" sz="4000" b="1" dirty="0">
              <a:latin typeface="黑体" panose="02010609060101010101" pitchFamily="49" charset="-122"/>
              <a:ea typeface="黑体" panose="02010609060101010101" pitchFamily="49" charset="-122"/>
            </a:endParaRPr>
          </a:p>
        </p:txBody>
      </p:sp>
      <p:grpSp>
        <p:nvGrpSpPr>
          <p:cNvPr id="22" name="组合 21"/>
          <p:cNvGrpSpPr/>
          <p:nvPr/>
        </p:nvGrpSpPr>
        <p:grpSpPr>
          <a:xfrm>
            <a:off x="6313103" y="5085978"/>
            <a:ext cx="5114664" cy="554038"/>
            <a:chOff x="6339097" y="3264311"/>
            <a:chExt cx="3744416" cy="554038"/>
          </a:xfrm>
        </p:grpSpPr>
        <p:sp>
          <p:nvSpPr>
            <p:cNvPr id="23" name="圆角矩形 22"/>
            <p:cNvSpPr/>
            <p:nvPr/>
          </p:nvSpPr>
          <p:spPr>
            <a:xfrm>
              <a:off x="6339097" y="3296031"/>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latin typeface="+mj-lt"/>
                <a:ea typeface="Arial Unicode MS" panose="020B0604020202020204" pitchFamily="34" charset="-122"/>
                <a:cs typeface="Arial Unicode MS" panose="020B0604020202020204" pitchFamily="34" charset="-122"/>
              </a:endParaRPr>
            </a:p>
          </p:txBody>
        </p:sp>
        <p:sp>
          <p:nvSpPr>
            <p:cNvPr id="24" name="矩形 23"/>
            <p:cNvSpPr/>
            <p:nvPr/>
          </p:nvSpPr>
          <p:spPr>
            <a:xfrm>
              <a:off x="6723349" y="3264311"/>
              <a:ext cx="2736305" cy="554038"/>
            </a:xfrm>
            <a:prstGeom prst="rect">
              <a:avLst/>
            </a:prstGeom>
          </p:spPr>
          <p:txBody>
            <a:bodyPr wrap="square" lIns="121960" tIns="60980" rIns="121960" bIns="60980">
              <a:spAutoFit/>
            </a:bodyPr>
            <a:lstStyle/>
            <a:p>
              <a:pPr>
                <a:defRPr/>
              </a:pPr>
              <a:r>
                <a:rPr lang="zh-CN" altLang="en-US" sz="2800" b="1" kern="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模式扩展</a:t>
              </a:r>
              <a:endParaRPr lang="zh-CN" altLang="zh-CN"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5" name="圆角矩形 24"/>
          <p:cNvSpPr/>
          <p:nvPr/>
        </p:nvSpPr>
        <p:spPr>
          <a:xfrm>
            <a:off x="4803031" y="1557586"/>
            <a:ext cx="1141485"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2" tIns="60946" rIns="121892" bIns="60946" anchor="ctr"/>
          <a:lstStyle/>
          <a:p>
            <a:pPr algn="ctr">
              <a:defRPr/>
            </a:pPr>
            <a:r>
              <a:rPr lang="en-US" altLang="zh-CN" sz="3200" dirty="0" smtClean="0">
                <a:latin typeface="+mj-lt"/>
                <a:ea typeface="Arial Unicode MS" panose="020B0604020202020204" pitchFamily="34" charset="-122"/>
                <a:cs typeface="Arial Unicode MS" panose="020B0604020202020204" pitchFamily="34" charset="-122"/>
              </a:rPr>
              <a:t>23.1</a:t>
            </a:r>
            <a:endParaRPr lang="zh-CN" altLang="en-US" sz="3200" dirty="0">
              <a:latin typeface="+mj-lt"/>
              <a:ea typeface="Arial Unicode MS" panose="020B0604020202020204" pitchFamily="34" charset="-122"/>
              <a:cs typeface="Arial Unicode MS" panose="020B0604020202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14599" y="907221"/>
            <a:ext cx="10657184" cy="5186869"/>
          </a:xfrm>
          <a:prstGeom prst="rect">
            <a:avLst/>
          </a:prstGeom>
        </p:spPr>
        <p:txBody>
          <a:bodyPr wrap="square">
            <a:spAutoFit/>
          </a:bodyPr>
          <a:lstStyle/>
          <a:p>
            <a:pPr indent="457200">
              <a:lnSpc>
                <a:spcPct val="150000"/>
              </a:lnSpc>
            </a:pPr>
            <a:r>
              <a:rPr lang="zh-CN" altLang="en-US" sz="2800" b="1" dirty="0">
                <a:solidFill>
                  <a:srgbClr val="FF0000"/>
                </a:solidFill>
                <a:latin typeface="微软雅黑" panose="020B0503020204020204" pitchFamily="34" charset="-122"/>
                <a:ea typeface="微软雅黑" panose="020B0503020204020204" pitchFamily="34" charset="-122"/>
              </a:rPr>
              <a:t>观察者模式（</a:t>
            </a:r>
            <a:r>
              <a:rPr lang="en-US" altLang="zh-CN" sz="2800" b="1" dirty="0">
                <a:solidFill>
                  <a:srgbClr val="FF0000"/>
                </a:solidFill>
                <a:latin typeface="微软雅黑" panose="020B0503020204020204" pitchFamily="34" charset="-122"/>
                <a:ea typeface="微软雅黑" panose="020B0503020204020204" pitchFamily="34" charset="-122"/>
              </a:rPr>
              <a:t>Observer Pattern</a:t>
            </a:r>
            <a:r>
              <a:rPr lang="zh-CN" altLang="en-US" sz="2800" b="1" dirty="0">
                <a:solidFill>
                  <a:srgbClr val="FF0000"/>
                </a:solidFill>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是一种使用频率非常高，非常重要</a:t>
            </a:r>
            <a:r>
              <a:rPr lang="zh-CN" altLang="en-US" sz="2800" b="1" dirty="0" smtClean="0">
                <a:latin typeface="微软雅黑" panose="020B0503020204020204" pitchFamily="34" charset="-122"/>
                <a:ea typeface="微软雅黑" panose="020B0503020204020204" pitchFamily="34" charset="-122"/>
              </a:rPr>
              <a:t>的对象行为</a:t>
            </a:r>
            <a:r>
              <a:rPr lang="zh-CN" altLang="en-US" sz="2800" b="1" dirty="0">
                <a:latin typeface="微软雅黑" panose="020B0503020204020204" pitchFamily="34" charset="-122"/>
                <a:ea typeface="微软雅黑" panose="020B0503020204020204" pitchFamily="34" charset="-122"/>
              </a:rPr>
              <a:t>型模式。在软件系统中对象并不是孤立存在的，一个对象行为的改变可能会导致一个或者多个其他与之存在依赖关系的对象行为发生改变，观察者模式用于</a:t>
            </a:r>
            <a:r>
              <a:rPr lang="zh-CN" altLang="en-US" sz="2800" b="1" dirty="0">
                <a:solidFill>
                  <a:srgbClr val="FF0000"/>
                </a:solidFill>
                <a:latin typeface="微软雅黑" panose="020B0503020204020204" pitchFamily="34" charset="-122"/>
                <a:ea typeface="微软雅黑" panose="020B0503020204020204" pitchFamily="34" charset="-122"/>
              </a:rPr>
              <a:t>描述对象之间的依赖关系</a:t>
            </a:r>
            <a:r>
              <a:rPr lang="zh-CN" altLang="en-US" sz="2800" b="1" dirty="0">
                <a:latin typeface="微软雅黑" panose="020B0503020204020204" pitchFamily="34" charset="-122"/>
                <a:ea typeface="微软雅黑" panose="020B0503020204020204" pitchFamily="34" charset="-122"/>
              </a:rPr>
              <a:t>，它引入了</a:t>
            </a:r>
            <a:r>
              <a:rPr lang="zh-CN" altLang="en-US" sz="2800" b="1" dirty="0">
                <a:solidFill>
                  <a:srgbClr val="FF0000"/>
                </a:solidFill>
                <a:latin typeface="微软雅黑" panose="020B0503020204020204" pitchFamily="34" charset="-122"/>
                <a:ea typeface="微软雅黑" panose="020B0503020204020204" pitchFamily="34" charset="-122"/>
              </a:rPr>
              <a:t>观察者</a:t>
            </a:r>
            <a:r>
              <a:rPr lang="zh-CN" altLang="en-US" sz="2800" b="1" dirty="0">
                <a:latin typeface="微软雅黑" panose="020B0503020204020204" pitchFamily="34" charset="-122"/>
                <a:ea typeface="微软雅黑" panose="020B0503020204020204" pitchFamily="34" charset="-122"/>
              </a:rPr>
              <a:t>和</a:t>
            </a:r>
            <a:r>
              <a:rPr lang="zh-CN" altLang="en-US" sz="2800" b="1" dirty="0">
                <a:solidFill>
                  <a:srgbClr val="FF0000"/>
                </a:solidFill>
                <a:latin typeface="微软雅黑" panose="020B0503020204020204" pitchFamily="34" charset="-122"/>
                <a:ea typeface="微软雅黑" panose="020B0503020204020204" pitchFamily="34" charset="-122"/>
              </a:rPr>
              <a:t>观察目标</a:t>
            </a:r>
            <a:r>
              <a:rPr lang="zh-CN" altLang="en-US" sz="2800" b="1" dirty="0">
                <a:latin typeface="微软雅黑" panose="020B0503020204020204" pitchFamily="34" charset="-122"/>
                <a:ea typeface="微软雅黑" panose="020B0503020204020204" pitchFamily="34" charset="-122"/>
              </a:rPr>
              <a:t>两类不同的角色，由于提供了抽象层，它使得增加新的观察者和观察目标都很方便。观察者模式广泛应用于各种编程语言的事件处理模型中，</a:t>
            </a:r>
            <a:r>
              <a:rPr lang="en-US" altLang="zh-CN" sz="2800" b="1" dirty="0">
                <a:latin typeface="微软雅黑" panose="020B0503020204020204" pitchFamily="34" charset="-122"/>
                <a:ea typeface="微软雅黑" panose="020B0503020204020204" pitchFamily="34" charset="-122"/>
              </a:rPr>
              <a:t>Java</a:t>
            </a:r>
            <a:r>
              <a:rPr lang="zh-CN" altLang="en-US" sz="2800" b="1" dirty="0">
                <a:latin typeface="微软雅黑" panose="020B0503020204020204" pitchFamily="34" charset="-122"/>
                <a:ea typeface="微软雅黑" panose="020B0503020204020204" pitchFamily="34" charset="-122"/>
              </a:rPr>
              <a:t>语言也提供了对观察者模式的全面支持</a:t>
            </a:r>
            <a:r>
              <a:rPr lang="zh-CN" altLang="en-US" sz="2800" b="1" dirty="0" smtClean="0">
                <a:latin typeface="微软雅黑" panose="020B0503020204020204" pitchFamily="34" charset="-122"/>
                <a:ea typeface="微软雅黑" panose="020B0503020204020204" pitchFamily="34" charset="-122"/>
              </a:rPr>
              <a:t>。  </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599" y="2709714"/>
            <a:ext cx="10729192" cy="2031325"/>
          </a:xfrm>
          <a:prstGeom prst="rect">
            <a:avLst/>
          </a:prstGeom>
          <a:noFill/>
        </p:spPr>
        <p:txBody>
          <a:bodyPr wrap="square" rtlCol="0">
            <a:spAutoFit/>
          </a:bodyPr>
          <a:lstStyle/>
          <a:p>
            <a:pPr>
              <a:lnSpc>
                <a:spcPct val="150000"/>
              </a:lnSpc>
            </a:pPr>
            <a:r>
              <a:rPr lang="zh-CN" altLang="en-US" sz="2800" b="1" dirty="0" smtClean="0">
                <a:latin typeface="微软雅黑" panose="020B0503020204020204" pitchFamily="34" charset="-122"/>
                <a:ea typeface="微软雅黑" panose="020B0503020204020204" pitchFamily="34" charset="-122"/>
              </a:rPr>
              <a:t>本章难点：</a:t>
            </a:r>
            <a:endParaRPr lang="en-US" altLang="zh-CN" sz="2800" b="1" dirty="0" smtClean="0">
              <a:latin typeface="微软雅黑" panose="020B0503020204020204" pitchFamily="34" charset="-122"/>
              <a:ea typeface="微软雅黑" panose="020B0503020204020204" pitchFamily="34" charset="-122"/>
            </a:endParaRPr>
          </a:p>
          <a:p>
            <a:pPr>
              <a:lnSpc>
                <a:spcPct val="150000"/>
              </a:lnSpc>
            </a:pPr>
            <a:r>
              <a:rPr lang="en-US" altLang="zh-CN" sz="2800" dirty="0" smtClean="0">
                <a:latin typeface="微软雅黑" panose="020B0503020204020204" pitchFamily="34" charset="-122"/>
                <a:ea typeface="微软雅黑" panose="020B0503020204020204" pitchFamily="34" charset="-122"/>
              </a:rPr>
              <a:t>1</a:t>
            </a:r>
            <a:r>
              <a:rPr lang="zh-CN" altLang="en-US" sz="2800" dirty="0">
                <a:latin typeface="微软雅黑" panose="020B0503020204020204" pitchFamily="34" charset="-122"/>
                <a:ea typeface="微软雅黑" panose="020B0503020204020204" pitchFamily="34" charset="-122"/>
              </a:rPr>
              <a:t>、理解</a:t>
            </a:r>
            <a:r>
              <a:rPr lang="en-US" altLang="zh-CN" sz="2800" dirty="0">
                <a:latin typeface="微软雅黑" panose="020B0503020204020204" pitchFamily="34" charset="-122"/>
                <a:ea typeface="微软雅黑" panose="020B0503020204020204" pitchFamily="34" charset="-122"/>
              </a:rPr>
              <a:t>Java</a:t>
            </a:r>
            <a:r>
              <a:rPr lang="zh-CN" altLang="en-US" sz="2800" dirty="0">
                <a:latin typeface="微软雅黑" panose="020B0503020204020204" pitchFamily="34" charset="-122"/>
                <a:ea typeface="微软雅黑" panose="020B0503020204020204" pitchFamily="34" charset="-122"/>
              </a:rPr>
              <a:t>事件处理模型中观察者模式的应用</a:t>
            </a:r>
            <a:r>
              <a:rPr lang="zh-CN" altLang="en-US" sz="2800" dirty="0" smtClean="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a:p>
            <a:pPr>
              <a:lnSpc>
                <a:spcPct val="150000"/>
              </a:lnSpc>
            </a:pPr>
            <a:r>
              <a:rPr lang="en-US" altLang="zh-CN" sz="2800" dirty="0" smtClean="0">
                <a:latin typeface="微软雅黑" panose="020B0503020204020204" pitchFamily="34" charset="-122"/>
                <a:ea typeface="微软雅黑" panose="020B0503020204020204" pitchFamily="34" charset="-122"/>
              </a:rPr>
              <a:t>2</a:t>
            </a:r>
            <a:r>
              <a:rPr lang="zh-CN" altLang="en-US" sz="2800" dirty="0" smtClean="0">
                <a:latin typeface="微软雅黑" panose="020B0503020204020204" pitchFamily="34" charset="-122"/>
                <a:ea typeface="微软雅黑" panose="020B0503020204020204" pitchFamily="34" charset="-122"/>
              </a:rPr>
              <a:t>、理解</a:t>
            </a:r>
            <a:r>
              <a:rPr lang="zh-CN" altLang="en-US" sz="2800" dirty="0">
                <a:latin typeface="微软雅黑" panose="020B0503020204020204" pitchFamily="34" charset="-122"/>
                <a:ea typeface="微软雅黑" panose="020B0503020204020204" pitchFamily="34" charset="-122"/>
              </a:rPr>
              <a:t>观察者模式中目标角色和观察者角色的职责和实现</a:t>
            </a:r>
            <a:r>
              <a:rPr lang="zh-CN" altLang="en-US" sz="2800" dirty="0" smtClean="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p:txBody>
      </p:sp>
      <p:sp>
        <p:nvSpPr>
          <p:cNvPr id="3" name="TextBox 2"/>
          <p:cNvSpPr txBox="1"/>
          <p:nvPr/>
        </p:nvSpPr>
        <p:spPr>
          <a:xfrm>
            <a:off x="986607" y="1197546"/>
            <a:ext cx="10081120" cy="1384995"/>
          </a:xfrm>
          <a:prstGeom prst="rect">
            <a:avLst/>
          </a:prstGeom>
          <a:noFill/>
        </p:spPr>
        <p:txBody>
          <a:bodyPr wrap="square" rtlCol="0">
            <a:spAutoFit/>
          </a:bodyPr>
          <a:lstStyle/>
          <a:p>
            <a:pPr>
              <a:lnSpc>
                <a:spcPct val="150000"/>
              </a:lnSpc>
            </a:pPr>
            <a:r>
              <a:rPr lang="zh-CN" altLang="en-US" sz="2800" b="1" dirty="0" smtClean="0">
                <a:latin typeface="微软雅黑" panose="020B0503020204020204" pitchFamily="34" charset="-122"/>
                <a:ea typeface="微软雅黑" panose="020B0503020204020204" pitchFamily="34" charset="-122"/>
              </a:rPr>
              <a:t>观察者模式重要等级：</a:t>
            </a:r>
            <a:r>
              <a:rPr lang="zh-CN" altLang="zh-CN" sz="2800" b="1" kern="100" dirty="0">
                <a:solidFill>
                  <a:srgbClr val="FF3300"/>
                </a:solidFill>
                <a:latin typeface="微软雅黑" panose="020B0503020204020204" pitchFamily="34" charset="-122"/>
                <a:ea typeface="微软雅黑" panose="020B0503020204020204" pitchFamily="34" charset="-122"/>
                <a:cs typeface="Times New Roman" panose="02020603050405020304"/>
              </a:rPr>
              <a:t>★★★★★</a:t>
            </a:r>
            <a:endParaRPr lang="en-US" altLang="zh-CN" sz="2800" b="1" kern="100" dirty="0" smtClean="0">
              <a:solidFill>
                <a:srgbClr val="FF3300"/>
              </a:solidFill>
              <a:latin typeface="微软雅黑" panose="020B0503020204020204" pitchFamily="34" charset="-122"/>
              <a:ea typeface="微软雅黑" panose="020B0503020204020204" pitchFamily="34" charset="-122"/>
              <a:cs typeface="Times New Roman" panose="02020603050405020304"/>
            </a:endParaRPr>
          </a:p>
          <a:p>
            <a:pPr>
              <a:lnSpc>
                <a:spcPct val="150000"/>
              </a:lnSpc>
            </a:pPr>
            <a:r>
              <a:rPr lang="zh-CN" altLang="en-US" sz="2800" b="1" dirty="0" smtClean="0">
                <a:latin typeface="微软雅黑" panose="020B0503020204020204" pitchFamily="34" charset="-122"/>
                <a:ea typeface="微软雅黑" panose="020B0503020204020204" pitchFamily="34" charset="-122"/>
              </a:rPr>
              <a:t>观察者模式难度等级：</a:t>
            </a:r>
            <a:r>
              <a:rPr lang="zh-CN" altLang="zh-CN" sz="2800" b="1" kern="100" dirty="0">
                <a:solidFill>
                  <a:srgbClr val="FF3300"/>
                </a:solidFill>
                <a:latin typeface="微软雅黑" panose="020B0503020204020204" pitchFamily="34" charset="-122"/>
                <a:ea typeface="微软雅黑" panose="020B0503020204020204" pitchFamily="34" charset="-122"/>
                <a:cs typeface="Times New Roman" panose="02020603050405020304"/>
              </a:rPr>
              <a:t>★★★☆☆</a:t>
            </a:r>
            <a:endParaRPr lang="zh-CN" altLang="zh-CN" sz="2800" b="1" kern="100" dirty="0">
              <a:solidFill>
                <a:srgbClr val="FF3300"/>
              </a:solidFill>
              <a:latin typeface="微软雅黑" panose="020B0503020204020204" pitchFamily="34" charset="-122"/>
              <a:ea typeface="微软雅黑" panose="020B0503020204020204" pitchFamily="34" charset="-122"/>
              <a:cs typeface="Times New Roman" panose="02020603050405020304"/>
            </a:endParaRPr>
          </a:p>
        </p:txBody>
      </p:sp>
    </p:spTree>
  </p:cSld>
  <p:clrMapOvr>
    <a:masterClrMapping/>
  </p:clrMapOvr>
  <p:transition spd="slow" advTm="0">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23.1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模式动机与定义</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内容占位符 2"/>
          <p:cNvSpPr txBox="1"/>
          <p:nvPr/>
        </p:nvSpPr>
        <p:spPr>
          <a:xfrm>
            <a:off x="236079" y="1053530"/>
            <a:ext cx="11144128" cy="131900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模式动机</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b="1" dirty="0" smtClean="0">
                <a:solidFill>
                  <a:srgbClr val="EC7328"/>
                </a:solidFill>
                <a:latin typeface="微软雅黑" panose="020B0503020204020204" pitchFamily="34" charset="-122"/>
                <a:ea typeface="微软雅黑" panose="020B0503020204020204" pitchFamily="34" charset="-122"/>
              </a:rPr>
              <a:t>红绿灯</a:t>
            </a:r>
            <a:endParaRPr lang="en-US" altLang="zh-CN" sz="2800" b="1" dirty="0" smtClean="0">
              <a:latin typeface="微软雅黑" panose="020B0503020204020204" pitchFamily="34" charset="-122"/>
              <a:ea typeface="微软雅黑" panose="020B0503020204020204" pitchFamily="34" charset="-122"/>
            </a:endParaRPr>
          </a:p>
        </p:txBody>
      </p:sp>
      <p:pic>
        <p:nvPicPr>
          <p:cNvPr id="1026" name="Picture 2" descr="https://gimg2.baidu.com/image_search/src=http%3A%2F%2Fwww.mianfeiwendang.com%2Fpic%2F0441a30543fcb62e9e5e19fe31eb160d83e5b615%2F2-810-jpg_6-1080-0-0-1080.jpg&amp;refer=http%3A%2F%2Fwww.mianfeiwendang.com&amp;app=2002&amp;size=f9999,10000&amp;q=a80&amp;n=0&amp;g=0n&amp;fmt=auto?sec=1651249681&amp;t=ba6f99394ac9c69ea48ec778427c27a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02831" y="1053530"/>
            <a:ext cx="8640960" cy="54166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advTm="0">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23.1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模式动机与定义</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内容占位符 2"/>
          <p:cNvSpPr txBox="1"/>
          <p:nvPr/>
        </p:nvSpPr>
        <p:spPr>
          <a:xfrm>
            <a:off x="236079" y="1053530"/>
            <a:ext cx="4193469" cy="131900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模式动机</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en-US" altLang="zh-CN" sz="2800" b="1" dirty="0">
                <a:solidFill>
                  <a:srgbClr val="EC7328"/>
                </a:solidFill>
                <a:latin typeface="微软雅黑" panose="020B0503020204020204" pitchFamily="34" charset="-122"/>
                <a:ea typeface="微软雅黑" panose="020B0503020204020204" pitchFamily="34" charset="-122"/>
              </a:rPr>
              <a:t>MVC</a:t>
            </a:r>
            <a:r>
              <a:rPr lang="zh-CN" altLang="en-US" sz="2800" b="1" dirty="0">
                <a:solidFill>
                  <a:srgbClr val="EC7328"/>
                </a:solidFill>
                <a:latin typeface="微软雅黑" panose="020B0503020204020204" pitchFamily="34" charset="-122"/>
                <a:ea typeface="微软雅黑" panose="020B0503020204020204" pitchFamily="34" charset="-122"/>
              </a:rPr>
              <a:t>示意图</a:t>
            </a:r>
            <a:endParaRPr lang="zh-CN" altLang="en-US" sz="2800" b="1" dirty="0">
              <a:solidFill>
                <a:srgbClr val="EC7328"/>
              </a:solidFill>
              <a:latin typeface="微软雅黑" panose="020B0503020204020204" pitchFamily="34" charset="-122"/>
              <a:ea typeface="微软雅黑" panose="020B0503020204020204" pitchFamily="34" charset="-122"/>
            </a:endParaRPr>
          </a:p>
        </p:txBody>
      </p:sp>
      <p:pic>
        <p:nvPicPr>
          <p:cNvPr id="6" name="Picture 1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429548" y="989278"/>
            <a:ext cx="7286251" cy="5608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0">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23.1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模式动机与定义</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内容占位符 2"/>
          <p:cNvSpPr txBox="1"/>
          <p:nvPr/>
        </p:nvSpPr>
        <p:spPr>
          <a:xfrm>
            <a:off x="427655" y="958659"/>
            <a:ext cx="11144128" cy="520743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spcBef>
                <a:spcPts val="0"/>
              </a:spcBef>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模式动机</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spcBef>
                <a:spcPts val="0"/>
              </a:spcBef>
              <a:buClr>
                <a:srgbClr val="EC7328"/>
              </a:buClr>
              <a:buFont typeface="Wingdings" panose="05000000000000000000" pitchFamily="2" charset="2"/>
              <a:buChar char="ü"/>
            </a:pPr>
            <a:r>
              <a:rPr lang="zh-CN" altLang="en-US" sz="2800" dirty="0" smtClean="0">
                <a:solidFill>
                  <a:srgbClr val="47B3BF"/>
                </a:solidFill>
                <a:latin typeface="微软雅黑" panose="020B0503020204020204" pitchFamily="34" charset="-122"/>
                <a:ea typeface="微软雅黑" panose="020B0503020204020204" pitchFamily="34" charset="-122"/>
              </a:rPr>
              <a:t>软件</a:t>
            </a:r>
            <a:r>
              <a:rPr lang="zh-CN" altLang="en-US" sz="2800" dirty="0">
                <a:solidFill>
                  <a:srgbClr val="47B3BF"/>
                </a:solidFill>
                <a:latin typeface="微软雅黑" panose="020B0503020204020204" pitchFamily="34" charset="-122"/>
                <a:ea typeface="微软雅黑" panose="020B0503020204020204" pitchFamily="34" charset="-122"/>
              </a:rPr>
              <a:t>系统：</a:t>
            </a:r>
            <a:r>
              <a:rPr lang="zh-CN" altLang="en-US" sz="2800" dirty="0">
                <a:solidFill>
                  <a:srgbClr val="EC7328"/>
                </a:solidFill>
                <a:latin typeface="微软雅黑" panose="020B0503020204020204" pitchFamily="34" charset="-122"/>
                <a:ea typeface="微软雅黑" panose="020B0503020204020204" pitchFamily="34" charset="-122"/>
              </a:rPr>
              <a:t>一个对象的状态或行为的变化将导致其他对象的状态或行为也发生改变</a:t>
            </a:r>
            <a:r>
              <a:rPr lang="zh-CN" altLang="en-US" sz="2800" dirty="0">
                <a:latin typeface="微软雅黑" panose="020B0503020204020204" pitchFamily="34" charset="-122"/>
                <a:ea typeface="微软雅黑" panose="020B0503020204020204" pitchFamily="34" charset="-122"/>
              </a:rPr>
              <a:t>，它们之间将产生</a:t>
            </a:r>
            <a:r>
              <a:rPr lang="zh-CN" altLang="en-US" sz="2800" dirty="0">
                <a:solidFill>
                  <a:srgbClr val="EC7328"/>
                </a:solidFill>
                <a:latin typeface="微软雅黑" panose="020B0503020204020204" pitchFamily="34" charset="-122"/>
                <a:ea typeface="微软雅黑" panose="020B0503020204020204" pitchFamily="34" charset="-122"/>
              </a:rPr>
              <a:t>联动</a:t>
            </a:r>
            <a:endParaRPr lang="zh-CN" altLang="en-US" sz="2800" dirty="0">
              <a:solidFill>
                <a:srgbClr val="EC7328"/>
              </a:solidFill>
              <a:latin typeface="微软雅黑" panose="020B0503020204020204" pitchFamily="34" charset="-122"/>
              <a:ea typeface="微软雅黑" panose="020B0503020204020204" pitchFamily="34" charset="-122"/>
            </a:endParaRPr>
          </a:p>
          <a:p>
            <a:pPr marL="914400" lvl="1" indent="-457200" algn="l">
              <a:lnSpc>
                <a:spcPct val="150000"/>
              </a:lnSpc>
              <a:spcBef>
                <a:spcPts val="0"/>
              </a:spcBef>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定义</a:t>
            </a:r>
            <a:r>
              <a:rPr lang="zh-CN" altLang="en-US" sz="2800" dirty="0">
                <a:latin typeface="微软雅黑" panose="020B0503020204020204" pitchFamily="34" charset="-122"/>
                <a:ea typeface="微软雅黑" panose="020B0503020204020204" pitchFamily="34" charset="-122"/>
              </a:rPr>
              <a:t>了对象之间一种</a:t>
            </a:r>
            <a:r>
              <a:rPr lang="zh-CN" altLang="en-US" sz="2800" dirty="0">
                <a:solidFill>
                  <a:srgbClr val="EC7328"/>
                </a:solidFill>
                <a:latin typeface="微软雅黑" panose="020B0503020204020204" pitchFamily="34" charset="-122"/>
                <a:ea typeface="微软雅黑" panose="020B0503020204020204" pitchFamily="34" charset="-122"/>
              </a:rPr>
              <a:t>一对多的依赖关系</a:t>
            </a:r>
            <a:r>
              <a:rPr lang="zh-CN" altLang="en-US" sz="2800" dirty="0">
                <a:latin typeface="微软雅黑" panose="020B0503020204020204" pitchFamily="34" charset="-122"/>
                <a:ea typeface="微软雅黑" panose="020B0503020204020204" pitchFamily="34" charset="-122"/>
              </a:rPr>
              <a:t>，让一个对象的改变能够影响其他对象</a:t>
            </a:r>
            <a:endParaRPr lang="zh-CN" altLang="en-US" sz="2800" dirty="0">
              <a:latin typeface="微软雅黑" panose="020B0503020204020204" pitchFamily="34" charset="-122"/>
              <a:ea typeface="微软雅黑" panose="020B0503020204020204" pitchFamily="34" charset="-122"/>
            </a:endParaRPr>
          </a:p>
          <a:p>
            <a:pPr marL="914400" lvl="1" indent="-457200" algn="l">
              <a:lnSpc>
                <a:spcPct val="150000"/>
              </a:lnSpc>
              <a:spcBef>
                <a:spcPts val="0"/>
              </a:spcBef>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发生改变的对象称为</a:t>
            </a:r>
            <a:r>
              <a:rPr lang="zh-CN" altLang="en-US" sz="2800" dirty="0">
                <a:solidFill>
                  <a:srgbClr val="EC7328"/>
                </a:solidFill>
                <a:latin typeface="微软雅黑" panose="020B0503020204020204" pitchFamily="34" charset="-122"/>
                <a:ea typeface="微软雅黑" panose="020B0503020204020204" pitchFamily="34" charset="-122"/>
              </a:rPr>
              <a:t>观察目标</a:t>
            </a:r>
            <a:r>
              <a:rPr lang="zh-CN" altLang="en-US" sz="2800" dirty="0">
                <a:latin typeface="微软雅黑" panose="020B0503020204020204" pitchFamily="34" charset="-122"/>
                <a:ea typeface="微软雅黑" panose="020B0503020204020204" pitchFamily="34" charset="-122"/>
              </a:rPr>
              <a:t>，被通知的对象称为</a:t>
            </a:r>
            <a:r>
              <a:rPr lang="zh-CN" altLang="en-US" sz="2800" dirty="0">
                <a:solidFill>
                  <a:srgbClr val="EC7328"/>
                </a:solidFill>
                <a:latin typeface="微软雅黑" panose="020B0503020204020204" pitchFamily="34" charset="-122"/>
                <a:ea typeface="微软雅黑" panose="020B0503020204020204" pitchFamily="34" charset="-122"/>
              </a:rPr>
              <a:t>观察者</a:t>
            </a:r>
            <a:endParaRPr lang="zh-CN" altLang="en-US" sz="2800" dirty="0">
              <a:solidFill>
                <a:srgbClr val="EC7328"/>
              </a:solidFill>
              <a:latin typeface="微软雅黑" panose="020B0503020204020204" pitchFamily="34" charset="-122"/>
              <a:ea typeface="微软雅黑" panose="020B0503020204020204" pitchFamily="34" charset="-122"/>
            </a:endParaRPr>
          </a:p>
          <a:p>
            <a:pPr marL="914400" lvl="1" indent="-457200" algn="l">
              <a:lnSpc>
                <a:spcPct val="150000"/>
              </a:lnSpc>
              <a:spcBef>
                <a:spcPts val="0"/>
              </a:spcBef>
              <a:buClr>
                <a:srgbClr val="EC7328"/>
              </a:buClr>
              <a:buFont typeface="Wingdings" panose="05000000000000000000" pitchFamily="2" charset="2"/>
              <a:buChar char="ü"/>
            </a:pPr>
            <a:r>
              <a:rPr lang="zh-CN" altLang="en-US" sz="2800" dirty="0">
                <a:solidFill>
                  <a:srgbClr val="EC7328"/>
                </a:solidFill>
                <a:latin typeface="微软雅黑" panose="020B0503020204020204" pitchFamily="34" charset="-122"/>
                <a:ea typeface="微软雅黑" panose="020B0503020204020204" pitchFamily="34" charset="-122"/>
              </a:rPr>
              <a:t>一个观察目标</a:t>
            </a:r>
            <a:r>
              <a:rPr lang="zh-CN" altLang="en-US" sz="2800" dirty="0">
                <a:latin typeface="微软雅黑" panose="020B0503020204020204" pitchFamily="34" charset="-122"/>
                <a:ea typeface="微软雅黑" panose="020B0503020204020204" pitchFamily="34" charset="-122"/>
              </a:rPr>
              <a:t>可以对应</a:t>
            </a:r>
            <a:r>
              <a:rPr lang="zh-CN" altLang="en-US" sz="2800" dirty="0">
                <a:solidFill>
                  <a:srgbClr val="EC7328"/>
                </a:solidFill>
                <a:latin typeface="微软雅黑" panose="020B0503020204020204" pitchFamily="34" charset="-122"/>
                <a:ea typeface="微软雅黑" panose="020B0503020204020204" pitchFamily="34" charset="-122"/>
              </a:rPr>
              <a:t>多个观察者</a:t>
            </a:r>
            <a:endParaRPr lang="en-US" altLang="zh-CN" sz="2800" dirty="0">
              <a:solidFill>
                <a:srgbClr val="EC7328"/>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23.1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模式动机与定义</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内容占位符 2"/>
          <p:cNvSpPr txBox="1"/>
          <p:nvPr/>
        </p:nvSpPr>
        <p:spPr>
          <a:xfrm>
            <a:off x="427655" y="1102675"/>
            <a:ext cx="11144128" cy="520743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模式定义</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b="1" dirty="0" smtClean="0">
                <a:latin typeface="微软雅黑" panose="020B0503020204020204" pitchFamily="34" charset="-122"/>
                <a:ea typeface="微软雅黑" panose="020B0503020204020204" pitchFamily="34" charset="-122"/>
              </a:rPr>
              <a:t>观察</a:t>
            </a:r>
            <a:r>
              <a:rPr lang="zh-CN" altLang="en-US" sz="2800" b="1" dirty="0">
                <a:latin typeface="微软雅黑" panose="020B0503020204020204" pitchFamily="34" charset="-122"/>
                <a:ea typeface="微软雅黑" panose="020B0503020204020204" pitchFamily="34" charset="-122"/>
              </a:rPr>
              <a:t>者模式</a:t>
            </a:r>
            <a:r>
              <a:rPr lang="en-US" altLang="zh-CN" sz="2800" b="1" dirty="0">
                <a:latin typeface="微软雅黑" panose="020B0503020204020204" pitchFamily="34" charset="-122"/>
                <a:ea typeface="微软雅黑" panose="020B0503020204020204" pitchFamily="34" charset="-122"/>
              </a:rPr>
              <a:t>(Observer Pattern)</a:t>
            </a:r>
            <a:r>
              <a:rPr lang="zh-CN" altLang="en-US" sz="2800" b="1" dirty="0">
                <a:latin typeface="微软雅黑" panose="020B0503020204020204" pitchFamily="34" charset="-122"/>
                <a:ea typeface="微软雅黑" panose="020B0503020204020204" pitchFamily="34" charset="-122"/>
              </a:rPr>
              <a:t>：定义对象间的一种</a:t>
            </a:r>
            <a:r>
              <a:rPr lang="zh-CN" altLang="en-US" sz="2800" b="1" dirty="0">
                <a:solidFill>
                  <a:srgbClr val="EC7328"/>
                </a:solidFill>
                <a:latin typeface="微软雅黑" panose="020B0503020204020204" pitchFamily="34" charset="-122"/>
                <a:ea typeface="微软雅黑" panose="020B0503020204020204" pitchFamily="34" charset="-122"/>
              </a:rPr>
              <a:t>一对多依赖关系</a:t>
            </a:r>
            <a:r>
              <a:rPr lang="zh-CN" altLang="en-US" sz="2800" b="1" dirty="0">
                <a:latin typeface="微软雅黑" panose="020B0503020204020204" pitchFamily="34" charset="-122"/>
                <a:ea typeface="微软雅黑" panose="020B0503020204020204" pitchFamily="34" charset="-122"/>
              </a:rPr>
              <a:t>，使得</a:t>
            </a:r>
            <a:r>
              <a:rPr lang="zh-CN" altLang="en-US" sz="2800" b="1" dirty="0">
                <a:solidFill>
                  <a:srgbClr val="EC7328"/>
                </a:solidFill>
                <a:latin typeface="微软雅黑" panose="020B0503020204020204" pitchFamily="34" charset="-122"/>
                <a:ea typeface="微软雅黑" panose="020B0503020204020204" pitchFamily="34" charset="-122"/>
              </a:rPr>
              <a:t>每当一个对象状态发生改变时</a:t>
            </a:r>
            <a:r>
              <a:rPr lang="zh-CN" altLang="en-US" sz="2800" b="1" dirty="0">
                <a:latin typeface="微软雅黑" panose="020B0503020204020204" pitchFamily="34" charset="-122"/>
                <a:ea typeface="微软雅黑" panose="020B0503020204020204" pitchFamily="34" charset="-122"/>
              </a:rPr>
              <a:t>，其</a:t>
            </a:r>
            <a:r>
              <a:rPr lang="zh-CN" altLang="en-US" sz="2800" b="1" dirty="0">
                <a:solidFill>
                  <a:srgbClr val="EC7328"/>
                </a:solidFill>
                <a:latin typeface="微软雅黑" panose="020B0503020204020204" pitchFamily="34" charset="-122"/>
                <a:ea typeface="微软雅黑" panose="020B0503020204020204" pitchFamily="34" charset="-122"/>
              </a:rPr>
              <a:t>相关依赖对象皆得到通知并被自动更新</a:t>
            </a:r>
            <a:r>
              <a:rPr lang="zh-CN" altLang="en-US" sz="2800" b="1" dirty="0" smtClean="0">
                <a:latin typeface="微软雅黑" panose="020B0503020204020204" pitchFamily="34" charset="-122"/>
                <a:ea typeface="微软雅黑" panose="020B0503020204020204" pitchFamily="34" charset="-122"/>
              </a:rPr>
              <a:t>。</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b="1" dirty="0" smtClean="0">
                <a:latin typeface="微软雅黑" panose="020B0503020204020204" pitchFamily="34" charset="-122"/>
                <a:ea typeface="微软雅黑" panose="020B0503020204020204" pitchFamily="34" charset="-122"/>
              </a:rPr>
              <a:t>观察</a:t>
            </a:r>
            <a:r>
              <a:rPr lang="zh-CN" altLang="en-US" sz="2800" b="1" dirty="0">
                <a:latin typeface="微软雅黑" panose="020B0503020204020204" pitchFamily="34" charset="-122"/>
                <a:ea typeface="微软雅黑" panose="020B0503020204020204" pitchFamily="34" charset="-122"/>
              </a:rPr>
              <a:t>者模式又叫做</a:t>
            </a:r>
            <a:r>
              <a:rPr lang="zh-CN" altLang="en-US" sz="2800" b="1" dirty="0">
                <a:solidFill>
                  <a:srgbClr val="EC7328"/>
                </a:solidFill>
                <a:latin typeface="微软雅黑" panose="020B0503020204020204" pitchFamily="34" charset="-122"/>
                <a:ea typeface="微软雅黑" panose="020B0503020204020204" pitchFamily="34" charset="-122"/>
              </a:rPr>
              <a:t>发布</a:t>
            </a:r>
            <a:r>
              <a:rPr lang="en-US" altLang="zh-CN" sz="2800" b="1" dirty="0">
                <a:solidFill>
                  <a:srgbClr val="EC7328"/>
                </a:solidFill>
                <a:latin typeface="微软雅黑" panose="020B0503020204020204" pitchFamily="34" charset="-122"/>
                <a:ea typeface="微软雅黑" panose="020B0503020204020204" pitchFamily="34" charset="-122"/>
              </a:rPr>
              <a:t>-</a:t>
            </a:r>
            <a:r>
              <a:rPr lang="zh-CN" altLang="en-US" sz="2800" b="1" dirty="0">
                <a:solidFill>
                  <a:srgbClr val="EC7328"/>
                </a:solidFill>
                <a:latin typeface="微软雅黑" panose="020B0503020204020204" pitchFamily="34" charset="-122"/>
                <a:ea typeface="微软雅黑" panose="020B0503020204020204" pitchFamily="34" charset="-122"/>
              </a:rPr>
              <a:t>订阅（</a:t>
            </a:r>
            <a:r>
              <a:rPr lang="en-US" altLang="zh-CN" sz="2800" b="1" dirty="0">
                <a:solidFill>
                  <a:srgbClr val="EC7328"/>
                </a:solidFill>
                <a:latin typeface="微软雅黑" panose="020B0503020204020204" pitchFamily="34" charset="-122"/>
                <a:ea typeface="微软雅黑" panose="020B0503020204020204" pitchFamily="34" charset="-122"/>
              </a:rPr>
              <a:t>Publish/Subscribe</a:t>
            </a:r>
            <a:r>
              <a:rPr lang="zh-CN" altLang="en-US" sz="2800" b="1" dirty="0">
                <a:solidFill>
                  <a:srgbClr val="EC7328"/>
                </a:solidFill>
                <a:latin typeface="微软雅黑" panose="020B0503020204020204" pitchFamily="34" charset="-122"/>
                <a:ea typeface="微软雅黑" panose="020B0503020204020204" pitchFamily="34" charset="-122"/>
              </a:rPr>
              <a:t>）模式</a:t>
            </a:r>
            <a:r>
              <a:rPr lang="zh-CN" altLang="en-US" sz="2800" b="1" dirty="0">
                <a:latin typeface="微软雅黑" panose="020B0503020204020204" pitchFamily="34" charset="-122"/>
                <a:ea typeface="微软雅黑" panose="020B0503020204020204" pitchFamily="34" charset="-122"/>
              </a:rPr>
              <a:t>、</a:t>
            </a:r>
            <a:r>
              <a:rPr lang="zh-CN" altLang="en-US" sz="2800" b="1" dirty="0">
                <a:solidFill>
                  <a:srgbClr val="EC7328"/>
                </a:solidFill>
                <a:latin typeface="微软雅黑" panose="020B0503020204020204" pitchFamily="34" charset="-122"/>
                <a:ea typeface="微软雅黑" panose="020B0503020204020204" pitchFamily="34" charset="-122"/>
              </a:rPr>
              <a:t>模型</a:t>
            </a:r>
            <a:r>
              <a:rPr lang="en-US" altLang="zh-CN" sz="2800" b="1" dirty="0">
                <a:solidFill>
                  <a:srgbClr val="EC7328"/>
                </a:solidFill>
                <a:latin typeface="微软雅黑" panose="020B0503020204020204" pitchFamily="34" charset="-122"/>
                <a:ea typeface="微软雅黑" panose="020B0503020204020204" pitchFamily="34" charset="-122"/>
              </a:rPr>
              <a:t>-</a:t>
            </a:r>
            <a:r>
              <a:rPr lang="zh-CN" altLang="en-US" sz="2800" b="1" dirty="0">
                <a:solidFill>
                  <a:srgbClr val="EC7328"/>
                </a:solidFill>
                <a:latin typeface="微软雅黑" panose="020B0503020204020204" pitchFamily="34" charset="-122"/>
                <a:ea typeface="微软雅黑" panose="020B0503020204020204" pitchFamily="34" charset="-122"/>
              </a:rPr>
              <a:t>视图（</a:t>
            </a:r>
            <a:r>
              <a:rPr lang="en-US" altLang="zh-CN" sz="2800" b="1" dirty="0">
                <a:solidFill>
                  <a:srgbClr val="EC7328"/>
                </a:solidFill>
                <a:latin typeface="微软雅黑" panose="020B0503020204020204" pitchFamily="34" charset="-122"/>
                <a:ea typeface="微软雅黑" panose="020B0503020204020204" pitchFamily="34" charset="-122"/>
              </a:rPr>
              <a:t>Model/View</a:t>
            </a:r>
            <a:r>
              <a:rPr lang="zh-CN" altLang="en-US" sz="2800" b="1" dirty="0">
                <a:solidFill>
                  <a:srgbClr val="EC7328"/>
                </a:solidFill>
                <a:latin typeface="微软雅黑" panose="020B0503020204020204" pitchFamily="34" charset="-122"/>
                <a:ea typeface="微软雅黑" panose="020B0503020204020204" pitchFamily="34" charset="-122"/>
              </a:rPr>
              <a:t>）模式</a:t>
            </a:r>
            <a:r>
              <a:rPr lang="zh-CN" altLang="en-US" sz="2800" b="1" dirty="0">
                <a:latin typeface="微软雅黑" panose="020B0503020204020204" pitchFamily="34" charset="-122"/>
                <a:ea typeface="微软雅黑" panose="020B0503020204020204" pitchFamily="34" charset="-122"/>
              </a:rPr>
              <a:t>、</a:t>
            </a:r>
            <a:r>
              <a:rPr lang="zh-CN" altLang="en-US" sz="2800" b="1" dirty="0">
                <a:solidFill>
                  <a:srgbClr val="EC7328"/>
                </a:solidFill>
                <a:latin typeface="微软雅黑" panose="020B0503020204020204" pitchFamily="34" charset="-122"/>
                <a:ea typeface="微软雅黑" panose="020B0503020204020204" pitchFamily="34" charset="-122"/>
              </a:rPr>
              <a:t>源</a:t>
            </a:r>
            <a:r>
              <a:rPr lang="en-US" altLang="zh-CN" sz="2800" b="1" dirty="0">
                <a:solidFill>
                  <a:srgbClr val="EC7328"/>
                </a:solidFill>
                <a:latin typeface="微软雅黑" panose="020B0503020204020204" pitchFamily="34" charset="-122"/>
                <a:ea typeface="微软雅黑" panose="020B0503020204020204" pitchFamily="34" charset="-122"/>
              </a:rPr>
              <a:t>-</a:t>
            </a:r>
            <a:r>
              <a:rPr lang="zh-CN" altLang="en-US" sz="2800" b="1" dirty="0">
                <a:solidFill>
                  <a:srgbClr val="EC7328"/>
                </a:solidFill>
                <a:latin typeface="微软雅黑" panose="020B0503020204020204" pitchFamily="34" charset="-122"/>
                <a:ea typeface="微软雅黑" panose="020B0503020204020204" pitchFamily="34" charset="-122"/>
              </a:rPr>
              <a:t>监听器（</a:t>
            </a:r>
            <a:r>
              <a:rPr lang="en-US" altLang="zh-CN" sz="2800" b="1" dirty="0">
                <a:solidFill>
                  <a:srgbClr val="EC7328"/>
                </a:solidFill>
                <a:latin typeface="微软雅黑" panose="020B0503020204020204" pitchFamily="34" charset="-122"/>
                <a:ea typeface="微软雅黑" panose="020B0503020204020204" pitchFamily="34" charset="-122"/>
              </a:rPr>
              <a:t>Source/Listener</a:t>
            </a:r>
            <a:r>
              <a:rPr lang="zh-CN" altLang="en-US" sz="2800" b="1" dirty="0">
                <a:solidFill>
                  <a:srgbClr val="EC7328"/>
                </a:solidFill>
                <a:latin typeface="微软雅黑" panose="020B0503020204020204" pitchFamily="34" charset="-122"/>
                <a:ea typeface="微软雅黑" panose="020B0503020204020204" pitchFamily="34" charset="-122"/>
              </a:rPr>
              <a:t>）模式</a:t>
            </a:r>
            <a:r>
              <a:rPr lang="zh-CN" altLang="en-US" sz="2800" b="1" dirty="0">
                <a:latin typeface="微软雅黑" panose="020B0503020204020204" pitchFamily="34" charset="-122"/>
                <a:ea typeface="微软雅黑" panose="020B0503020204020204" pitchFamily="34" charset="-122"/>
              </a:rPr>
              <a:t>或</a:t>
            </a:r>
            <a:r>
              <a:rPr lang="zh-CN" altLang="en-US" sz="2800" b="1" dirty="0">
                <a:solidFill>
                  <a:srgbClr val="EC7328"/>
                </a:solidFill>
                <a:latin typeface="微软雅黑" panose="020B0503020204020204" pitchFamily="34" charset="-122"/>
                <a:ea typeface="微软雅黑" panose="020B0503020204020204" pitchFamily="34" charset="-122"/>
              </a:rPr>
              <a:t>从属者（</a:t>
            </a:r>
            <a:r>
              <a:rPr lang="en-US" altLang="zh-CN" sz="2800" b="1" dirty="0">
                <a:solidFill>
                  <a:srgbClr val="EC7328"/>
                </a:solidFill>
                <a:latin typeface="微软雅黑" panose="020B0503020204020204" pitchFamily="34" charset="-122"/>
                <a:ea typeface="微软雅黑" panose="020B0503020204020204" pitchFamily="34" charset="-122"/>
              </a:rPr>
              <a:t>Dependents</a:t>
            </a:r>
            <a:r>
              <a:rPr lang="zh-CN" altLang="en-US" sz="2800" b="1" dirty="0">
                <a:solidFill>
                  <a:srgbClr val="EC7328"/>
                </a:solidFill>
                <a:latin typeface="微软雅黑" panose="020B0503020204020204" pitchFamily="34" charset="-122"/>
                <a:ea typeface="微软雅黑" panose="020B0503020204020204" pitchFamily="34" charset="-122"/>
              </a:rPr>
              <a:t>）</a:t>
            </a:r>
            <a:r>
              <a:rPr lang="zh-CN" altLang="en-US" sz="2800" b="1" dirty="0" smtClean="0">
                <a:solidFill>
                  <a:srgbClr val="EC7328"/>
                </a:solidFill>
                <a:latin typeface="微软雅黑" panose="020B0503020204020204" pitchFamily="34" charset="-122"/>
                <a:ea typeface="微软雅黑" panose="020B0503020204020204" pitchFamily="34" charset="-122"/>
              </a:rPr>
              <a:t>模式</a:t>
            </a:r>
            <a:endParaRPr lang="en-US" altLang="zh-CN" sz="2800" b="1" dirty="0" smtClean="0">
              <a:solidFill>
                <a:srgbClr val="EC7328"/>
              </a:solidFill>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b="1" dirty="0" smtClean="0">
                <a:latin typeface="微软雅黑" panose="020B0503020204020204" pitchFamily="34" charset="-122"/>
                <a:ea typeface="微软雅黑" panose="020B0503020204020204" pitchFamily="34" charset="-122"/>
              </a:rPr>
              <a:t>观察</a:t>
            </a:r>
            <a:r>
              <a:rPr lang="zh-CN" altLang="en-US" sz="2800" b="1" dirty="0">
                <a:latin typeface="微软雅黑" panose="020B0503020204020204" pitchFamily="34" charset="-122"/>
                <a:ea typeface="微软雅黑" panose="020B0503020204020204" pitchFamily="34" charset="-122"/>
              </a:rPr>
              <a:t>者模式是一种</a:t>
            </a:r>
            <a:r>
              <a:rPr lang="zh-CN" altLang="en-US" sz="2800" b="1" dirty="0">
                <a:solidFill>
                  <a:srgbClr val="EC7328"/>
                </a:solidFill>
                <a:latin typeface="微软雅黑" panose="020B0503020204020204" pitchFamily="34" charset="-122"/>
                <a:ea typeface="微软雅黑" panose="020B0503020204020204" pitchFamily="34" charset="-122"/>
              </a:rPr>
              <a:t>对象行为型</a:t>
            </a:r>
            <a:r>
              <a:rPr lang="zh-CN" altLang="en-US" sz="2800" b="1" dirty="0" smtClean="0">
                <a:solidFill>
                  <a:srgbClr val="EC7328"/>
                </a:solidFill>
                <a:latin typeface="微软雅黑" panose="020B0503020204020204" pitchFamily="34" charset="-122"/>
                <a:ea typeface="微软雅黑" panose="020B0503020204020204" pitchFamily="34" charset="-122"/>
              </a:rPr>
              <a:t>模式</a:t>
            </a:r>
            <a:endParaRPr lang="en-US" altLang="zh-CN" sz="2800" b="1" dirty="0">
              <a:solidFill>
                <a:srgbClr val="EC7328"/>
              </a:solidFill>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1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67784" y="795460"/>
            <a:ext cx="9064039" cy="5945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23.2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内容占位符 2"/>
          <p:cNvSpPr txBox="1"/>
          <p:nvPr/>
        </p:nvSpPr>
        <p:spPr>
          <a:xfrm>
            <a:off x="277216" y="1102675"/>
            <a:ext cx="2259696" cy="67093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模式结构</a:t>
            </a:r>
            <a:endParaRPr lang="zh-CN" altLang="en-US" sz="2800" b="1" dirty="0">
              <a:latin typeface="微软雅黑" panose="020B0503020204020204" pitchFamily="34" charset="-122"/>
              <a:ea typeface="微软雅黑" panose="020B0503020204020204" pitchFamily="34" charset="-122"/>
            </a:endParaRPr>
          </a:p>
        </p:txBody>
      </p:sp>
      <p:sp>
        <p:nvSpPr>
          <p:cNvPr id="17" name="TextBox 16"/>
          <p:cNvSpPr txBox="1"/>
          <p:nvPr/>
        </p:nvSpPr>
        <p:spPr>
          <a:xfrm>
            <a:off x="2138735" y="2198219"/>
            <a:ext cx="1046787" cy="523220"/>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CN" altLang="en-US" sz="2800" dirty="0" smtClean="0">
                <a:latin typeface="微软雅黑" panose="020B0503020204020204" pitchFamily="34" charset="-122"/>
                <a:ea typeface="微软雅黑" panose="020B0503020204020204" pitchFamily="34" charset="-122"/>
              </a:rPr>
              <a:t>目标</a:t>
            </a:r>
            <a:endParaRPr lang="zh-CN" altLang="en-US" sz="2800" dirty="0">
              <a:latin typeface="微软雅黑" panose="020B0503020204020204" pitchFamily="34" charset="-122"/>
              <a:ea typeface="微软雅黑" panose="020B0503020204020204" pitchFamily="34" charset="-122"/>
            </a:endParaRPr>
          </a:p>
        </p:txBody>
      </p:sp>
      <p:sp>
        <p:nvSpPr>
          <p:cNvPr id="11" name="TextBox 10"/>
          <p:cNvSpPr txBox="1"/>
          <p:nvPr/>
        </p:nvSpPr>
        <p:spPr>
          <a:xfrm>
            <a:off x="9969255" y="5221289"/>
            <a:ext cx="1962568" cy="523220"/>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CN" altLang="en-US" sz="2800" dirty="0" smtClean="0">
                <a:latin typeface="微软雅黑" panose="020B0503020204020204" pitchFamily="34" charset="-122"/>
                <a:ea typeface="微软雅黑" panose="020B0503020204020204" pitchFamily="34" charset="-122"/>
              </a:rPr>
              <a:t>具体观察者</a:t>
            </a:r>
            <a:endParaRPr lang="zh-CN" altLang="en-US" sz="2800" dirty="0">
              <a:latin typeface="微软雅黑" panose="020B0503020204020204" pitchFamily="34" charset="-122"/>
              <a:ea typeface="微软雅黑" panose="020B0503020204020204" pitchFamily="34" charset="-122"/>
            </a:endParaRPr>
          </a:p>
        </p:txBody>
      </p:sp>
      <p:sp>
        <p:nvSpPr>
          <p:cNvPr id="12" name="TextBox 11"/>
          <p:cNvSpPr txBox="1"/>
          <p:nvPr/>
        </p:nvSpPr>
        <p:spPr>
          <a:xfrm>
            <a:off x="10576788" y="1936609"/>
            <a:ext cx="1427043" cy="523220"/>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CN" altLang="en-US" sz="2800" dirty="0" smtClean="0">
                <a:latin typeface="微软雅黑" panose="020B0503020204020204" pitchFamily="34" charset="-122"/>
                <a:ea typeface="微软雅黑" panose="020B0503020204020204" pitchFamily="34" charset="-122"/>
              </a:rPr>
              <a:t>观察者</a:t>
            </a:r>
            <a:endParaRPr lang="zh-CN" altLang="en-US" sz="2800" dirty="0">
              <a:latin typeface="微软雅黑" panose="020B0503020204020204" pitchFamily="34" charset="-122"/>
              <a:ea typeface="微软雅黑" panose="020B0503020204020204" pitchFamily="34" charset="-122"/>
            </a:endParaRPr>
          </a:p>
        </p:txBody>
      </p:sp>
      <p:sp>
        <p:nvSpPr>
          <p:cNvPr id="13" name="TextBox 12"/>
          <p:cNvSpPr txBox="1"/>
          <p:nvPr/>
        </p:nvSpPr>
        <p:spPr>
          <a:xfrm>
            <a:off x="1197240" y="5446018"/>
            <a:ext cx="1805542" cy="523220"/>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CN" altLang="en-US" sz="2800" dirty="0" smtClean="0">
                <a:latin typeface="微软雅黑" panose="020B0503020204020204" pitchFamily="34" charset="-122"/>
                <a:ea typeface="微软雅黑" panose="020B0503020204020204" pitchFamily="34" charset="-122"/>
              </a:rPr>
              <a:t>具体目标</a:t>
            </a:r>
            <a:endParaRPr lang="zh-CN" altLang="en-US" sz="2800" dirty="0">
              <a:latin typeface="微软雅黑" panose="020B0503020204020204" pitchFamily="34" charset="-122"/>
              <a:ea typeface="微软雅黑" panose="020B0503020204020204" pitchFamily="34" charset="-122"/>
            </a:endParaRPr>
          </a:p>
        </p:txBody>
      </p:sp>
      <p:sp>
        <p:nvSpPr>
          <p:cNvPr id="3" name="TextBox 2"/>
          <p:cNvSpPr txBox="1"/>
          <p:nvPr/>
        </p:nvSpPr>
        <p:spPr>
          <a:xfrm>
            <a:off x="277216" y="2853730"/>
            <a:ext cx="2725566" cy="1200329"/>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zh-CN" altLang="en-US" dirty="0" smtClean="0">
                <a:latin typeface="微软雅黑" panose="020B0503020204020204" pitchFamily="34" charset="-122"/>
                <a:ea typeface="微软雅黑" panose="020B0503020204020204" pitchFamily="34" charset="-122"/>
              </a:rPr>
              <a:t>观察者集合</a:t>
            </a:r>
            <a:br>
              <a:rPr lang="en-US" altLang="zh-CN" dirty="0" smtClean="0">
                <a:latin typeface="微软雅黑" panose="020B0503020204020204" pitchFamily="34" charset="-122"/>
                <a:ea typeface="微软雅黑" panose="020B0503020204020204" pitchFamily="34" charset="-122"/>
              </a:rPr>
            </a:br>
            <a:r>
              <a:rPr lang="zh-CN" altLang="en-US" dirty="0" smtClean="0">
                <a:latin typeface="微软雅黑" panose="020B0503020204020204" pitchFamily="34" charset="-122"/>
                <a:ea typeface="微软雅黑" panose="020B0503020204020204" pitchFamily="34" charset="-122"/>
              </a:rPr>
              <a:t>增加、删除观察者</a:t>
            </a:r>
            <a:br>
              <a:rPr lang="en-US" altLang="zh-CN" dirty="0" smtClean="0">
                <a:latin typeface="微软雅黑" panose="020B0503020204020204" pitchFamily="34" charset="-122"/>
                <a:ea typeface="微软雅黑" panose="020B0503020204020204" pitchFamily="34" charset="-122"/>
              </a:rPr>
            </a:br>
            <a:r>
              <a:rPr lang="zh-CN" altLang="en-US" dirty="0" smtClean="0">
                <a:latin typeface="微软雅黑" panose="020B0503020204020204" pitchFamily="34" charset="-122"/>
                <a:ea typeface="微软雅黑" panose="020B0503020204020204" pitchFamily="34" charset="-122"/>
              </a:rPr>
              <a:t>通知方法</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23.2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内容占位符 2"/>
          <p:cNvSpPr txBox="1"/>
          <p:nvPr/>
        </p:nvSpPr>
        <p:spPr>
          <a:xfrm>
            <a:off x="931711" y="837507"/>
            <a:ext cx="10712080" cy="61636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模式分析</a:t>
            </a:r>
            <a:r>
              <a:rPr lang="en-US" altLang="zh-CN" sz="2800" b="1" dirty="0" smtClean="0">
                <a:latin typeface="微软雅黑" panose="020B0503020204020204" pitchFamily="34" charset="-122"/>
                <a:ea typeface="微软雅黑" panose="020B0503020204020204" pitchFamily="34" charset="-122"/>
              </a:rPr>
              <a:t>-</a:t>
            </a:r>
            <a:r>
              <a:rPr lang="zh-CN" altLang="en-US" sz="2800" b="1" dirty="0" smtClean="0">
                <a:latin typeface="微软雅黑" panose="020B0503020204020204" pitchFamily="34" charset="-122"/>
                <a:ea typeface="微软雅黑" panose="020B0503020204020204" pitchFamily="34" charset="-122"/>
              </a:rPr>
              <a:t>抽象目标类示例代码</a:t>
            </a:r>
            <a:r>
              <a:rPr lang="zh-CN" altLang="en-US" sz="2800" dirty="0" smtClean="0">
                <a:latin typeface="微软雅黑" panose="020B0503020204020204" pitchFamily="34" charset="-122"/>
                <a:ea typeface="微软雅黑" panose="020B0503020204020204" pitchFamily="34" charset="-122"/>
              </a:rPr>
              <a:t>：</a:t>
            </a:r>
            <a:endParaRPr lang="zh-CN" altLang="en-US" sz="2800"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400" b="1" dirty="0" smtClean="0">
              <a:latin typeface="微软雅黑" panose="020B0503020204020204" pitchFamily="34" charset="-122"/>
              <a:ea typeface="微软雅黑" panose="020B0503020204020204" pitchFamily="34" charset="-122"/>
            </a:endParaRPr>
          </a:p>
        </p:txBody>
      </p:sp>
      <p:graphicFrame>
        <p:nvGraphicFramePr>
          <p:cNvPr id="5" name="表格 4"/>
          <p:cNvGraphicFramePr>
            <a:graphicFrameLocks noGrp="1"/>
          </p:cNvGraphicFramePr>
          <p:nvPr/>
        </p:nvGraphicFramePr>
        <p:xfrm>
          <a:off x="338535" y="1261482"/>
          <a:ext cx="11531649" cy="5163312"/>
        </p:xfrm>
        <a:graphic>
          <a:graphicData uri="http://schemas.openxmlformats.org/drawingml/2006/table">
            <a:tbl>
              <a:tblPr/>
              <a:tblGrid>
                <a:gridCol w="11531649"/>
              </a:tblGrid>
              <a:tr h="1036637">
                <a:tc>
                  <a:txBody>
                    <a:bodyPr/>
                    <a:lstStyle/>
                    <a:p>
                      <a:pPr indent="0">
                        <a:lnSpc>
                          <a:spcPct val="110000"/>
                        </a:lnSpc>
                      </a:pPr>
                      <a:r>
                        <a:rPr lang="en-US" altLang="zh-CN" sz="2800"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import java.util.*;</a:t>
                      </a:r>
                      <a:endParaRPr lang="en-US" altLang="zh-CN" sz="2800"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0">
                        <a:lnSpc>
                          <a:spcPct val="110000"/>
                        </a:lnSpc>
                      </a:pPr>
                      <a:r>
                        <a:rPr lang="en-US" altLang="zh-CN" sz="2800"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public abstract class Subject {</a:t>
                      </a:r>
                      <a:endParaRPr lang="en-US" altLang="zh-CN" sz="2800"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457200">
                        <a:lnSpc>
                          <a:spcPct val="110000"/>
                        </a:lnSpc>
                      </a:pPr>
                      <a:r>
                        <a:rPr lang="en-US" altLang="zh-CN" sz="32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protected ArrayList observers&lt;Observer&gt; = new ArrayList();</a:t>
                      </a:r>
                      <a:endParaRPr lang="en-US" altLang="zh-CN" sz="32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457200">
                        <a:lnSpc>
                          <a:spcPct val="110000"/>
                        </a:lnSpc>
                      </a:pPr>
                      <a:endParaRPr lang="en-US" altLang="zh-CN" sz="32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457200">
                        <a:lnSpc>
                          <a:spcPct val="110000"/>
                        </a:lnSpc>
                      </a:pPr>
                      <a:r>
                        <a:rPr lang="en-US" altLang="zh-CN" sz="32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public void attach(Observer observer) {</a:t>
                      </a:r>
                      <a:endParaRPr lang="en-US" altLang="zh-CN" sz="32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457200">
                        <a:lnSpc>
                          <a:spcPct val="110000"/>
                        </a:lnSpc>
                      </a:pPr>
                      <a:r>
                        <a:rPr lang="en-US" altLang="zh-CN" sz="32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        observers.add(observer);    }</a:t>
                      </a:r>
                      <a:endParaRPr lang="en-US" altLang="zh-CN" sz="32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457200">
                        <a:lnSpc>
                          <a:spcPct val="110000"/>
                        </a:lnSpc>
                      </a:pPr>
                      <a:r>
                        <a:rPr lang="en-US" altLang="zh-CN" sz="32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public void detach(Observer observer) {</a:t>
                      </a:r>
                      <a:endParaRPr lang="en-US" altLang="zh-CN" sz="32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457200">
                        <a:lnSpc>
                          <a:spcPct val="110000"/>
                        </a:lnSpc>
                      </a:pPr>
                      <a:r>
                        <a:rPr lang="en-US" altLang="zh-CN" sz="32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        observers.remove(observer);    }</a:t>
                      </a:r>
                      <a:endParaRPr lang="en-US" altLang="zh-CN" sz="32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457200">
                        <a:lnSpc>
                          <a:spcPct val="110000"/>
                        </a:lnSpc>
                      </a:pPr>
                      <a:r>
                        <a:rPr lang="en-US" altLang="zh-CN" sz="32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public abstract void notify( );</a:t>
                      </a:r>
                      <a:endParaRPr lang="en-US" altLang="zh-CN" sz="3200" b="1" kern="1200" dirty="0" smtClean="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indent="457200">
                        <a:lnSpc>
                          <a:spcPct val="110000"/>
                        </a:lnSpc>
                      </a:pPr>
                      <a:r>
                        <a:rPr lang="en-US" altLang="zh-CN" sz="2800"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800" kern="12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a:noFill/>
                    </a:lnL>
                    <a:lnR>
                      <a:noFill/>
                    </a:lnR>
                    <a:lnT>
                      <a:noFill/>
                    </a:lnT>
                    <a:lnB>
                      <a:noFill/>
                    </a:lnB>
                    <a:solidFill>
                      <a:srgbClr val="F2F2F2"/>
                    </a:solidFill>
                  </a:tcPr>
                </a:tc>
              </a:tr>
            </a:tbl>
          </a:graphicData>
        </a:graphic>
      </p:graphicFrame>
    </p:spTree>
  </p:cSld>
  <p:clrMapOvr>
    <a:masterClrMapping/>
  </p:clrMapOvr>
  <p:transition spd="slow" advTm="0">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23.2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内容占位符 2"/>
          <p:cNvSpPr txBox="1"/>
          <p:nvPr/>
        </p:nvSpPr>
        <p:spPr>
          <a:xfrm>
            <a:off x="931711" y="837507"/>
            <a:ext cx="10712080" cy="61636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模式分析</a:t>
            </a:r>
            <a:r>
              <a:rPr lang="en-US" altLang="zh-CN" sz="2800" b="1" dirty="0" smtClean="0">
                <a:latin typeface="微软雅黑" panose="020B0503020204020204" pitchFamily="34" charset="-122"/>
                <a:ea typeface="微软雅黑" panose="020B0503020204020204" pitchFamily="34" charset="-122"/>
              </a:rPr>
              <a:t>-</a:t>
            </a:r>
            <a:r>
              <a:rPr lang="zh-CN" altLang="en-US" sz="2800" b="1" dirty="0" smtClean="0">
                <a:latin typeface="微软雅黑" panose="020B0503020204020204" pitchFamily="34" charset="-122"/>
                <a:ea typeface="微软雅黑" panose="020B0503020204020204" pitchFamily="34" charset="-122"/>
              </a:rPr>
              <a:t>具体目标类示例代码</a:t>
            </a:r>
            <a:r>
              <a:rPr lang="zh-CN" altLang="en-US" sz="2800" dirty="0" smtClean="0">
                <a:latin typeface="微软雅黑" panose="020B0503020204020204" pitchFamily="34" charset="-122"/>
                <a:ea typeface="微软雅黑" panose="020B0503020204020204" pitchFamily="34" charset="-122"/>
              </a:rPr>
              <a:t>：</a:t>
            </a:r>
            <a:endParaRPr lang="zh-CN" altLang="en-US" sz="2800"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400" b="1" dirty="0" smtClean="0">
              <a:latin typeface="微软雅黑" panose="020B0503020204020204" pitchFamily="34" charset="-122"/>
              <a:ea typeface="微软雅黑" panose="020B0503020204020204" pitchFamily="34" charset="-122"/>
            </a:endParaRPr>
          </a:p>
        </p:txBody>
      </p:sp>
      <p:graphicFrame>
        <p:nvGraphicFramePr>
          <p:cNvPr id="11" name="表格 10"/>
          <p:cNvGraphicFramePr>
            <a:graphicFrameLocks noGrp="1"/>
          </p:cNvGraphicFramePr>
          <p:nvPr/>
        </p:nvGraphicFramePr>
        <p:xfrm>
          <a:off x="698575" y="1386194"/>
          <a:ext cx="10945216" cy="5205984"/>
        </p:xfrm>
        <a:graphic>
          <a:graphicData uri="http://schemas.openxmlformats.org/drawingml/2006/table">
            <a:tbl>
              <a:tblPr/>
              <a:tblGrid>
                <a:gridCol w="10945216"/>
              </a:tblGrid>
              <a:tr h="1564432">
                <a:tc>
                  <a:txBody>
                    <a:bodyPr/>
                    <a:lstStyle/>
                    <a:p>
                      <a:pPr algn="just">
                        <a:lnSpc>
                          <a:spcPct val="140000"/>
                        </a:lnSpc>
                        <a:spcAft>
                          <a:spcPts val="0"/>
                        </a:spcAft>
                      </a:pPr>
                      <a:r>
                        <a:rPr lang="en-US" altLang="zh-CN" sz="2800" b="1" kern="100" dirty="0" smtClean="0">
                          <a:latin typeface="Times New Roman" panose="02020603050405020304"/>
                          <a:ea typeface="+mn-ea"/>
                        </a:rPr>
                        <a:t>public class </a:t>
                      </a:r>
                      <a:r>
                        <a:rPr lang="en-US" altLang="zh-CN" sz="2800" b="1" kern="100" dirty="0" err="1" smtClean="0">
                          <a:latin typeface="Times New Roman" panose="02020603050405020304"/>
                          <a:ea typeface="+mn-ea"/>
                        </a:rPr>
                        <a:t>ConcreteSubject</a:t>
                      </a:r>
                      <a:r>
                        <a:rPr lang="en-US" altLang="zh-CN" sz="2800" b="1" kern="100" dirty="0" smtClean="0">
                          <a:latin typeface="Times New Roman" panose="02020603050405020304"/>
                          <a:ea typeface="+mn-ea"/>
                        </a:rPr>
                        <a:t> extends Subject {</a:t>
                      </a:r>
                      <a:endParaRPr lang="en-US" altLang="zh-CN" sz="2800" b="1" kern="100" dirty="0" smtClean="0">
                        <a:latin typeface="Times New Roman" panose="02020603050405020304"/>
                        <a:ea typeface="+mn-ea"/>
                      </a:endParaRPr>
                    </a:p>
                    <a:p>
                      <a:pPr algn="just">
                        <a:lnSpc>
                          <a:spcPct val="140000"/>
                        </a:lnSpc>
                        <a:spcAft>
                          <a:spcPts val="0"/>
                        </a:spcAft>
                      </a:pPr>
                      <a:r>
                        <a:rPr lang="en-US" altLang="zh-CN" sz="2800" b="1" kern="100" dirty="0" smtClean="0">
                          <a:latin typeface="Times New Roman" panose="02020603050405020304"/>
                          <a:ea typeface="+mn-ea"/>
                        </a:rPr>
                        <a:t>    //</a:t>
                      </a:r>
                      <a:r>
                        <a:rPr lang="zh-CN" altLang="en-US" sz="2800" b="1" kern="100" dirty="0" smtClean="0">
                          <a:latin typeface="Times New Roman" panose="02020603050405020304"/>
                          <a:ea typeface="+mn-ea"/>
                        </a:rPr>
                        <a:t>实现通知方法</a:t>
                      </a:r>
                      <a:endParaRPr lang="zh-CN" altLang="en-US" sz="2800" b="1" kern="100" dirty="0" smtClean="0">
                        <a:latin typeface="Times New Roman" panose="02020603050405020304"/>
                        <a:ea typeface="+mn-ea"/>
                      </a:endParaRPr>
                    </a:p>
                    <a:p>
                      <a:pPr algn="just">
                        <a:lnSpc>
                          <a:spcPct val="140000"/>
                        </a:lnSpc>
                        <a:spcAft>
                          <a:spcPts val="0"/>
                        </a:spcAft>
                      </a:pPr>
                      <a:r>
                        <a:rPr lang="zh-CN" altLang="en-US" sz="3200" b="1" kern="100" dirty="0" smtClean="0">
                          <a:solidFill>
                            <a:srgbClr val="FF0000"/>
                          </a:solidFill>
                          <a:latin typeface="Times New Roman" panose="02020603050405020304"/>
                          <a:ea typeface="+mn-ea"/>
                        </a:rPr>
                        <a:t>    </a:t>
                      </a:r>
                      <a:r>
                        <a:rPr lang="en-US" altLang="zh-CN" sz="3200" b="1" kern="100" dirty="0" smtClean="0">
                          <a:solidFill>
                            <a:srgbClr val="FF0000"/>
                          </a:solidFill>
                          <a:latin typeface="Times New Roman" panose="02020603050405020304"/>
                          <a:ea typeface="+mn-ea"/>
                        </a:rPr>
                        <a:t>public void notify() {</a:t>
                      </a:r>
                      <a:endParaRPr lang="en-US" altLang="zh-CN" sz="3200" b="1" kern="100" dirty="0" smtClean="0">
                        <a:solidFill>
                          <a:srgbClr val="FF0000"/>
                        </a:solidFill>
                        <a:latin typeface="Times New Roman" panose="02020603050405020304"/>
                        <a:ea typeface="+mn-ea"/>
                      </a:endParaRPr>
                    </a:p>
                    <a:p>
                      <a:pPr algn="just">
                        <a:lnSpc>
                          <a:spcPct val="140000"/>
                        </a:lnSpc>
                        <a:spcAft>
                          <a:spcPts val="0"/>
                        </a:spcAft>
                      </a:pPr>
                      <a:r>
                        <a:rPr lang="en-US" altLang="zh-CN" sz="3200" b="1" kern="100" dirty="0" smtClean="0">
                          <a:solidFill>
                            <a:srgbClr val="FF0000"/>
                          </a:solidFill>
                          <a:latin typeface="Times New Roman" panose="02020603050405020304"/>
                          <a:ea typeface="+mn-ea"/>
                        </a:rPr>
                        <a:t>        for(Object </a:t>
                      </a:r>
                      <a:r>
                        <a:rPr lang="en-US" altLang="zh-CN" sz="3200" b="1" kern="100" dirty="0" err="1" smtClean="0">
                          <a:solidFill>
                            <a:srgbClr val="FF0000"/>
                          </a:solidFill>
                          <a:latin typeface="Times New Roman" panose="02020603050405020304"/>
                          <a:ea typeface="+mn-ea"/>
                        </a:rPr>
                        <a:t>obs:observers</a:t>
                      </a:r>
                      <a:r>
                        <a:rPr lang="en-US" altLang="zh-CN" sz="3200" b="1" kern="100" dirty="0" smtClean="0">
                          <a:solidFill>
                            <a:srgbClr val="FF0000"/>
                          </a:solidFill>
                          <a:latin typeface="Times New Roman" panose="02020603050405020304"/>
                          <a:ea typeface="+mn-ea"/>
                        </a:rPr>
                        <a:t>) {</a:t>
                      </a:r>
                      <a:endParaRPr lang="en-US" altLang="zh-CN" sz="3200" b="1" kern="100" dirty="0" smtClean="0">
                        <a:solidFill>
                          <a:srgbClr val="FF0000"/>
                        </a:solidFill>
                        <a:latin typeface="Times New Roman" panose="02020603050405020304"/>
                        <a:ea typeface="+mn-ea"/>
                      </a:endParaRPr>
                    </a:p>
                    <a:p>
                      <a:pPr algn="just">
                        <a:lnSpc>
                          <a:spcPct val="140000"/>
                        </a:lnSpc>
                        <a:spcAft>
                          <a:spcPts val="0"/>
                        </a:spcAft>
                      </a:pPr>
                      <a:r>
                        <a:rPr lang="en-US" altLang="zh-CN" sz="3200" b="1" kern="100" dirty="0" smtClean="0">
                          <a:solidFill>
                            <a:srgbClr val="FF0000"/>
                          </a:solidFill>
                          <a:latin typeface="Times New Roman" panose="02020603050405020304"/>
                          <a:ea typeface="+mn-ea"/>
                        </a:rPr>
                        <a:t>            ((Observer)</a:t>
                      </a:r>
                      <a:r>
                        <a:rPr lang="en-US" altLang="zh-CN" sz="3200" b="1" kern="100" dirty="0" err="1" smtClean="0">
                          <a:solidFill>
                            <a:srgbClr val="FF0000"/>
                          </a:solidFill>
                          <a:latin typeface="Times New Roman" panose="02020603050405020304"/>
                          <a:ea typeface="+mn-ea"/>
                        </a:rPr>
                        <a:t>obs</a:t>
                      </a:r>
                      <a:r>
                        <a:rPr lang="en-US" altLang="zh-CN" sz="3200" b="1" kern="100" dirty="0" smtClean="0">
                          <a:solidFill>
                            <a:srgbClr val="FF0000"/>
                          </a:solidFill>
                          <a:latin typeface="Times New Roman" panose="02020603050405020304"/>
                          <a:ea typeface="+mn-ea"/>
                        </a:rPr>
                        <a:t>).update();</a:t>
                      </a:r>
                      <a:endParaRPr lang="en-US" altLang="zh-CN" sz="3200" b="1" kern="100" dirty="0" smtClean="0">
                        <a:solidFill>
                          <a:srgbClr val="FF0000"/>
                        </a:solidFill>
                        <a:latin typeface="Times New Roman" panose="02020603050405020304"/>
                        <a:ea typeface="+mn-ea"/>
                      </a:endParaRPr>
                    </a:p>
                    <a:p>
                      <a:pPr algn="just">
                        <a:lnSpc>
                          <a:spcPct val="140000"/>
                        </a:lnSpc>
                        <a:spcAft>
                          <a:spcPts val="0"/>
                        </a:spcAft>
                      </a:pPr>
                      <a:r>
                        <a:rPr lang="en-US" altLang="zh-CN" sz="3200" b="1" kern="100" dirty="0" smtClean="0">
                          <a:solidFill>
                            <a:srgbClr val="FF0000"/>
                          </a:solidFill>
                          <a:latin typeface="Times New Roman" panose="02020603050405020304"/>
                          <a:ea typeface="+mn-ea"/>
                        </a:rPr>
                        <a:t>        }</a:t>
                      </a:r>
                      <a:endParaRPr lang="en-US" altLang="zh-CN" sz="3200" b="1" kern="100" dirty="0" smtClean="0">
                        <a:solidFill>
                          <a:srgbClr val="FF0000"/>
                        </a:solidFill>
                        <a:latin typeface="Times New Roman" panose="02020603050405020304"/>
                        <a:ea typeface="+mn-ea"/>
                      </a:endParaRPr>
                    </a:p>
                    <a:p>
                      <a:pPr algn="just">
                        <a:lnSpc>
                          <a:spcPct val="140000"/>
                        </a:lnSpc>
                        <a:spcAft>
                          <a:spcPts val="0"/>
                        </a:spcAft>
                      </a:pPr>
                      <a:r>
                        <a:rPr lang="en-US" altLang="zh-CN" sz="3200" b="1" kern="100" dirty="0" smtClean="0">
                          <a:solidFill>
                            <a:srgbClr val="FF0000"/>
                          </a:solidFill>
                          <a:latin typeface="Times New Roman" panose="02020603050405020304"/>
                          <a:ea typeface="+mn-ea"/>
                        </a:rPr>
                        <a:t>    }	</a:t>
                      </a:r>
                      <a:endParaRPr lang="en-US" altLang="zh-CN" sz="3200" b="1" kern="100" dirty="0" smtClean="0">
                        <a:solidFill>
                          <a:srgbClr val="FF0000"/>
                        </a:solidFill>
                        <a:latin typeface="Times New Roman" panose="02020603050405020304"/>
                        <a:ea typeface="+mn-ea"/>
                      </a:endParaRPr>
                    </a:p>
                    <a:p>
                      <a:pPr algn="just">
                        <a:lnSpc>
                          <a:spcPct val="140000"/>
                        </a:lnSpc>
                        <a:spcAft>
                          <a:spcPts val="0"/>
                        </a:spcAft>
                      </a:pPr>
                      <a:r>
                        <a:rPr lang="en-US" altLang="zh-CN" sz="2800" b="1" kern="100" dirty="0" smtClean="0">
                          <a:latin typeface="Times New Roman" panose="02020603050405020304"/>
                          <a:ea typeface="+mn-ea"/>
                        </a:rPr>
                        <a:t>}</a:t>
                      </a:r>
                      <a:endParaRPr lang="en-US" altLang="zh-CN" sz="2800" b="1" kern="100" dirty="0" smtClean="0">
                        <a:latin typeface="Times New Roman" panose="02020603050405020304"/>
                        <a:ea typeface="+mn-ea"/>
                      </a:endParaRPr>
                    </a:p>
                  </a:txBody>
                  <a:tcPr marL="68580" marR="68580" marT="0" marB="0">
                    <a:lnL>
                      <a:noFill/>
                    </a:lnL>
                    <a:lnR>
                      <a:noFill/>
                    </a:lnR>
                    <a:lnT>
                      <a:noFill/>
                    </a:lnT>
                    <a:lnB>
                      <a:noFill/>
                    </a:lnB>
                    <a:solidFill>
                      <a:srgbClr val="F2F2F2"/>
                    </a:solidFill>
                  </a:tcPr>
                </a:tc>
              </a:tr>
            </a:tbl>
          </a:graphicData>
        </a:graphic>
      </p:graphicFrame>
    </p:spTree>
  </p:cSld>
  <p:clrMapOvr>
    <a:masterClrMapping/>
  </p:clrMapOvr>
  <p:transition spd="slow" advTm="0">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23.2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内容占位符 2"/>
          <p:cNvSpPr txBox="1"/>
          <p:nvPr/>
        </p:nvSpPr>
        <p:spPr>
          <a:xfrm>
            <a:off x="931711" y="837507"/>
            <a:ext cx="10712080" cy="61636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模式分析</a:t>
            </a:r>
            <a:r>
              <a:rPr lang="en-US" altLang="zh-CN" sz="2800" b="1" dirty="0" smtClean="0">
                <a:latin typeface="微软雅黑" panose="020B0503020204020204" pitchFamily="34" charset="-122"/>
                <a:ea typeface="微软雅黑" panose="020B0503020204020204" pitchFamily="34" charset="-122"/>
              </a:rPr>
              <a:t>-</a:t>
            </a:r>
            <a:r>
              <a:rPr lang="zh-CN" altLang="en-US" sz="2800" b="1" dirty="0" smtClean="0">
                <a:latin typeface="微软雅黑" panose="020B0503020204020204" pitchFamily="34" charset="-122"/>
                <a:ea typeface="微软雅黑" panose="020B0503020204020204" pitchFamily="34" charset="-122"/>
              </a:rPr>
              <a:t>抽象观察者类示例代码</a:t>
            </a:r>
            <a:r>
              <a:rPr lang="zh-CN" altLang="en-US" sz="2800" dirty="0" smtClean="0">
                <a:latin typeface="微软雅黑" panose="020B0503020204020204" pitchFamily="34" charset="-122"/>
                <a:ea typeface="微软雅黑" panose="020B0503020204020204" pitchFamily="34" charset="-122"/>
              </a:rPr>
              <a:t>：</a:t>
            </a:r>
            <a:endParaRPr lang="zh-CN" altLang="en-US" sz="2800"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400" b="1" dirty="0" smtClean="0">
              <a:latin typeface="微软雅黑" panose="020B0503020204020204" pitchFamily="34" charset="-122"/>
              <a:ea typeface="微软雅黑" panose="020B0503020204020204" pitchFamily="34" charset="-122"/>
            </a:endParaRPr>
          </a:p>
        </p:txBody>
      </p:sp>
      <p:graphicFrame>
        <p:nvGraphicFramePr>
          <p:cNvPr id="11" name="表格 10"/>
          <p:cNvGraphicFramePr>
            <a:graphicFrameLocks noGrp="1"/>
          </p:cNvGraphicFramePr>
          <p:nvPr/>
        </p:nvGraphicFramePr>
        <p:xfrm>
          <a:off x="770583" y="1269554"/>
          <a:ext cx="10369152" cy="1755648"/>
        </p:xfrm>
        <a:graphic>
          <a:graphicData uri="http://schemas.openxmlformats.org/drawingml/2006/table">
            <a:tbl>
              <a:tblPr/>
              <a:tblGrid>
                <a:gridCol w="10369152"/>
              </a:tblGrid>
              <a:tr h="1656184">
                <a:tc>
                  <a:txBody>
                    <a:bodyPr/>
                    <a:lstStyle/>
                    <a:p>
                      <a:pPr algn="just">
                        <a:lnSpc>
                          <a:spcPct val="120000"/>
                        </a:lnSpc>
                        <a:spcAft>
                          <a:spcPts val="0"/>
                        </a:spcAft>
                      </a:pPr>
                      <a:r>
                        <a:rPr lang="en-US" altLang="zh-CN" sz="3200" b="1" kern="100" dirty="0" smtClean="0">
                          <a:latin typeface="Times New Roman" panose="02020603050405020304"/>
                          <a:ea typeface="+mn-ea"/>
                        </a:rPr>
                        <a:t>public interface Observer {</a:t>
                      </a:r>
                      <a:endParaRPr lang="en-US" altLang="zh-CN" sz="3200" b="1" kern="100" dirty="0" smtClean="0">
                        <a:latin typeface="Times New Roman" panose="02020603050405020304"/>
                        <a:ea typeface="+mn-ea"/>
                      </a:endParaRPr>
                    </a:p>
                    <a:p>
                      <a:pPr algn="just">
                        <a:lnSpc>
                          <a:spcPct val="120000"/>
                        </a:lnSpc>
                        <a:spcAft>
                          <a:spcPts val="0"/>
                        </a:spcAft>
                      </a:pPr>
                      <a:r>
                        <a:rPr lang="en-US" altLang="zh-CN" sz="3200" b="1" kern="100" dirty="0" smtClean="0">
                          <a:solidFill>
                            <a:srgbClr val="FF0000"/>
                          </a:solidFill>
                          <a:latin typeface="Times New Roman" panose="02020603050405020304"/>
                          <a:ea typeface="+mn-ea"/>
                        </a:rPr>
                        <a:t>    public void update();</a:t>
                      </a:r>
                      <a:endParaRPr lang="en-US" altLang="zh-CN" sz="3200" b="1" kern="100" dirty="0" smtClean="0">
                        <a:solidFill>
                          <a:srgbClr val="FF0000"/>
                        </a:solidFill>
                        <a:latin typeface="Times New Roman" panose="02020603050405020304"/>
                        <a:ea typeface="+mn-ea"/>
                      </a:endParaRPr>
                    </a:p>
                    <a:p>
                      <a:pPr algn="just">
                        <a:lnSpc>
                          <a:spcPct val="120000"/>
                        </a:lnSpc>
                        <a:spcAft>
                          <a:spcPts val="0"/>
                        </a:spcAft>
                      </a:pPr>
                      <a:r>
                        <a:rPr lang="en-US" altLang="zh-CN" sz="3200" b="1" kern="100" dirty="0" smtClean="0">
                          <a:latin typeface="Times New Roman" panose="02020603050405020304"/>
                          <a:ea typeface="+mn-ea"/>
                        </a:rPr>
                        <a:t>}</a:t>
                      </a:r>
                      <a:endParaRPr lang="en-US" altLang="zh-CN" sz="3200" b="1" kern="100" dirty="0" smtClean="0">
                        <a:latin typeface="Times New Roman" panose="02020603050405020304"/>
                        <a:ea typeface="+mn-ea"/>
                      </a:endParaRPr>
                    </a:p>
                  </a:txBody>
                  <a:tcPr marL="68580" marR="68580" marT="0" marB="0">
                    <a:lnL>
                      <a:noFill/>
                    </a:lnL>
                    <a:lnR>
                      <a:noFill/>
                    </a:lnR>
                    <a:lnT>
                      <a:noFill/>
                    </a:lnT>
                    <a:lnB>
                      <a:noFill/>
                    </a:lnB>
                    <a:solidFill>
                      <a:srgbClr val="F2F2F2"/>
                    </a:solidFill>
                  </a:tcPr>
                </a:tc>
              </a:tr>
            </a:tbl>
          </a:graphicData>
        </a:graphic>
      </p:graphicFrame>
      <p:sp>
        <p:nvSpPr>
          <p:cNvPr id="5" name="内容占位符 2"/>
          <p:cNvSpPr txBox="1"/>
          <p:nvPr/>
        </p:nvSpPr>
        <p:spPr>
          <a:xfrm>
            <a:off x="949105" y="3101458"/>
            <a:ext cx="10712080" cy="61636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模式分析</a:t>
            </a:r>
            <a:r>
              <a:rPr lang="en-US" altLang="zh-CN" sz="2800" b="1" dirty="0" smtClean="0">
                <a:latin typeface="微软雅黑" panose="020B0503020204020204" pitchFamily="34" charset="-122"/>
                <a:ea typeface="微软雅黑" panose="020B0503020204020204" pitchFamily="34" charset="-122"/>
              </a:rPr>
              <a:t>-</a:t>
            </a:r>
            <a:r>
              <a:rPr lang="zh-CN" altLang="en-US" sz="2800" b="1" dirty="0" smtClean="0">
                <a:latin typeface="微软雅黑" panose="020B0503020204020204" pitchFamily="34" charset="-122"/>
                <a:ea typeface="微软雅黑" panose="020B0503020204020204" pitchFamily="34" charset="-122"/>
              </a:rPr>
              <a:t>具体观察者类示例代码</a:t>
            </a:r>
            <a:r>
              <a:rPr lang="zh-CN" altLang="en-US" sz="2800" dirty="0" smtClean="0">
                <a:latin typeface="微软雅黑" panose="020B0503020204020204" pitchFamily="34" charset="-122"/>
                <a:ea typeface="微软雅黑" panose="020B0503020204020204" pitchFamily="34" charset="-122"/>
              </a:rPr>
              <a:t>：</a:t>
            </a:r>
            <a:endParaRPr lang="zh-CN" altLang="en-US" sz="2800"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400" b="1" dirty="0" smtClean="0">
              <a:latin typeface="微软雅黑" panose="020B0503020204020204" pitchFamily="34" charset="-122"/>
              <a:ea typeface="微软雅黑" panose="020B0503020204020204" pitchFamily="34" charset="-122"/>
            </a:endParaRPr>
          </a:p>
        </p:txBody>
      </p:sp>
      <p:graphicFrame>
        <p:nvGraphicFramePr>
          <p:cNvPr id="8" name="表格 7"/>
          <p:cNvGraphicFramePr>
            <a:graphicFrameLocks noGrp="1"/>
          </p:cNvGraphicFramePr>
          <p:nvPr/>
        </p:nvGraphicFramePr>
        <p:xfrm>
          <a:off x="770582" y="3614114"/>
          <a:ext cx="10424048" cy="2926080"/>
        </p:xfrm>
        <a:graphic>
          <a:graphicData uri="http://schemas.openxmlformats.org/drawingml/2006/table">
            <a:tbl>
              <a:tblPr/>
              <a:tblGrid>
                <a:gridCol w="10424048"/>
              </a:tblGrid>
              <a:tr h="2100064">
                <a:tc>
                  <a:txBody>
                    <a:bodyPr/>
                    <a:lstStyle/>
                    <a:p>
                      <a:r>
                        <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public class </a:t>
                      </a:r>
                      <a:r>
                        <a:rPr lang="en-US" altLang="zh-CN" sz="3200" b="1" kern="1200" dirty="0" err="1"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ConcreteObserver</a:t>
                      </a:r>
                      <a:r>
                        <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implements Observer {</a:t>
                      </a:r>
                      <a:endPar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en-US"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en-US"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b="1" kern="1200" dirty="0" smtClean="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public void update() {</a:t>
                      </a:r>
                      <a:endParaRPr lang="en-US" altLang="zh-CN" sz="3200" b="1" kern="1200" dirty="0" smtClean="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b="1" kern="1200" dirty="0" smtClean="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en-US" altLang="zh-CN" sz="3200" b="1" kern="1200" dirty="0" smtClean="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en-US" sz="3200" b="1" kern="1200" dirty="0" smtClean="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b="1" kern="1200" dirty="0" smtClean="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3200" b="1" kern="1200" dirty="0" smtClean="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a:noFill/>
                    </a:lnB>
                    <a:solidFill>
                      <a:srgbClr val="F2F2F2"/>
                    </a:solidFill>
                  </a:tcPr>
                </a:tc>
              </a:tr>
            </a:tbl>
          </a:graphicData>
        </a:graphic>
      </p:graphicFrame>
    </p:spTree>
  </p:cSld>
  <p:clrMapOvr>
    <a:masterClrMapping/>
  </p:clrMapOvr>
  <p:transition spd="slow" advTm="0">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23.2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内容占位符 2"/>
          <p:cNvSpPr txBox="1"/>
          <p:nvPr/>
        </p:nvSpPr>
        <p:spPr>
          <a:xfrm>
            <a:off x="931711" y="837507"/>
            <a:ext cx="10712080" cy="61636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模式分析</a:t>
            </a:r>
            <a:r>
              <a:rPr lang="en-US" altLang="zh-CN" sz="2800" b="1" dirty="0" smtClean="0">
                <a:latin typeface="微软雅黑" panose="020B0503020204020204" pitchFamily="34" charset="-122"/>
                <a:ea typeface="微软雅黑" panose="020B0503020204020204" pitchFamily="34" charset="-122"/>
              </a:rPr>
              <a:t>-</a:t>
            </a:r>
            <a:r>
              <a:rPr lang="zh-CN" altLang="en-US" sz="2800" b="1" dirty="0" smtClean="0">
                <a:latin typeface="微软雅黑" panose="020B0503020204020204" pitchFamily="34" charset="-122"/>
                <a:ea typeface="微软雅黑" panose="020B0503020204020204" pitchFamily="34" charset="-122"/>
              </a:rPr>
              <a:t>客户类示例代码</a:t>
            </a:r>
            <a:r>
              <a:rPr lang="zh-CN" altLang="en-US" sz="2800" dirty="0" smtClean="0">
                <a:latin typeface="微软雅黑" panose="020B0503020204020204" pitchFamily="34" charset="-122"/>
                <a:ea typeface="微软雅黑" panose="020B0503020204020204" pitchFamily="34" charset="-122"/>
              </a:rPr>
              <a:t>：</a:t>
            </a:r>
            <a:endParaRPr lang="zh-CN" altLang="en-US" sz="2800"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400" b="1" dirty="0" smtClean="0">
              <a:latin typeface="微软雅黑" panose="020B0503020204020204" pitchFamily="34" charset="-122"/>
              <a:ea typeface="微软雅黑" panose="020B0503020204020204" pitchFamily="34" charset="-122"/>
            </a:endParaRPr>
          </a:p>
        </p:txBody>
      </p:sp>
      <p:graphicFrame>
        <p:nvGraphicFramePr>
          <p:cNvPr id="11" name="表格 10"/>
          <p:cNvGraphicFramePr>
            <a:graphicFrameLocks noGrp="1"/>
          </p:cNvGraphicFramePr>
          <p:nvPr/>
        </p:nvGraphicFramePr>
        <p:xfrm>
          <a:off x="770583" y="1553728"/>
          <a:ext cx="10369152" cy="4389120"/>
        </p:xfrm>
        <a:graphic>
          <a:graphicData uri="http://schemas.openxmlformats.org/drawingml/2006/table">
            <a:tbl>
              <a:tblPr/>
              <a:tblGrid>
                <a:gridCol w="10369152"/>
              </a:tblGrid>
              <a:tr h="2592288">
                <a:tc>
                  <a:txBody>
                    <a:bodyPr/>
                    <a:lstStyle/>
                    <a:p>
                      <a:pPr algn="just">
                        <a:lnSpc>
                          <a:spcPct val="150000"/>
                        </a:lnSpc>
                        <a:spcAft>
                          <a:spcPts val="0"/>
                        </a:spcAft>
                      </a:pPr>
                      <a:r>
                        <a:rPr lang="en-US" altLang="zh-CN" sz="3200" b="1" kern="100" dirty="0" smtClean="0">
                          <a:latin typeface="Times New Roman" panose="02020603050405020304"/>
                          <a:ea typeface="+mn-ea"/>
                        </a:rPr>
                        <a:t>……</a:t>
                      </a:r>
                      <a:endParaRPr lang="en-US" altLang="zh-CN" sz="3200" b="1" kern="100" dirty="0" smtClean="0">
                        <a:latin typeface="Times New Roman" panose="02020603050405020304"/>
                        <a:ea typeface="+mn-ea"/>
                      </a:endParaRPr>
                    </a:p>
                    <a:p>
                      <a:pPr algn="just">
                        <a:lnSpc>
                          <a:spcPct val="150000"/>
                        </a:lnSpc>
                        <a:spcAft>
                          <a:spcPts val="0"/>
                        </a:spcAft>
                      </a:pPr>
                      <a:r>
                        <a:rPr lang="en-US" altLang="zh-CN" sz="3200" b="1" kern="100" dirty="0" smtClean="0">
                          <a:latin typeface="Times New Roman" panose="02020603050405020304"/>
                          <a:ea typeface="+mn-ea"/>
                        </a:rPr>
                        <a:t>Subject </a:t>
                      </a:r>
                      <a:r>
                        <a:rPr lang="en-US" altLang="zh-CN" sz="3200" b="1" kern="100" dirty="0" err="1" smtClean="0">
                          <a:latin typeface="Times New Roman" panose="02020603050405020304"/>
                          <a:ea typeface="+mn-ea"/>
                        </a:rPr>
                        <a:t>subject</a:t>
                      </a:r>
                      <a:r>
                        <a:rPr lang="en-US" altLang="zh-CN" sz="3200" b="1" kern="100" dirty="0" smtClean="0">
                          <a:latin typeface="Times New Roman" panose="02020603050405020304"/>
                          <a:ea typeface="+mn-ea"/>
                        </a:rPr>
                        <a:t> = new </a:t>
                      </a:r>
                      <a:r>
                        <a:rPr lang="en-US" altLang="zh-CN" sz="3200" b="1" kern="100" dirty="0" err="1" smtClean="0">
                          <a:latin typeface="Times New Roman" panose="02020603050405020304"/>
                          <a:ea typeface="+mn-ea"/>
                        </a:rPr>
                        <a:t>ConcreteSubject</a:t>
                      </a:r>
                      <a:r>
                        <a:rPr lang="en-US" altLang="zh-CN" sz="3200" b="1" kern="100" dirty="0" smtClean="0">
                          <a:latin typeface="Times New Roman" panose="02020603050405020304"/>
                          <a:ea typeface="+mn-ea"/>
                        </a:rPr>
                        <a:t>();</a:t>
                      </a:r>
                      <a:endParaRPr lang="en-US" altLang="zh-CN" sz="3200" b="1" kern="100" dirty="0" smtClean="0">
                        <a:latin typeface="Times New Roman" panose="02020603050405020304"/>
                        <a:ea typeface="+mn-ea"/>
                      </a:endParaRPr>
                    </a:p>
                    <a:p>
                      <a:pPr algn="just">
                        <a:lnSpc>
                          <a:spcPct val="150000"/>
                        </a:lnSpc>
                        <a:spcAft>
                          <a:spcPts val="0"/>
                        </a:spcAft>
                      </a:pPr>
                      <a:r>
                        <a:rPr lang="en-US" altLang="zh-CN" sz="3200" b="1" kern="100" dirty="0" smtClean="0">
                          <a:latin typeface="Times New Roman" panose="02020603050405020304"/>
                          <a:ea typeface="+mn-ea"/>
                        </a:rPr>
                        <a:t>Observer </a:t>
                      </a:r>
                      <a:r>
                        <a:rPr lang="en-US" altLang="zh-CN" sz="3200" b="1" kern="100" dirty="0" err="1" smtClean="0">
                          <a:latin typeface="Times New Roman" panose="02020603050405020304"/>
                          <a:ea typeface="+mn-ea"/>
                        </a:rPr>
                        <a:t>observer</a:t>
                      </a:r>
                      <a:r>
                        <a:rPr lang="en-US" altLang="zh-CN" sz="3200" b="1" kern="100" dirty="0" smtClean="0">
                          <a:latin typeface="Times New Roman" panose="02020603050405020304"/>
                          <a:ea typeface="+mn-ea"/>
                        </a:rPr>
                        <a:t> = new </a:t>
                      </a:r>
                      <a:r>
                        <a:rPr lang="en-US" altLang="zh-CN" sz="3200" b="1" kern="100" dirty="0" err="1" smtClean="0">
                          <a:latin typeface="Times New Roman" panose="02020603050405020304"/>
                          <a:ea typeface="+mn-ea"/>
                        </a:rPr>
                        <a:t>ConcreteObserver</a:t>
                      </a:r>
                      <a:r>
                        <a:rPr lang="en-US" altLang="zh-CN" sz="3200" b="1" kern="100" dirty="0" smtClean="0">
                          <a:latin typeface="Times New Roman" panose="02020603050405020304"/>
                          <a:ea typeface="+mn-ea"/>
                        </a:rPr>
                        <a:t>();</a:t>
                      </a:r>
                      <a:endParaRPr lang="en-US" altLang="zh-CN" sz="3200" b="1" kern="100" dirty="0" smtClean="0">
                        <a:latin typeface="Times New Roman" panose="02020603050405020304"/>
                        <a:ea typeface="+mn-ea"/>
                      </a:endParaRPr>
                    </a:p>
                    <a:p>
                      <a:pPr algn="just">
                        <a:lnSpc>
                          <a:spcPct val="150000"/>
                        </a:lnSpc>
                        <a:spcAft>
                          <a:spcPts val="0"/>
                        </a:spcAft>
                      </a:pPr>
                      <a:r>
                        <a:rPr lang="en-US" altLang="zh-CN" sz="3200" b="1" kern="100" dirty="0" err="1" smtClean="0">
                          <a:solidFill>
                            <a:srgbClr val="FF0000"/>
                          </a:solidFill>
                          <a:latin typeface="Times New Roman" panose="02020603050405020304"/>
                          <a:ea typeface="+mn-ea"/>
                        </a:rPr>
                        <a:t>subject.attach</a:t>
                      </a:r>
                      <a:r>
                        <a:rPr lang="en-US" altLang="zh-CN" sz="3200" b="1" kern="100" dirty="0" smtClean="0">
                          <a:solidFill>
                            <a:srgbClr val="FF0000"/>
                          </a:solidFill>
                          <a:latin typeface="Times New Roman" panose="02020603050405020304"/>
                          <a:ea typeface="+mn-ea"/>
                        </a:rPr>
                        <a:t>(observer); //</a:t>
                      </a:r>
                      <a:r>
                        <a:rPr lang="zh-CN" altLang="en-US" sz="3200" b="1" kern="100" dirty="0" smtClean="0">
                          <a:solidFill>
                            <a:srgbClr val="FF0000"/>
                          </a:solidFill>
                          <a:latin typeface="Times New Roman" panose="02020603050405020304"/>
                          <a:ea typeface="+mn-ea"/>
                        </a:rPr>
                        <a:t>注册观察者</a:t>
                      </a:r>
                      <a:endParaRPr lang="zh-CN" altLang="en-US" sz="3200" b="1" kern="100" dirty="0" smtClean="0">
                        <a:solidFill>
                          <a:srgbClr val="FF0000"/>
                        </a:solidFill>
                        <a:latin typeface="Times New Roman" panose="02020603050405020304"/>
                        <a:ea typeface="+mn-ea"/>
                      </a:endParaRPr>
                    </a:p>
                    <a:p>
                      <a:pPr algn="just">
                        <a:lnSpc>
                          <a:spcPct val="150000"/>
                        </a:lnSpc>
                        <a:spcAft>
                          <a:spcPts val="0"/>
                        </a:spcAft>
                      </a:pPr>
                      <a:r>
                        <a:rPr lang="en-US" altLang="zh-CN" sz="3200" b="1" kern="100" dirty="0" err="1" smtClean="0">
                          <a:solidFill>
                            <a:srgbClr val="FF0000"/>
                          </a:solidFill>
                          <a:latin typeface="Times New Roman" panose="02020603050405020304"/>
                          <a:ea typeface="+mn-ea"/>
                        </a:rPr>
                        <a:t>subject.notify</a:t>
                      </a:r>
                      <a:r>
                        <a:rPr lang="en-US" altLang="zh-CN" sz="3200" b="1" kern="100" dirty="0" smtClean="0">
                          <a:solidFill>
                            <a:srgbClr val="FF0000"/>
                          </a:solidFill>
                          <a:latin typeface="Times New Roman" panose="02020603050405020304"/>
                          <a:ea typeface="+mn-ea"/>
                        </a:rPr>
                        <a:t>();</a:t>
                      </a:r>
                      <a:endParaRPr lang="en-US" altLang="zh-CN" sz="3200" b="1" kern="100" dirty="0" smtClean="0">
                        <a:solidFill>
                          <a:srgbClr val="FF0000"/>
                        </a:solidFill>
                        <a:latin typeface="Times New Roman" panose="02020603050405020304"/>
                        <a:ea typeface="+mn-ea"/>
                      </a:endParaRPr>
                    </a:p>
                    <a:p>
                      <a:pPr algn="just">
                        <a:lnSpc>
                          <a:spcPct val="150000"/>
                        </a:lnSpc>
                        <a:spcAft>
                          <a:spcPts val="0"/>
                        </a:spcAft>
                      </a:pPr>
                      <a:r>
                        <a:rPr lang="en-US" altLang="zh-CN" sz="3200" b="1" kern="100" dirty="0" smtClean="0">
                          <a:latin typeface="Times New Roman" panose="02020603050405020304"/>
                          <a:ea typeface="+mn-ea"/>
                        </a:rPr>
                        <a:t>……</a:t>
                      </a:r>
                      <a:endParaRPr lang="en-US" altLang="zh-CN" sz="3200" b="1" kern="100" dirty="0" smtClean="0">
                        <a:latin typeface="Times New Roman" panose="02020603050405020304"/>
                        <a:ea typeface="+mn-ea"/>
                      </a:endParaRPr>
                    </a:p>
                  </a:txBody>
                  <a:tcPr marL="68580" marR="68580" marT="0" marB="0">
                    <a:lnL>
                      <a:noFill/>
                    </a:lnL>
                    <a:lnR>
                      <a:noFill/>
                    </a:lnR>
                    <a:lnT>
                      <a:noFill/>
                    </a:lnT>
                    <a:lnB>
                      <a:noFill/>
                    </a:lnB>
                    <a:solidFill>
                      <a:srgbClr val="F2F2F2"/>
                    </a:solidFill>
                  </a:tcPr>
                </a:tc>
              </a:tr>
            </a:tbl>
          </a:graphicData>
        </a:graphic>
      </p:graphicFrame>
    </p:spTree>
  </p:cSld>
  <p:clrMapOvr>
    <a:masterClrMapping/>
  </p:clrMapOvr>
  <p:transition spd="slow" advTm="0">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23.2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内容占位符 2"/>
          <p:cNvSpPr txBox="1"/>
          <p:nvPr/>
        </p:nvSpPr>
        <p:spPr>
          <a:xfrm>
            <a:off x="266527" y="1125538"/>
            <a:ext cx="11521280" cy="520743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模式分析</a:t>
            </a:r>
            <a:endParaRPr lang="zh-CN" altLang="en-US" sz="2800" dirty="0">
              <a:latin typeface="微软雅黑" panose="020B0503020204020204" pitchFamily="34" charset="-122"/>
              <a:ea typeface="微软雅黑" panose="020B0503020204020204" pitchFamily="34" charset="-122"/>
            </a:endParaRPr>
          </a:p>
          <a:p>
            <a:pPr marL="914400" lvl="1" indent="-4572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有时候</a:t>
            </a:r>
            <a:r>
              <a:rPr lang="zh-CN" altLang="en-US" sz="2800" dirty="0">
                <a:solidFill>
                  <a:srgbClr val="EC7328"/>
                </a:solidFill>
                <a:latin typeface="微软雅黑" panose="020B0503020204020204" pitchFamily="34" charset="-122"/>
                <a:ea typeface="微软雅黑" panose="020B0503020204020204" pitchFamily="34" charset="-122"/>
              </a:rPr>
              <a:t>在具体观察者类</a:t>
            </a:r>
            <a:r>
              <a:rPr lang="en-US" altLang="zh-CN" sz="2800" dirty="0" err="1">
                <a:solidFill>
                  <a:srgbClr val="EC7328"/>
                </a:solidFill>
                <a:latin typeface="微软雅黑" panose="020B0503020204020204" pitchFamily="34" charset="-122"/>
                <a:ea typeface="微软雅黑" panose="020B0503020204020204" pitchFamily="34" charset="-122"/>
              </a:rPr>
              <a:t>ConcreteObserver</a:t>
            </a:r>
            <a:r>
              <a:rPr lang="zh-CN" altLang="en-US" sz="2800" dirty="0">
                <a:solidFill>
                  <a:srgbClr val="EC7328"/>
                </a:solidFill>
                <a:latin typeface="微软雅黑" panose="020B0503020204020204" pitchFamily="34" charset="-122"/>
                <a:ea typeface="微软雅黑" panose="020B0503020204020204" pitchFamily="34" charset="-122"/>
              </a:rPr>
              <a:t>中需要使用到具体目标类</a:t>
            </a:r>
            <a:r>
              <a:rPr lang="en-US" altLang="zh-CN" sz="2800" dirty="0" err="1">
                <a:solidFill>
                  <a:srgbClr val="EC7328"/>
                </a:solidFill>
                <a:latin typeface="微软雅黑" panose="020B0503020204020204" pitchFamily="34" charset="-122"/>
                <a:ea typeface="微软雅黑" panose="020B0503020204020204" pitchFamily="34" charset="-122"/>
              </a:rPr>
              <a:t>ConcreteSubject</a:t>
            </a:r>
            <a:r>
              <a:rPr lang="zh-CN" altLang="en-US" sz="2800" dirty="0">
                <a:solidFill>
                  <a:srgbClr val="EC7328"/>
                </a:solidFill>
                <a:latin typeface="微软雅黑" panose="020B0503020204020204" pitchFamily="34" charset="-122"/>
                <a:ea typeface="微软雅黑" panose="020B0503020204020204" pitchFamily="34" charset="-122"/>
              </a:rPr>
              <a:t>中的状态（属性）</a:t>
            </a:r>
            <a:r>
              <a:rPr lang="zh-CN" altLang="en-US" sz="2800" dirty="0">
                <a:latin typeface="微软雅黑" panose="020B0503020204020204" pitchFamily="34" charset="-122"/>
                <a:ea typeface="微软雅黑" panose="020B0503020204020204" pitchFamily="34" charset="-122"/>
              </a:rPr>
              <a:t>，会</a:t>
            </a:r>
            <a:r>
              <a:rPr lang="zh-CN" altLang="en-US" sz="2800" dirty="0">
                <a:solidFill>
                  <a:srgbClr val="EC7328"/>
                </a:solidFill>
                <a:latin typeface="微软雅黑" panose="020B0503020204020204" pitchFamily="34" charset="-122"/>
                <a:ea typeface="微软雅黑" panose="020B0503020204020204" pitchFamily="34" charset="-122"/>
              </a:rPr>
              <a:t>存在关联或依赖关系</a:t>
            </a:r>
            <a:endParaRPr lang="zh-CN" altLang="en-US" sz="2800" dirty="0">
              <a:solidFill>
                <a:srgbClr val="EC7328"/>
              </a:solidFill>
              <a:latin typeface="微软雅黑" panose="020B0503020204020204" pitchFamily="34" charset="-122"/>
              <a:ea typeface="微软雅黑" panose="020B0503020204020204" pitchFamily="34" charset="-122"/>
            </a:endParaRPr>
          </a:p>
          <a:p>
            <a:pPr marL="914400" lvl="1" indent="-457200" algn="l">
              <a:lnSpc>
                <a:spcPct val="150000"/>
              </a:lnSpc>
              <a:buClr>
                <a:srgbClr val="EC7328"/>
              </a:buClr>
              <a:buFont typeface="Wingdings" panose="05000000000000000000" pitchFamily="2" charset="2"/>
              <a:buChar char="ü"/>
            </a:pPr>
            <a:r>
              <a:rPr lang="zh-CN" altLang="en-US" sz="2800" dirty="0">
                <a:solidFill>
                  <a:srgbClr val="EC7328"/>
                </a:solidFill>
                <a:latin typeface="微软雅黑" panose="020B0503020204020204" pitchFamily="34" charset="-122"/>
                <a:ea typeface="微软雅黑" panose="020B0503020204020204" pitchFamily="34" charset="-122"/>
              </a:rPr>
              <a:t>如果在具体层之间具有关联关系，系统的扩展性将受到一定的影响</a:t>
            </a:r>
            <a:r>
              <a:rPr lang="zh-CN" altLang="en-US" sz="2800" dirty="0">
                <a:latin typeface="微软雅黑" panose="020B0503020204020204" pitchFamily="34" charset="-122"/>
                <a:ea typeface="微软雅黑" panose="020B0503020204020204" pitchFamily="34" charset="-122"/>
              </a:rPr>
              <a:t>，增加新的具体目标类有时候需要修改原有观察者的代码，在一定程度上违背了开闭原则，但是</a:t>
            </a:r>
            <a:r>
              <a:rPr lang="zh-CN" altLang="en-US" sz="2800" dirty="0">
                <a:solidFill>
                  <a:srgbClr val="EC7328"/>
                </a:solidFill>
                <a:latin typeface="微软雅黑" panose="020B0503020204020204" pitchFamily="34" charset="-122"/>
                <a:ea typeface="微软雅黑" panose="020B0503020204020204" pitchFamily="34" charset="-122"/>
              </a:rPr>
              <a:t>如果原有观察者类无须关联新增的具体目标，则系统扩展性不受</a:t>
            </a:r>
            <a:r>
              <a:rPr lang="zh-CN" altLang="en-US" sz="2800" dirty="0" smtClean="0">
                <a:solidFill>
                  <a:srgbClr val="EC7328"/>
                </a:solidFill>
                <a:latin typeface="微软雅黑" panose="020B0503020204020204" pitchFamily="34" charset="-122"/>
                <a:ea typeface="微软雅黑" panose="020B0503020204020204" pitchFamily="34" charset="-122"/>
              </a:rPr>
              <a:t>影响</a:t>
            </a:r>
            <a:endParaRPr lang="en-US" altLang="zh-CN" sz="2800" b="1" dirty="0" smtClean="0">
              <a:solidFill>
                <a:srgbClr val="EC7328"/>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23.3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内容占位符 2"/>
          <p:cNvSpPr txBox="1"/>
          <p:nvPr/>
        </p:nvSpPr>
        <p:spPr>
          <a:xfrm>
            <a:off x="499663" y="1246691"/>
            <a:ext cx="11144128" cy="283117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模式</a:t>
            </a:r>
            <a:r>
              <a:rPr lang="zh-CN" altLang="en-US" sz="2800" b="1" dirty="0" smtClean="0">
                <a:latin typeface="微软雅黑" panose="020B0503020204020204" pitchFamily="34" charset="-122"/>
                <a:ea typeface="微软雅黑" panose="020B0503020204020204" pitchFamily="34" charset="-122"/>
              </a:rPr>
              <a:t>实例</a:t>
            </a:r>
            <a:r>
              <a:rPr lang="en-US" altLang="zh-CN" sz="2800" b="1" dirty="0" smtClean="0">
                <a:latin typeface="微软雅黑" panose="020B0503020204020204" pitchFamily="34" charset="-122"/>
                <a:ea typeface="微软雅黑" panose="020B0503020204020204" pitchFamily="34" charset="-122"/>
              </a:rPr>
              <a:t>1</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猫、狗与老鼠 ：实例说明</a:t>
            </a:r>
            <a:endParaRPr lang="zh-CN" altLang="en-US" sz="2800" dirty="0" smtClean="0">
              <a:latin typeface="微软雅黑" panose="020B0503020204020204" pitchFamily="34" charset="-122"/>
              <a:ea typeface="微软雅黑" panose="020B0503020204020204" pitchFamily="34" charset="-122"/>
            </a:endParaRPr>
          </a:p>
          <a:p>
            <a:pPr marL="1257300" lvl="2" indent="-342900" algn="l">
              <a:lnSpc>
                <a:spcPct val="150000"/>
              </a:lnSpc>
              <a:buClr>
                <a:srgbClr val="EC7328"/>
              </a:buClr>
              <a:buFont typeface="Arial" panose="020B0604020202020204" pitchFamily="34" charset="0"/>
              <a:buChar char="•"/>
            </a:pPr>
            <a:r>
              <a:rPr lang="zh-CN" altLang="en-US" sz="2800" dirty="0" smtClean="0">
                <a:latin typeface="微软雅黑" panose="020B0503020204020204" pitchFamily="34" charset="-122"/>
                <a:ea typeface="微软雅黑" panose="020B0503020204020204" pitchFamily="34" charset="-122"/>
              </a:rPr>
              <a:t>假设</a:t>
            </a:r>
            <a:r>
              <a:rPr lang="zh-CN" altLang="en-US" sz="2800" dirty="0">
                <a:latin typeface="微软雅黑" panose="020B0503020204020204" pitchFamily="34" charset="-122"/>
                <a:ea typeface="微软雅黑" panose="020B0503020204020204" pitchFamily="34" charset="-122"/>
              </a:rPr>
              <a:t>猫是老鼠和狗的观察目标，老鼠和狗是观察者，猫叫老鼠跑，狗也跟着叫，使用观察者模式描述该过程</a:t>
            </a:r>
            <a:r>
              <a:rPr lang="zh-CN" altLang="en-US" sz="2800" dirty="0" smtClean="0">
                <a:latin typeface="微软雅黑" panose="020B0503020204020204" pitchFamily="34" charset="-122"/>
                <a:ea typeface="微软雅黑" panose="020B0503020204020204" pitchFamily="34" charset="-122"/>
              </a:rPr>
              <a:t>。</a:t>
            </a:r>
            <a:endParaRPr lang="en-US" altLang="zh-CN" sz="2400" b="1"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23.3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 name="Picture 1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6571" y="837506"/>
            <a:ext cx="11165252" cy="5540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0">
    <p:wip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23.3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8" name="Group 5"/>
          <p:cNvGrpSpPr/>
          <p:nvPr/>
        </p:nvGrpSpPr>
        <p:grpSpPr bwMode="auto">
          <a:xfrm>
            <a:off x="5002039" y="3233205"/>
            <a:ext cx="4193480" cy="2044450"/>
            <a:chOff x="2381" y="3283"/>
            <a:chExt cx="1361" cy="510"/>
          </a:xfrm>
        </p:grpSpPr>
        <p:pic>
          <p:nvPicPr>
            <p:cNvPr id="9" name="Picture 6" descr="gif005"/>
            <p:cNvPicPr>
              <a:picLocks noChangeAspect="1" noChangeArrowheads="1" noCrop="1"/>
            </p:cNvPicPr>
            <p:nvPr/>
          </p:nvPicPr>
          <p:blipFill>
            <a:blip r:embed="rId1">
              <a:extLst>
                <a:ext uri="{28A0092B-C50C-407E-A947-70E740481C1C}">
                  <a14:useLocalDpi xmlns:a14="http://schemas.microsoft.com/office/drawing/2010/main" val="0"/>
                </a:ext>
              </a:extLst>
            </a:blip>
            <a:srcRect/>
            <a:stretch>
              <a:fillRect/>
            </a:stretch>
          </p:blipFill>
          <p:spPr bwMode="auto">
            <a:xfrm>
              <a:off x="2381" y="3283"/>
              <a:ext cx="252"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7"/>
            <p:cNvSpPr txBox="1">
              <a:spLocks noChangeArrowheads="1"/>
            </p:cNvSpPr>
            <p:nvPr/>
          </p:nvSpPr>
          <p:spPr bwMode="auto">
            <a:xfrm>
              <a:off x="2608" y="3505"/>
              <a:ext cx="1134" cy="146"/>
            </a:xfrm>
            <a:prstGeom prst="rect">
              <a:avLst/>
            </a:prstGeom>
            <a:noFill/>
            <a:ln w="9525">
              <a:noFill/>
              <a:miter lim="800000"/>
            </a:ln>
            <a:effectLst>
              <a:outerShdw dist="35921" dir="2700000" algn="ctr" rotWithShape="0">
                <a:schemeClr val="bg2"/>
              </a:outerShdw>
            </a:effectLst>
          </p:spPr>
          <p:txBody>
            <a:bodyPr>
              <a:spAutoFit/>
            </a:bodyPr>
            <a:lstStyle/>
            <a:p>
              <a:pPr>
                <a:spcBef>
                  <a:spcPct val="50000"/>
                </a:spcBef>
                <a:defRPr/>
              </a:pPr>
              <a:r>
                <a:rPr lang="zh-CN" altLang="en-US" sz="3200" b="1" dirty="0">
                  <a:solidFill>
                    <a:srgbClr val="44B3BE"/>
                  </a:solidFill>
                  <a:latin typeface="华文行楷" panose="02010800040101010101" pitchFamily="2" charset="-122"/>
                  <a:ea typeface="华文行楷" panose="02010800040101010101" pitchFamily="2" charset="-122"/>
                </a:rPr>
                <a:t>演示</a:t>
              </a:r>
              <a:r>
                <a:rPr lang="en-US" altLang="zh-CN" sz="3200" b="1" dirty="0">
                  <a:solidFill>
                    <a:srgbClr val="44B3BE"/>
                  </a:solidFill>
                  <a:latin typeface="Arial" panose="020B0604020202020204"/>
                  <a:ea typeface="华文行楷" panose="02010800040101010101" pitchFamily="2" charset="-122"/>
                </a:rPr>
                <a:t>……</a:t>
              </a:r>
              <a:endParaRPr lang="en-US" altLang="zh-CN" sz="3200" b="1" dirty="0">
                <a:solidFill>
                  <a:srgbClr val="44B3BE"/>
                </a:solidFill>
                <a:latin typeface="华文行楷" panose="02010800040101010101" pitchFamily="2" charset="-122"/>
                <a:ea typeface="华文行楷" panose="02010800040101010101" pitchFamily="2" charset="-122"/>
              </a:endParaRPr>
            </a:p>
          </p:txBody>
        </p:sp>
      </p:grpSp>
      <p:sp>
        <p:nvSpPr>
          <p:cNvPr id="11" name="内容占位符 2"/>
          <p:cNvSpPr txBox="1"/>
          <p:nvPr/>
        </p:nvSpPr>
        <p:spPr>
          <a:xfrm>
            <a:off x="236079" y="1044928"/>
            <a:ext cx="7735304" cy="202482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模式实例</a:t>
            </a:r>
            <a:r>
              <a:rPr lang="en-US" altLang="zh-CN" sz="2800" b="1" dirty="0" smtClean="0">
                <a:latin typeface="微软雅黑" panose="020B0503020204020204" pitchFamily="34" charset="-122"/>
                <a:ea typeface="微软雅黑" panose="020B0503020204020204" pitchFamily="34" charset="-122"/>
              </a:rPr>
              <a:t>1</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猫、狗与老鼠 ：参考代码</a:t>
            </a:r>
            <a:endParaRPr lang="en-US" altLang="zh-CN" sz="2800" dirty="0">
              <a:latin typeface="微软雅黑" panose="020B0503020204020204" pitchFamily="34" charset="-122"/>
              <a:ea typeface="微软雅黑" panose="020B0503020204020204" pitchFamily="34" charset="-122"/>
            </a:endParaRPr>
          </a:p>
          <a:p>
            <a:pPr marL="1257300" lvl="2" indent="-342900" algn="l">
              <a:lnSpc>
                <a:spcPct val="150000"/>
              </a:lnSpc>
              <a:buClr>
                <a:srgbClr val="EC7328"/>
              </a:buClr>
              <a:buFont typeface="Arial" panose="020B0604020202020204" pitchFamily="34" charset="0"/>
              <a:buChar char="•"/>
            </a:pPr>
            <a:r>
              <a:rPr lang="en-US" altLang="zh-CN" sz="2800" dirty="0" err="1">
                <a:latin typeface="微软雅黑" panose="020B0503020204020204" pitchFamily="34" charset="-122"/>
                <a:ea typeface="微软雅黑" panose="020B0503020204020204" pitchFamily="34" charset="-122"/>
              </a:rPr>
              <a:t>DesignPatterns</a:t>
            </a:r>
            <a:r>
              <a:rPr lang="zh-CN" altLang="en-US" sz="2800" dirty="0" smtClean="0">
                <a:latin typeface="微软雅黑" panose="020B0503020204020204" pitchFamily="34" charset="-122"/>
                <a:ea typeface="微软雅黑" panose="020B0503020204020204" pitchFamily="34" charset="-122"/>
              </a:rPr>
              <a:t>之</a:t>
            </a:r>
            <a:r>
              <a:rPr lang="en-US" altLang="zh-CN" sz="2800" dirty="0">
                <a:latin typeface="微软雅黑" panose="020B0503020204020204" pitchFamily="34" charset="-122"/>
                <a:ea typeface="微软雅黑" panose="020B0503020204020204" pitchFamily="34" charset="-122"/>
              </a:rPr>
              <a:t>observer</a:t>
            </a:r>
            <a:r>
              <a:rPr lang="zh-CN" altLang="en-US" sz="2800" dirty="0" smtClean="0">
                <a:latin typeface="微软雅黑" panose="020B0503020204020204" pitchFamily="34" charset="-122"/>
                <a:ea typeface="微软雅黑" panose="020B0503020204020204" pitchFamily="34" charset="-122"/>
              </a:rPr>
              <a:t>包</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a:xfrm>
            <a:off x="499663" y="886651"/>
            <a:ext cx="11288144" cy="549547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spcBef>
                <a:spcPts val="0"/>
              </a:spcBef>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模式实例</a:t>
            </a:r>
            <a:r>
              <a:rPr lang="en-US" altLang="zh-CN" sz="2800" b="1" dirty="0" smtClean="0">
                <a:latin typeface="微软雅黑" panose="020B0503020204020204" pitchFamily="34" charset="-122"/>
                <a:ea typeface="微软雅黑" panose="020B0503020204020204" pitchFamily="34" charset="-122"/>
              </a:rPr>
              <a:t>2</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spcBef>
                <a:spcPts val="0"/>
              </a:spcBef>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多人联机对战游戏：实例说明</a:t>
            </a:r>
            <a:endParaRPr lang="en-US" altLang="zh-CN" sz="2800" dirty="0">
              <a:latin typeface="微软雅黑" panose="020B0503020204020204" pitchFamily="34" charset="-122"/>
              <a:ea typeface="微软雅黑" panose="020B0503020204020204" pitchFamily="34" charset="-122"/>
            </a:endParaRPr>
          </a:p>
          <a:p>
            <a:pPr marL="1257300" lvl="2" indent="-342900" algn="l">
              <a:lnSpc>
                <a:spcPct val="150000"/>
              </a:lnSpc>
              <a:spcBef>
                <a:spcPts val="0"/>
              </a:spcBef>
              <a:buClr>
                <a:srgbClr val="EC7328"/>
              </a:buClr>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在某多人联机对战游戏中，多个玩家可以加入同一战队组成联盟，当战队中的</a:t>
            </a:r>
            <a:r>
              <a:rPr lang="zh-CN" altLang="en-US" sz="2800" b="1" dirty="0">
                <a:latin typeface="微软雅黑" panose="020B0503020204020204" pitchFamily="34" charset="-122"/>
                <a:ea typeface="微软雅黑" panose="020B0503020204020204" pitchFamily="34" charset="-122"/>
              </a:rPr>
              <a:t>某一成员受到敌人攻击时将给所有其他盟友发送通知，盟友收到通知后将做出响应</a:t>
            </a:r>
            <a:r>
              <a:rPr lang="zh-CN" altLang="en-US" sz="2800" dirty="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a:p>
            <a:pPr marL="1257300" lvl="2" indent="-342900" algn="l">
              <a:lnSpc>
                <a:spcPct val="150000"/>
              </a:lnSpc>
              <a:spcBef>
                <a:spcPts val="0"/>
              </a:spcBef>
              <a:buClr>
                <a:srgbClr val="EC7328"/>
              </a:buClr>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现使用观察者模式设计并实现该过程，以实现战队成员之间的联动。</a:t>
            </a:r>
            <a:endParaRPr lang="zh-CN" altLang="en-US" sz="2800" dirty="0">
              <a:latin typeface="微软雅黑" panose="020B0503020204020204" pitchFamily="34" charset="-122"/>
              <a:ea typeface="微软雅黑" panose="020B0503020204020204" pitchFamily="34" charset="-122"/>
            </a:endParaRPr>
          </a:p>
        </p:txBody>
      </p:sp>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23.3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advTm="0">
    <p:wip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a:xfrm>
            <a:off x="1058615" y="549474"/>
            <a:ext cx="10424048" cy="244827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spcBef>
                <a:spcPts val="0"/>
              </a:spcBef>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模式实例</a:t>
            </a:r>
            <a:r>
              <a:rPr lang="en-US" altLang="zh-CN" sz="2800" b="1" dirty="0" smtClean="0">
                <a:latin typeface="微软雅黑" panose="020B0503020204020204" pitchFamily="34" charset="-122"/>
                <a:ea typeface="微软雅黑" panose="020B0503020204020204" pitchFamily="34" charset="-122"/>
              </a:rPr>
              <a:t>2</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spcBef>
                <a:spcPts val="0"/>
              </a:spcBef>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多人联机对战游戏：</a:t>
            </a:r>
            <a:r>
              <a:rPr lang="zh-CN" altLang="en-US" sz="2800" dirty="0" smtClean="0">
                <a:latin typeface="微软雅黑" panose="020B0503020204020204" pitchFamily="34" charset="-122"/>
                <a:ea typeface="微软雅黑" panose="020B0503020204020204" pitchFamily="34" charset="-122"/>
              </a:rPr>
              <a:t>实例分析</a:t>
            </a:r>
            <a:endParaRPr lang="en-US" altLang="zh-CN" sz="2800" dirty="0" smtClean="0">
              <a:latin typeface="微软雅黑" panose="020B0503020204020204" pitchFamily="34" charset="-122"/>
              <a:ea typeface="微软雅黑" panose="020B0503020204020204" pitchFamily="34" charset="-122"/>
            </a:endParaRPr>
          </a:p>
          <a:p>
            <a:pPr marL="800100" lvl="1" indent="-342900" algn="l">
              <a:lnSpc>
                <a:spcPct val="150000"/>
              </a:lnSpc>
              <a:spcBef>
                <a:spcPts val="0"/>
              </a:spcBef>
              <a:buFont typeface="Wingdings" panose="05000000000000000000" pitchFamily="2" charset="2"/>
              <a:buChar char="ü"/>
            </a:pPr>
            <a:r>
              <a:rPr lang="zh-CN" altLang="en-US" sz="2400" b="1" dirty="0">
                <a:latin typeface="微软雅黑" panose="020B0503020204020204" pitchFamily="34" charset="-122"/>
                <a:ea typeface="微软雅黑" panose="020B0503020204020204" pitchFamily="34" charset="-122"/>
              </a:rPr>
              <a:t>战队成员之间的联动过程：</a:t>
            </a:r>
            <a:endParaRPr lang="en-US" altLang="zh-CN" sz="2400" b="1" dirty="0">
              <a:latin typeface="微软雅黑" panose="020B0503020204020204" pitchFamily="34" charset="-122"/>
              <a:ea typeface="微软雅黑" panose="020B0503020204020204" pitchFamily="34" charset="-122"/>
            </a:endParaRPr>
          </a:p>
          <a:p>
            <a:pPr marL="1257300" lvl="2" indent="-342900" algn="l">
              <a:lnSpc>
                <a:spcPct val="150000"/>
              </a:lnSpc>
              <a:spcBef>
                <a:spcPts val="0"/>
              </a:spcBef>
              <a:buFont typeface="Wingdings" panose="05000000000000000000" pitchFamily="2" charset="2"/>
              <a:buChar char="ü"/>
            </a:pPr>
            <a:r>
              <a:rPr lang="zh-CN" altLang="en-US" sz="2400" b="1" dirty="0">
                <a:latin typeface="微软雅黑" panose="020B0503020204020204" pitchFamily="34" charset="-122"/>
                <a:ea typeface="微软雅黑" panose="020B0503020204020204" pitchFamily="34" charset="-122"/>
              </a:rPr>
              <a:t>联盟成员受到攻击 </a:t>
            </a:r>
            <a:r>
              <a:rPr lang="en-US" altLang="zh-CN" sz="2400" b="1" dirty="0">
                <a:latin typeface="微软雅黑" panose="020B0503020204020204" pitchFamily="34" charset="-122"/>
                <a:ea typeface="微软雅黑" panose="020B0503020204020204" pitchFamily="34" charset="-122"/>
                <a:sym typeface="Wingdings" panose="05000000000000000000" pitchFamily="2" charset="2"/>
              </a:rPr>
              <a:t></a:t>
            </a:r>
            <a:r>
              <a:rPr lang="en-US" altLang="zh-CN" sz="2400" b="1" dirty="0">
                <a:latin typeface="微软雅黑" panose="020B0503020204020204" pitchFamily="34" charset="-122"/>
                <a:ea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rPr>
              <a:t>发送通知给盟友 </a:t>
            </a:r>
            <a:r>
              <a:rPr lang="en-US" altLang="zh-CN" sz="2400" b="1" dirty="0">
                <a:latin typeface="微软雅黑" panose="020B0503020204020204" pitchFamily="34" charset="-122"/>
                <a:ea typeface="微软雅黑" panose="020B0503020204020204" pitchFamily="34" charset="-122"/>
                <a:sym typeface="Wingdings" panose="05000000000000000000" pitchFamily="2" charset="2"/>
              </a:rPr>
              <a:t></a:t>
            </a:r>
            <a:r>
              <a:rPr lang="en-US" altLang="zh-CN" sz="2400" b="1" dirty="0">
                <a:latin typeface="微软雅黑" panose="020B0503020204020204" pitchFamily="34" charset="-122"/>
                <a:ea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rPr>
              <a:t>盟友做出</a:t>
            </a:r>
            <a:r>
              <a:rPr lang="zh-CN" altLang="en-US" sz="2400" b="1" dirty="0" smtClean="0">
                <a:latin typeface="微软雅黑" panose="020B0503020204020204" pitchFamily="34" charset="-122"/>
                <a:ea typeface="微软雅黑" panose="020B0503020204020204" pitchFamily="34" charset="-122"/>
              </a:rPr>
              <a:t>响应</a:t>
            </a:r>
            <a:endParaRPr lang="en-US" altLang="zh-CN" sz="2400" b="1" dirty="0">
              <a:latin typeface="微软雅黑" panose="020B0503020204020204" pitchFamily="34" charset="-122"/>
              <a:ea typeface="微软雅黑" panose="020B0503020204020204" pitchFamily="34" charset="-122"/>
            </a:endParaRPr>
          </a:p>
        </p:txBody>
      </p:sp>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23.3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9"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02631" y="2997746"/>
            <a:ext cx="10250711" cy="3528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0">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23.3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Picture 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6808" y="909514"/>
            <a:ext cx="11338991" cy="5950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1028167" y="900913"/>
            <a:ext cx="9823536" cy="202482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模式实例</a:t>
            </a:r>
            <a:r>
              <a:rPr lang="en-US" altLang="zh-CN" sz="2800" b="1" dirty="0" smtClean="0">
                <a:latin typeface="微软雅黑" panose="020B0503020204020204" pitchFamily="34" charset="-122"/>
                <a:ea typeface="微软雅黑" panose="020B0503020204020204" pitchFamily="34" charset="-122"/>
              </a:rPr>
              <a:t>2</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多人联机对战游戏：</a:t>
            </a:r>
            <a:r>
              <a:rPr lang="zh-CN" altLang="en-US" sz="2800" dirty="0" smtClean="0">
                <a:latin typeface="微软雅黑" panose="020B0503020204020204" pitchFamily="34" charset="-122"/>
                <a:ea typeface="微软雅黑" panose="020B0503020204020204" pitchFamily="34" charset="-122"/>
              </a:rPr>
              <a:t>参考代码</a:t>
            </a:r>
            <a:endParaRPr lang="en-US" altLang="zh-CN" sz="2800" dirty="0" smtClean="0">
              <a:latin typeface="微软雅黑" panose="020B0503020204020204" pitchFamily="34" charset="-122"/>
              <a:ea typeface="微软雅黑" panose="020B0503020204020204" pitchFamily="34" charset="-122"/>
            </a:endParaRPr>
          </a:p>
          <a:p>
            <a:pPr marL="1257300" lvl="2" indent="-342900" algn="l">
              <a:lnSpc>
                <a:spcPct val="150000"/>
              </a:lnSpc>
              <a:buClr>
                <a:srgbClr val="EC7328"/>
              </a:buClr>
              <a:buFont typeface="Arial" panose="020B0604020202020204" pitchFamily="34" charset="0"/>
              <a:buChar char="•"/>
            </a:pPr>
            <a:r>
              <a:rPr lang="en-US" altLang="zh-CN" sz="2800" dirty="0" err="1" smtClean="0">
                <a:latin typeface="微软雅黑" panose="020B0503020204020204" pitchFamily="34" charset="-122"/>
                <a:ea typeface="微软雅黑" panose="020B0503020204020204" pitchFamily="34" charset="-122"/>
              </a:rPr>
              <a:t>DesignPatterns</a:t>
            </a:r>
            <a:r>
              <a:rPr lang="zh-CN" altLang="en-US" sz="2800" dirty="0" smtClean="0">
                <a:latin typeface="微软雅黑" panose="020B0503020204020204" pitchFamily="34" charset="-122"/>
                <a:ea typeface="微软雅黑" panose="020B0503020204020204" pitchFamily="34" charset="-122"/>
              </a:rPr>
              <a:t>之</a:t>
            </a:r>
            <a:r>
              <a:rPr lang="en-US" altLang="zh-CN" sz="2800" dirty="0">
                <a:latin typeface="微软雅黑" panose="020B0503020204020204" pitchFamily="34" charset="-122"/>
                <a:ea typeface="微软雅黑" panose="020B0503020204020204" pitchFamily="34" charset="-122"/>
              </a:rPr>
              <a:t>observer 2</a:t>
            </a:r>
            <a:r>
              <a:rPr lang="zh-CN" altLang="en-US" sz="2800" dirty="0" smtClean="0">
                <a:latin typeface="微软雅黑" panose="020B0503020204020204" pitchFamily="34" charset="-122"/>
                <a:ea typeface="微软雅黑" panose="020B0503020204020204" pitchFamily="34" charset="-122"/>
              </a:rPr>
              <a:t>包</a:t>
            </a:r>
            <a:endParaRPr lang="en-US" altLang="zh-CN" sz="2400" b="1" dirty="0" smtClean="0">
              <a:latin typeface="微软雅黑" panose="020B0503020204020204" pitchFamily="34" charset="-122"/>
              <a:ea typeface="微软雅黑" panose="020B0503020204020204" pitchFamily="34" charset="-122"/>
            </a:endParaRPr>
          </a:p>
        </p:txBody>
      </p:sp>
      <p:grpSp>
        <p:nvGrpSpPr>
          <p:cNvPr id="8" name="Group 5"/>
          <p:cNvGrpSpPr/>
          <p:nvPr/>
        </p:nvGrpSpPr>
        <p:grpSpPr bwMode="auto">
          <a:xfrm>
            <a:off x="4031468" y="3141762"/>
            <a:ext cx="4193480" cy="2044450"/>
            <a:chOff x="2381" y="3283"/>
            <a:chExt cx="1361" cy="510"/>
          </a:xfrm>
        </p:grpSpPr>
        <p:pic>
          <p:nvPicPr>
            <p:cNvPr id="9" name="Picture 6" descr="gif005"/>
            <p:cNvPicPr>
              <a:picLocks noChangeAspect="1" noChangeArrowheads="1" noCrop="1"/>
            </p:cNvPicPr>
            <p:nvPr/>
          </p:nvPicPr>
          <p:blipFill>
            <a:blip r:embed="rId1">
              <a:extLst>
                <a:ext uri="{28A0092B-C50C-407E-A947-70E740481C1C}">
                  <a14:useLocalDpi xmlns:a14="http://schemas.microsoft.com/office/drawing/2010/main" val="0"/>
                </a:ext>
              </a:extLst>
            </a:blip>
            <a:srcRect/>
            <a:stretch>
              <a:fillRect/>
            </a:stretch>
          </p:blipFill>
          <p:spPr bwMode="auto">
            <a:xfrm>
              <a:off x="2381" y="3283"/>
              <a:ext cx="252"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7"/>
            <p:cNvSpPr txBox="1">
              <a:spLocks noChangeArrowheads="1"/>
            </p:cNvSpPr>
            <p:nvPr/>
          </p:nvSpPr>
          <p:spPr bwMode="auto">
            <a:xfrm>
              <a:off x="2608" y="3505"/>
              <a:ext cx="1134" cy="146"/>
            </a:xfrm>
            <a:prstGeom prst="rect">
              <a:avLst/>
            </a:prstGeom>
            <a:noFill/>
            <a:ln w="9525">
              <a:noFill/>
              <a:miter lim="800000"/>
            </a:ln>
            <a:effectLst>
              <a:outerShdw dist="35921" dir="2700000" algn="ctr" rotWithShape="0">
                <a:schemeClr val="bg2"/>
              </a:outerShdw>
            </a:effectLst>
          </p:spPr>
          <p:txBody>
            <a:bodyPr>
              <a:spAutoFit/>
            </a:bodyPr>
            <a:lstStyle/>
            <a:p>
              <a:pPr>
                <a:spcBef>
                  <a:spcPct val="50000"/>
                </a:spcBef>
                <a:defRPr/>
              </a:pPr>
              <a:r>
                <a:rPr lang="zh-CN" altLang="en-US" sz="3200" b="1" dirty="0">
                  <a:solidFill>
                    <a:srgbClr val="44B3BE"/>
                  </a:solidFill>
                  <a:latin typeface="华文行楷" panose="02010800040101010101" pitchFamily="2" charset="-122"/>
                  <a:ea typeface="华文行楷" panose="02010800040101010101" pitchFamily="2" charset="-122"/>
                </a:rPr>
                <a:t>演示</a:t>
              </a:r>
              <a:r>
                <a:rPr lang="en-US" altLang="zh-CN" sz="3200" b="1" dirty="0">
                  <a:solidFill>
                    <a:srgbClr val="44B3BE"/>
                  </a:solidFill>
                  <a:latin typeface="Arial" panose="020B0604020202020204"/>
                  <a:ea typeface="华文行楷" panose="02010800040101010101" pitchFamily="2" charset="-122"/>
                </a:rPr>
                <a:t>……</a:t>
              </a:r>
              <a:endParaRPr lang="en-US" altLang="zh-CN" sz="3200" b="1" dirty="0">
                <a:solidFill>
                  <a:srgbClr val="44B3BE"/>
                </a:solidFill>
                <a:latin typeface="华文行楷" panose="02010800040101010101" pitchFamily="2" charset="-122"/>
                <a:ea typeface="华文行楷" panose="02010800040101010101" pitchFamily="2" charset="-122"/>
              </a:endParaRPr>
            </a:p>
          </p:txBody>
        </p:sp>
      </p:grpSp>
      <p:sp>
        <p:nvSpPr>
          <p:cNvPr id="11"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23.3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advTm="0">
    <p:wip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23.3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Rectangle 3"/>
          <p:cNvSpPr txBox="1">
            <a:spLocks noChangeArrowheads="1"/>
          </p:cNvSpPr>
          <p:nvPr/>
        </p:nvSpPr>
        <p:spPr>
          <a:xfrm>
            <a:off x="702125" y="693490"/>
            <a:ext cx="11229698" cy="5760640"/>
          </a:xfrm>
          <a:prstGeom prst="rect">
            <a:avLst/>
          </a:prstGeom>
        </p:spPr>
        <p:txBody>
          <a:bodyPr/>
          <a:lstStyle>
            <a:lvl1pPr marL="457200" indent="-457200" algn="l" defTabSz="121983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a:lnSpc>
                <a:spcPct val="200000"/>
              </a:lnSpc>
              <a:spcBef>
                <a:spcPts val="0"/>
              </a:spcBef>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结果及分析</a:t>
            </a:r>
            <a:endParaRPr lang="en-US" altLang="zh-CN" sz="2800" b="1" dirty="0" smtClean="0">
              <a:latin typeface="微软雅黑" panose="020B0503020204020204" pitchFamily="34" charset="-122"/>
              <a:ea typeface="微软雅黑" panose="020B0503020204020204" pitchFamily="34" charset="-122"/>
            </a:endParaRPr>
          </a:p>
          <a:p>
            <a:pPr lvl="1">
              <a:lnSpc>
                <a:spcPct val="200000"/>
              </a:lnSpc>
              <a:spcBef>
                <a:spcPts val="0"/>
              </a:spcBef>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两次对象之间的联动，触发链</a:t>
            </a:r>
            <a:r>
              <a:rPr lang="zh-CN" altLang="en-US" sz="2800" dirty="0" smtClean="0">
                <a:latin typeface="微软雅黑" panose="020B0503020204020204" pitchFamily="34" charset="-122"/>
                <a:ea typeface="微软雅黑" panose="020B0503020204020204" pitchFamily="34" charset="-122"/>
              </a:rPr>
              <a:t>：</a:t>
            </a:r>
            <a:endParaRPr lang="en-US" altLang="zh-CN" sz="2800" dirty="0" smtClean="0">
              <a:latin typeface="微软雅黑" panose="020B0503020204020204" pitchFamily="34" charset="-122"/>
              <a:ea typeface="微软雅黑" panose="020B0503020204020204" pitchFamily="34" charset="-122"/>
            </a:endParaRPr>
          </a:p>
          <a:p>
            <a:pPr marL="609600" lvl="1" indent="0">
              <a:lnSpc>
                <a:spcPct val="200000"/>
              </a:lnSpc>
              <a:spcBef>
                <a:spcPts val="0"/>
              </a:spcBef>
              <a:buNone/>
            </a:pPr>
            <a:r>
              <a:rPr lang="en-US" altLang="zh-CN" sz="2800" dirty="0" smtClean="0">
                <a:latin typeface="微软雅黑" panose="020B0503020204020204" pitchFamily="34" charset="-122"/>
                <a:ea typeface="微软雅黑" panose="020B0503020204020204" pitchFamily="34" charset="-122"/>
              </a:rPr>
              <a:t>	</a:t>
            </a:r>
            <a:r>
              <a:rPr lang="zh-CN" altLang="en-US" sz="2800" dirty="0" smtClean="0">
                <a:latin typeface="微软雅黑" panose="020B0503020204020204" pitchFamily="34" charset="-122"/>
                <a:ea typeface="微软雅黑" panose="020B0503020204020204" pitchFamily="34" charset="-122"/>
              </a:rPr>
              <a:t> </a:t>
            </a:r>
            <a:r>
              <a:rPr lang="en-US" altLang="zh-CN" sz="2800" dirty="0" err="1">
                <a:latin typeface="微软雅黑" panose="020B0503020204020204" pitchFamily="34" charset="-122"/>
                <a:ea typeface="微软雅黑" panose="020B0503020204020204" pitchFamily="34" charset="-122"/>
              </a:rPr>
              <a:t>Player.beAttacked</a:t>
            </a:r>
            <a:r>
              <a:rPr lang="en-US" altLang="zh-CN" sz="2800" dirty="0">
                <a:latin typeface="微软雅黑" panose="020B0503020204020204" pitchFamily="34" charset="-122"/>
                <a:ea typeface="微软雅黑" panose="020B0503020204020204" pitchFamily="34" charset="-122"/>
              </a:rPr>
              <a:t>()  </a:t>
            </a:r>
            <a:endParaRPr lang="en-US" altLang="zh-CN" sz="2800" dirty="0" smtClean="0">
              <a:latin typeface="微软雅黑" panose="020B0503020204020204" pitchFamily="34" charset="-122"/>
              <a:ea typeface="微软雅黑" panose="020B0503020204020204" pitchFamily="34" charset="-122"/>
            </a:endParaRPr>
          </a:p>
          <a:p>
            <a:pPr marL="609600" lvl="1" indent="0">
              <a:lnSpc>
                <a:spcPct val="200000"/>
              </a:lnSpc>
              <a:spcBef>
                <a:spcPts val="0"/>
              </a:spcBef>
              <a:buNone/>
            </a:pPr>
            <a:r>
              <a:rPr lang="en-US" altLang="zh-CN" sz="2800" dirty="0">
                <a:sym typeface="Wingdings" panose="05000000000000000000" pitchFamily="2" charset="2"/>
              </a:rPr>
              <a:t> </a:t>
            </a:r>
            <a:r>
              <a:rPr lang="en-US" altLang="zh-CN" sz="2800" dirty="0" smtClean="0">
                <a:latin typeface="微软雅黑" panose="020B0503020204020204" pitchFamily="34" charset="-122"/>
                <a:ea typeface="微软雅黑" panose="020B0503020204020204" pitchFamily="34" charset="-122"/>
              </a:rPr>
              <a:t>	</a:t>
            </a:r>
            <a:r>
              <a:rPr lang="en-US" altLang="zh-CN" sz="2800" dirty="0" err="1" smtClean="0">
                <a:latin typeface="微软雅黑" panose="020B0503020204020204" pitchFamily="34" charset="-122"/>
                <a:ea typeface="微软雅黑" panose="020B0503020204020204" pitchFamily="34" charset="-122"/>
              </a:rPr>
              <a:t>AllyControlCenter.notifyObserver</a:t>
            </a:r>
            <a:r>
              <a:rPr lang="en-US" altLang="zh-CN" sz="2800" dirty="0">
                <a:latin typeface="微软雅黑" panose="020B0503020204020204" pitchFamily="34" charset="-122"/>
                <a:ea typeface="微软雅黑" panose="020B0503020204020204" pitchFamily="34" charset="-122"/>
              </a:rPr>
              <a:t>() </a:t>
            </a:r>
            <a:r>
              <a:rPr lang="en-US" altLang="zh-CN" sz="2800" dirty="0" smtClean="0">
                <a:latin typeface="微软雅黑" panose="020B0503020204020204" pitchFamily="34" charset="-122"/>
                <a:ea typeface="微软雅黑" panose="020B0503020204020204" pitchFamily="34" charset="-122"/>
              </a:rPr>
              <a:t></a:t>
            </a:r>
            <a:endParaRPr lang="en-US" altLang="zh-CN" sz="2800" dirty="0" smtClean="0">
              <a:latin typeface="微软雅黑" panose="020B0503020204020204" pitchFamily="34" charset="-122"/>
              <a:ea typeface="微软雅黑" panose="020B0503020204020204" pitchFamily="34" charset="-122"/>
            </a:endParaRPr>
          </a:p>
          <a:p>
            <a:pPr marL="609600" lvl="1" indent="0">
              <a:lnSpc>
                <a:spcPct val="200000"/>
              </a:lnSpc>
              <a:spcBef>
                <a:spcPts val="0"/>
              </a:spcBef>
              <a:buNone/>
            </a:pPr>
            <a:r>
              <a:rPr lang="en-US" altLang="zh-CN" sz="2800" dirty="0">
                <a:sym typeface="Wingdings" panose="05000000000000000000" pitchFamily="2" charset="2"/>
              </a:rPr>
              <a:t> </a:t>
            </a:r>
            <a:r>
              <a:rPr lang="en-US" altLang="zh-CN" sz="2800" dirty="0" smtClean="0">
                <a:latin typeface="微软雅黑" panose="020B0503020204020204" pitchFamily="34" charset="-122"/>
                <a:ea typeface="微软雅黑" panose="020B0503020204020204" pitchFamily="34" charset="-122"/>
              </a:rPr>
              <a:t>	</a:t>
            </a:r>
            <a:r>
              <a:rPr lang="en-US" altLang="zh-CN" sz="2800" dirty="0" err="1" smtClean="0">
                <a:latin typeface="微软雅黑" panose="020B0503020204020204" pitchFamily="34" charset="-122"/>
                <a:ea typeface="微软雅黑" panose="020B0503020204020204" pitchFamily="34" charset="-122"/>
              </a:rPr>
              <a:t>Player.help</a:t>
            </a:r>
            <a:r>
              <a:rPr lang="en-US" altLang="zh-CN" sz="2800" dirty="0">
                <a:latin typeface="微软雅黑" panose="020B0503020204020204" pitchFamily="34" charset="-122"/>
                <a:ea typeface="微软雅黑" panose="020B0503020204020204" pitchFamily="34" charset="-122"/>
              </a:rPr>
              <a:t>()</a:t>
            </a:r>
            <a:endParaRPr lang="en-US" altLang="zh-CN" sz="2800" dirty="0">
              <a:latin typeface="微软雅黑" panose="020B0503020204020204" pitchFamily="34" charset="-122"/>
              <a:ea typeface="微软雅黑" panose="020B0503020204020204" pitchFamily="34" charset="-122"/>
            </a:endParaRPr>
          </a:p>
          <a:p>
            <a:pPr marL="609600" lvl="1" indent="0">
              <a:lnSpc>
                <a:spcPct val="200000"/>
              </a:lnSpc>
              <a:spcBef>
                <a:spcPts val="0"/>
              </a:spcBef>
              <a:buNone/>
            </a:pPr>
            <a:endParaRPr lang="zh-CN" altLang="en-US" sz="28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23.4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模式效果与应用</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内容占位符 2"/>
          <p:cNvSpPr txBox="1"/>
          <p:nvPr/>
        </p:nvSpPr>
        <p:spPr>
          <a:xfrm>
            <a:off x="643679" y="1172042"/>
            <a:ext cx="11144128" cy="499405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观察者模式优点：</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可以</a:t>
            </a:r>
            <a:r>
              <a:rPr lang="zh-CN" altLang="en-US" sz="2800" dirty="0">
                <a:solidFill>
                  <a:srgbClr val="EC7328"/>
                </a:solidFill>
                <a:latin typeface="微软雅黑" panose="020B0503020204020204" pitchFamily="34" charset="-122"/>
                <a:ea typeface="微软雅黑" panose="020B0503020204020204" pitchFamily="34" charset="-122"/>
              </a:rPr>
              <a:t>实现表示层和数据逻辑层的分离</a:t>
            </a:r>
            <a:endParaRPr lang="zh-CN" altLang="en-US" sz="2800" dirty="0">
              <a:solidFill>
                <a:srgbClr val="EC7328"/>
              </a:solidFill>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在观察目标和观察者之间</a:t>
            </a:r>
            <a:r>
              <a:rPr lang="zh-CN" altLang="en-US" sz="2800" dirty="0">
                <a:solidFill>
                  <a:srgbClr val="EC7328"/>
                </a:solidFill>
                <a:latin typeface="微软雅黑" panose="020B0503020204020204" pitchFamily="34" charset="-122"/>
                <a:ea typeface="微软雅黑" panose="020B0503020204020204" pitchFamily="34" charset="-122"/>
              </a:rPr>
              <a:t>建立一个抽象的耦合</a:t>
            </a:r>
            <a:endParaRPr lang="zh-CN" altLang="en-US" sz="2800" dirty="0">
              <a:solidFill>
                <a:srgbClr val="EC7328"/>
              </a:solidFill>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支持</a:t>
            </a:r>
            <a:r>
              <a:rPr lang="zh-CN" altLang="en-US" sz="2800" dirty="0">
                <a:solidFill>
                  <a:srgbClr val="EC7328"/>
                </a:solidFill>
                <a:latin typeface="微软雅黑" panose="020B0503020204020204" pitchFamily="34" charset="-122"/>
                <a:ea typeface="微软雅黑" panose="020B0503020204020204" pitchFamily="34" charset="-122"/>
              </a:rPr>
              <a:t>广播通信</a:t>
            </a:r>
            <a:r>
              <a:rPr lang="zh-CN" altLang="en-US" sz="2800" dirty="0">
                <a:latin typeface="微软雅黑" panose="020B0503020204020204" pitchFamily="34" charset="-122"/>
                <a:ea typeface="微软雅黑" panose="020B0503020204020204" pitchFamily="34" charset="-122"/>
              </a:rPr>
              <a:t>，简化了一对多系统设计的难度</a:t>
            </a:r>
            <a:endParaRPr lang="zh-CN" altLang="en-US" sz="2800" dirty="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solidFill>
                  <a:srgbClr val="EC7328"/>
                </a:solidFill>
                <a:latin typeface="微软雅黑" panose="020B0503020204020204" pitchFamily="34" charset="-122"/>
                <a:ea typeface="微软雅黑" panose="020B0503020204020204" pitchFamily="34" charset="-122"/>
              </a:rPr>
              <a:t>符合开闭原则</a:t>
            </a:r>
            <a:r>
              <a:rPr lang="zh-CN" altLang="en-US" sz="2800" dirty="0">
                <a:latin typeface="微软雅黑" panose="020B0503020204020204" pitchFamily="34" charset="-122"/>
                <a:ea typeface="微软雅黑" panose="020B0503020204020204" pitchFamily="34" charset="-122"/>
              </a:rPr>
              <a:t>，增加新的具体观察者无须修改原有系统代码，在具体观察者与观察目标之间不存在关联关系的情况下，增加新的观察目标也很</a:t>
            </a:r>
            <a:r>
              <a:rPr lang="zh-CN" altLang="en-US" sz="2800" dirty="0" smtClean="0">
                <a:latin typeface="微软雅黑" panose="020B0503020204020204" pitchFamily="34" charset="-122"/>
                <a:ea typeface="微软雅黑" panose="020B0503020204020204" pitchFamily="34" charset="-122"/>
              </a:rPr>
              <a:t>方便</a:t>
            </a:r>
            <a:endParaRPr lang="zh-CN" altLang="en-US" sz="2800" dirty="0">
              <a:latin typeface="微软雅黑" panose="020B0503020204020204" pitchFamily="34" charset="-122"/>
              <a:ea typeface="微软雅黑" panose="020B0503020204020204" pitchFamily="34" charset="-122"/>
            </a:endParaRPr>
          </a:p>
          <a:p>
            <a:pPr lvl="1" algn="l">
              <a:lnSpc>
                <a:spcPct val="150000"/>
              </a:lnSpc>
              <a:buClr>
                <a:srgbClr val="EC7328"/>
              </a:buClr>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400" b="1"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23.4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模式效果与应用</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内容占位符 2"/>
          <p:cNvSpPr txBox="1"/>
          <p:nvPr/>
        </p:nvSpPr>
        <p:spPr>
          <a:xfrm>
            <a:off x="499663" y="1244050"/>
            <a:ext cx="11144128" cy="369791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观察者模式缺点：</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将</a:t>
            </a:r>
            <a:r>
              <a:rPr lang="zh-CN" altLang="en-US" sz="2800" dirty="0">
                <a:latin typeface="微软雅黑" panose="020B0503020204020204" pitchFamily="34" charset="-122"/>
                <a:ea typeface="微软雅黑" panose="020B0503020204020204" pitchFamily="34" charset="-122"/>
              </a:rPr>
              <a:t>所有的观察者都通知到会</a:t>
            </a:r>
            <a:r>
              <a:rPr lang="zh-CN" altLang="en-US" sz="2800" dirty="0">
                <a:solidFill>
                  <a:srgbClr val="EC7328"/>
                </a:solidFill>
                <a:latin typeface="微软雅黑" panose="020B0503020204020204" pitchFamily="34" charset="-122"/>
                <a:ea typeface="微软雅黑" panose="020B0503020204020204" pitchFamily="34" charset="-122"/>
              </a:rPr>
              <a:t>花费很多时间</a:t>
            </a:r>
            <a:endParaRPr lang="zh-CN" altLang="en-US" sz="2800" dirty="0">
              <a:solidFill>
                <a:srgbClr val="EC7328"/>
              </a:solidFill>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如果</a:t>
            </a:r>
            <a:r>
              <a:rPr lang="zh-CN" altLang="en-US" sz="2800" dirty="0">
                <a:solidFill>
                  <a:srgbClr val="EC7328"/>
                </a:solidFill>
                <a:latin typeface="微软雅黑" panose="020B0503020204020204" pitchFamily="34" charset="-122"/>
                <a:ea typeface="微软雅黑" panose="020B0503020204020204" pitchFamily="34" charset="-122"/>
              </a:rPr>
              <a:t>存在循环依赖时</a:t>
            </a:r>
            <a:r>
              <a:rPr lang="zh-CN" altLang="en-US" sz="2800" dirty="0">
                <a:latin typeface="微软雅黑" panose="020B0503020204020204" pitchFamily="34" charset="-122"/>
                <a:ea typeface="微软雅黑" panose="020B0503020204020204" pitchFamily="34" charset="-122"/>
              </a:rPr>
              <a:t>可能</a:t>
            </a:r>
            <a:r>
              <a:rPr lang="zh-CN" altLang="en-US" sz="2800" dirty="0">
                <a:solidFill>
                  <a:srgbClr val="EC7328"/>
                </a:solidFill>
                <a:latin typeface="微软雅黑" panose="020B0503020204020204" pitchFamily="34" charset="-122"/>
                <a:ea typeface="微软雅黑" panose="020B0503020204020204" pitchFamily="34" charset="-122"/>
              </a:rPr>
              <a:t>导致系统崩溃</a:t>
            </a:r>
            <a:endParaRPr lang="zh-CN" altLang="en-US" sz="2800" dirty="0">
              <a:solidFill>
                <a:srgbClr val="EC7328"/>
              </a:solidFill>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solidFill>
                  <a:srgbClr val="EC7328"/>
                </a:solidFill>
                <a:latin typeface="微软雅黑" panose="020B0503020204020204" pitchFamily="34" charset="-122"/>
                <a:ea typeface="微软雅黑" panose="020B0503020204020204" pitchFamily="34" charset="-122"/>
              </a:rPr>
              <a:t>没有相应的机制让观察者知道所观察的目标对象是怎么发生变化的</a:t>
            </a:r>
            <a:r>
              <a:rPr lang="zh-CN" altLang="en-US" sz="2800" dirty="0">
                <a:latin typeface="微软雅黑" panose="020B0503020204020204" pitchFamily="34" charset="-122"/>
                <a:ea typeface="微软雅黑" panose="020B0503020204020204" pitchFamily="34" charset="-122"/>
              </a:rPr>
              <a:t>，而只是知道观察目标发生了</a:t>
            </a:r>
            <a:r>
              <a:rPr lang="zh-CN" altLang="en-US" sz="2800" dirty="0" smtClean="0">
                <a:latin typeface="微软雅黑" panose="020B0503020204020204" pitchFamily="34" charset="-122"/>
                <a:ea typeface="微软雅黑" panose="020B0503020204020204" pitchFamily="34" charset="-122"/>
              </a:rPr>
              <a:t>变化</a:t>
            </a:r>
            <a:endParaRPr lang="en-US" altLang="zh-CN" sz="2400" b="1"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23.4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模式效果与应用</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内容占位符 2"/>
          <p:cNvSpPr txBox="1"/>
          <p:nvPr/>
        </p:nvSpPr>
        <p:spPr>
          <a:xfrm>
            <a:off x="355647" y="1172042"/>
            <a:ext cx="11360152" cy="41299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在</a:t>
            </a:r>
            <a:r>
              <a:rPr lang="zh-CN" altLang="en-US" sz="2800" b="1" dirty="0">
                <a:latin typeface="微软雅黑" panose="020B0503020204020204" pitchFamily="34" charset="-122"/>
                <a:ea typeface="微软雅黑" panose="020B0503020204020204" pitchFamily="34" charset="-122"/>
              </a:rPr>
              <a:t>以下情况下可以</a:t>
            </a:r>
            <a:r>
              <a:rPr lang="zh-CN" altLang="en-US" sz="2800" b="1" dirty="0" smtClean="0">
                <a:latin typeface="微软雅黑" panose="020B0503020204020204" pitchFamily="34" charset="-122"/>
                <a:ea typeface="微软雅黑" panose="020B0503020204020204" pitchFamily="34" charset="-122"/>
              </a:rPr>
              <a:t>使用观察者模式</a:t>
            </a:r>
            <a:r>
              <a:rPr lang="zh-CN" altLang="en-US" sz="2800" b="1" dirty="0">
                <a:latin typeface="微软雅黑" panose="020B0503020204020204" pitchFamily="34" charset="-122"/>
                <a:ea typeface="微软雅黑" panose="020B0503020204020204" pitchFamily="34" charset="-122"/>
              </a:rPr>
              <a:t>：</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一</a:t>
            </a:r>
            <a:r>
              <a:rPr lang="zh-CN" altLang="en-US" sz="2800" dirty="0">
                <a:latin typeface="微软雅黑" panose="020B0503020204020204" pitchFamily="34" charset="-122"/>
                <a:ea typeface="微软雅黑" panose="020B0503020204020204" pitchFamily="34" charset="-122"/>
              </a:rPr>
              <a:t>个抽象模型有两个方面，其中</a:t>
            </a:r>
            <a:r>
              <a:rPr lang="zh-CN" altLang="en-US" sz="2800" dirty="0">
                <a:solidFill>
                  <a:srgbClr val="EC7328"/>
                </a:solidFill>
                <a:latin typeface="微软雅黑" panose="020B0503020204020204" pitchFamily="34" charset="-122"/>
                <a:ea typeface="微软雅黑" panose="020B0503020204020204" pitchFamily="34" charset="-122"/>
              </a:rPr>
              <a:t>一个方面依赖于另一个方面</a:t>
            </a:r>
            <a:r>
              <a:rPr lang="zh-CN" altLang="en-US" sz="2800" dirty="0">
                <a:latin typeface="微软雅黑" panose="020B0503020204020204" pitchFamily="34" charset="-122"/>
                <a:ea typeface="微软雅黑" panose="020B0503020204020204" pitchFamily="34" charset="-122"/>
              </a:rPr>
              <a:t>，将这两个方面封装在独立的对象中使它们可以各自独立地改变和复用</a:t>
            </a:r>
            <a:endParaRPr lang="zh-CN" altLang="en-US" sz="2800" dirty="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solidFill>
                  <a:srgbClr val="EC7328"/>
                </a:solidFill>
                <a:latin typeface="微软雅黑" panose="020B0503020204020204" pitchFamily="34" charset="-122"/>
                <a:ea typeface="微软雅黑" panose="020B0503020204020204" pitchFamily="34" charset="-122"/>
              </a:rPr>
              <a:t>一个对象的改变将导致一个或多个其他对象发生改变</a:t>
            </a:r>
            <a:r>
              <a:rPr lang="zh-CN" altLang="en-US" sz="2800" dirty="0">
                <a:latin typeface="微软雅黑" panose="020B0503020204020204" pitchFamily="34" charset="-122"/>
                <a:ea typeface="微软雅黑" panose="020B0503020204020204" pitchFamily="34" charset="-122"/>
              </a:rPr>
              <a:t>，且</a:t>
            </a:r>
            <a:r>
              <a:rPr lang="zh-CN" altLang="en-US" sz="2800" dirty="0">
                <a:solidFill>
                  <a:srgbClr val="EC7328"/>
                </a:solidFill>
                <a:latin typeface="微软雅黑" panose="020B0503020204020204" pitchFamily="34" charset="-122"/>
                <a:ea typeface="微软雅黑" panose="020B0503020204020204" pitchFamily="34" charset="-122"/>
              </a:rPr>
              <a:t>并不知道具体有多少对象将发生改变，也不知道这些对象是谁</a:t>
            </a:r>
            <a:endParaRPr lang="zh-CN" altLang="en-US" sz="2800" dirty="0">
              <a:solidFill>
                <a:srgbClr val="EC7328"/>
              </a:solidFill>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需要在系统中</a:t>
            </a:r>
            <a:r>
              <a:rPr lang="zh-CN" altLang="en-US" sz="2800" dirty="0">
                <a:solidFill>
                  <a:srgbClr val="EC7328"/>
                </a:solidFill>
                <a:latin typeface="微软雅黑" panose="020B0503020204020204" pitchFamily="34" charset="-122"/>
                <a:ea typeface="微软雅黑" panose="020B0503020204020204" pitchFamily="34" charset="-122"/>
              </a:rPr>
              <a:t>创建一个触发</a:t>
            </a:r>
            <a:r>
              <a:rPr lang="zh-CN" altLang="en-US" sz="2800" dirty="0" smtClean="0">
                <a:solidFill>
                  <a:srgbClr val="EC7328"/>
                </a:solidFill>
                <a:latin typeface="微软雅黑" panose="020B0503020204020204" pitchFamily="34" charset="-122"/>
                <a:ea typeface="微软雅黑" panose="020B0503020204020204" pitchFamily="34" charset="-122"/>
              </a:rPr>
              <a:t>链</a:t>
            </a:r>
            <a:endParaRPr lang="en-US" altLang="zh-CN" sz="2400" b="1"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23.4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模式效果与应用</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矩形 2"/>
          <p:cNvSpPr/>
          <p:nvPr/>
        </p:nvSpPr>
        <p:spPr>
          <a:xfrm>
            <a:off x="526909" y="712654"/>
            <a:ext cx="11521280" cy="5724644"/>
          </a:xfrm>
          <a:prstGeom prst="rect">
            <a:avLst/>
          </a:prstGeom>
        </p:spPr>
        <p:txBody>
          <a:bodyPr wrap="square">
            <a:spAutoFit/>
          </a:bodyPr>
          <a:lstStyle/>
          <a:p>
            <a:pPr marL="457200" indent="-457200">
              <a:lnSpc>
                <a:spcPct val="150000"/>
              </a:lnSpc>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模式应用</a:t>
            </a:r>
            <a:r>
              <a:rPr lang="zh-CN" altLang="en-US" sz="2800" b="1" dirty="0" smtClean="0">
                <a:latin typeface="微软雅黑" panose="020B0503020204020204" pitchFamily="34" charset="-122"/>
                <a:ea typeface="微软雅黑" panose="020B0503020204020204" pitchFamily="34" charset="-122"/>
              </a:rPr>
              <a:t>：</a:t>
            </a:r>
            <a:endParaRPr lang="zh-CN" altLang="en-US" sz="2800" b="1"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JDK1.0</a:t>
            </a:r>
            <a:r>
              <a:rPr lang="zh-CN" altLang="en-US" dirty="0">
                <a:latin typeface="微软雅黑" panose="020B0503020204020204" pitchFamily="34" charset="-122"/>
                <a:ea typeface="微软雅黑" panose="020B0503020204020204" pitchFamily="34" charset="-122"/>
              </a:rPr>
              <a:t>及更早的</a:t>
            </a:r>
            <a:r>
              <a:rPr lang="en-US" altLang="zh-CN" dirty="0">
                <a:latin typeface="微软雅黑" panose="020B0503020204020204" pitchFamily="34" charset="-122"/>
                <a:ea typeface="微软雅黑" panose="020B0503020204020204" pitchFamily="34" charset="-122"/>
              </a:rPr>
              <a:t>AWT</a:t>
            </a:r>
            <a:r>
              <a:rPr lang="zh-CN" altLang="en-US" dirty="0">
                <a:latin typeface="微软雅黑" panose="020B0503020204020204" pitchFamily="34" charset="-122"/>
                <a:ea typeface="微软雅黑" panose="020B0503020204020204" pitchFamily="34" charset="-122"/>
              </a:rPr>
              <a:t>事件模型基于职责链模式，但是这种模型不适用于复杂的系统，因此在</a:t>
            </a:r>
            <a:r>
              <a:rPr lang="en-US" altLang="zh-CN" dirty="0">
                <a:latin typeface="微软雅黑" panose="020B0503020204020204" pitchFamily="34" charset="-122"/>
                <a:ea typeface="微软雅黑" panose="020B0503020204020204" pitchFamily="34" charset="-122"/>
              </a:rPr>
              <a:t>JDK1.1</a:t>
            </a:r>
            <a:r>
              <a:rPr lang="zh-CN" altLang="en-US" dirty="0">
                <a:latin typeface="微软雅黑" panose="020B0503020204020204" pitchFamily="34" charset="-122"/>
                <a:ea typeface="微软雅黑" panose="020B0503020204020204" pitchFamily="34" charset="-122"/>
              </a:rPr>
              <a:t>版本及以后的各个版本中，事件处理模型采用基于观察者模式的委派事件模型（</a:t>
            </a:r>
            <a:r>
              <a:rPr lang="en-US" altLang="zh-CN" dirty="0">
                <a:latin typeface="微软雅黑" panose="020B0503020204020204" pitchFamily="34" charset="-122"/>
                <a:ea typeface="微软雅黑" panose="020B0503020204020204" pitchFamily="34" charset="-122"/>
              </a:rPr>
              <a:t>Delegation Event Model</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DEM</a:t>
            </a:r>
            <a:r>
              <a:rPr lang="zh-CN" altLang="en-US" dirty="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pPr indent="457200">
              <a:lnSpc>
                <a:spcPct val="150000"/>
              </a:lnSpc>
            </a:pPr>
            <a:r>
              <a:rPr lang="zh-CN" altLang="en-US" dirty="0">
                <a:latin typeface="微软雅黑" panose="020B0503020204020204" pitchFamily="34" charset="-122"/>
                <a:ea typeface="微软雅黑" panose="020B0503020204020204" pitchFamily="34" charset="-122"/>
              </a:rPr>
              <a:t>在</a:t>
            </a:r>
            <a:r>
              <a:rPr lang="en-US" altLang="zh-CN" dirty="0">
                <a:latin typeface="微软雅黑" panose="020B0503020204020204" pitchFamily="34" charset="-122"/>
                <a:ea typeface="微软雅黑" panose="020B0503020204020204" pitchFamily="34" charset="-122"/>
              </a:rPr>
              <a:t>DEM</a:t>
            </a:r>
            <a:r>
              <a:rPr lang="zh-CN" altLang="en-US" dirty="0">
                <a:latin typeface="微软雅黑" panose="020B0503020204020204" pitchFamily="34" charset="-122"/>
                <a:ea typeface="微软雅黑" panose="020B0503020204020204" pitchFamily="34" charset="-122"/>
              </a:rPr>
              <a:t>模型里，目标角色（</a:t>
            </a:r>
            <a:r>
              <a:rPr lang="en-US" altLang="zh-CN" dirty="0">
                <a:latin typeface="微软雅黑" panose="020B0503020204020204" pitchFamily="34" charset="-122"/>
                <a:ea typeface="微软雅黑" panose="020B0503020204020204" pitchFamily="34" charset="-122"/>
              </a:rPr>
              <a:t>Subject</a:t>
            </a:r>
            <a:r>
              <a:rPr lang="zh-CN" altLang="en-US" dirty="0">
                <a:latin typeface="微软雅黑" panose="020B0503020204020204" pitchFamily="34" charset="-122"/>
                <a:ea typeface="微软雅黑" panose="020B0503020204020204" pitchFamily="34" charset="-122"/>
              </a:rPr>
              <a:t>）负责发布事件，而观察者角色（</a:t>
            </a:r>
            <a:r>
              <a:rPr lang="en-US" altLang="zh-CN" dirty="0">
                <a:latin typeface="微软雅黑" panose="020B0503020204020204" pitchFamily="34" charset="-122"/>
                <a:ea typeface="微软雅黑" panose="020B0503020204020204" pitchFamily="34" charset="-122"/>
              </a:rPr>
              <a:t>Observer</a:t>
            </a:r>
            <a:r>
              <a:rPr lang="zh-CN" altLang="en-US" dirty="0">
                <a:latin typeface="微软雅黑" panose="020B0503020204020204" pitchFamily="34" charset="-122"/>
                <a:ea typeface="微软雅黑" panose="020B0503020204020204" pitchFamily="34" charset="-122"/>
              </a:rPr>
              <a:t>）可以向目标订阅它所感兴趣的事件。当一个具体目标产生一个事件时，它将通知所有订阅者。在</a:t>
            </a:r>
            <a:r>
              <a:rPr lang="en-US" altLang="zh-CN" dirty="0">
                <a:latin typeface="微软雅黑" panose="020B0503020204020204" pitchFamily="34" charset="-122"/>
                <a:ea typeface="微软雅黑" panose="020B0503020204020204" pitchFamily="34" charset="-122"/>
              </a:rPr>
              <a:t>DEM</a:t>
            </a:r>
            <a:r>
              <a:rPr lang="zh-CN" altLang="en-US" dirty="0">
                <a:latin typeface="微软雅黑" panose="020B0503020204020204" pitchFamily="34" charset="-122"/>
                <a:ea typeface="微软雅黑" panose="020B0503020204020204" pitchFamily="34" charset="-122"/>
              </a:rPr>
              <a:t>中，事件的发布者称为事件源，而订阅者叫做事件监听器，在这个过程中还可以通过事件对象来传递与事件相关的信息，可以在事件监听者的实现类中实现事件处理，因此事件监听对象又可以称为事件处理对象。事件源对象、事件监听对象（事件处理对象）和实践对象构成了</a:t>
            </a:r>
            <a:r>
              <a:rPr lang="en-US" altLang="zh-CN" dirty="0">
                <a:latin typeface="微软雅黑" panose="020B0503020204020204" pitchFamily="34" charset="-122"/>
                <a:ea typeface="微软雅黑" panose="020B0503020204020204" pitchFamily="34" charset="-122"/>
              </a:rPr>
              <a:t>Java</a:t>
            </a:r>
            <a:r>
              <a:rPr lang="zh-CN" altLang="en-US" dirty="0">
                <a:latin typeface="微软雅黑" panose="020B0503020204020204" pitchFamily="34" charset="-122"/>
                <a:ea typeface="微软雅黑" panose="020B0503020204020204" pitchFamily="34" charset="-122"/>
              </a:rPr>
              <a:t>事件处理模型的三要素</a:t>
            </a:r>
            <a:r>
              <a:rPr lang="zh-CN" altLang="en-US" dirty="0" smtClean="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14599" y="693490"/>
            <a:ext cx="10729191" cy="3247877"/>
          </a:xfrm>
          <a:prstGeom prst="rect">
            <a:avLst/>
          </a:prstGeom>
        </p:spPr>
        <p:txBody>
          <a:bodyPr wrap="square">
            <a:spAutoFit/>
          </a:bodyPr>
          <a:lstStyle/>
          <a:p>
            <a:pPr marL="457200" indent="-457200">
              <a:lnSpc>
                <a:spcPct val="150000"/>
              </a:lnSpc>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模式应用：</a:t>
            </a:r>
            <a:endParaRPr lang="zh-CN" altLang="en-US" sz="2800" b="1" dirty="0">
              <a:latin typeface="微软雅黑" panose="020B0503020204020204" pitchFamily="34" charset="-122"/>
              <a:ea typeface="微软雅黑" panose="020B0503020204020204" pitchFamily="34" charset="-122"/>
            </a:endParaRPr>
          </a:p>
          <a:p>
            <a:pPr>
              <a:lnSpc>
                <a:spcPct val="150000"/>
              </a:lnSpc>
            </a:pPr>
            <a:r>
              <a:rPr lang="zh-CN" altLang="en-US" sz="2800" dirty="0" smtClean="0">
                <a:latin typeface="微软雅黑" panose="020B0503020204020204" pitchFamily="34" charset="-122"/>
                <a:ea typeface="微软雅黑" panose="020B0503020204020204" pitchFamily="34" charset="-122"/>
              </a:rPr>
              <a:t>（</a:t>
            </a:r>
            <a:r>
              <a:rPr lang="en-US" altLang="zh-CN" sz="2800" dirty="0" smtClean="0">
                <a:latin typeface="微软雅黑" panose="020B0503020204020204" pitchFamily="34" charset="-122"/>
                <a:ea typeface="微软雅黑" panose="020B0503020204020204" pitchFamily="34" charset="-122"/>
              </a:rPr>
              <a:t>2</a:t>
            </a:r>
            <a:r>
              <a:rPr lang="zh-CN" altLang="en-US" sz="2800" dirty="0" smtClean="0">
                <a:latin typeface="微软雅黑" panose="020B0503020204020204" pitchFamily="34" charset="-122"/>
                <a:ea typeface="微软雅黑" panose="020B0503020204020204" pitchFamily="34" charset="-122"/>
              </a:rPr>
              <a:t>）观察</a:t>
            </a:r>
            <a:r>
              <a:rPr lang="zh-CN" altLang="en-US" sz="2800" dirty="0">
                <a:latin typeface="微软雅黑" panose="020B0503020204020204" pitchFamily="34" charset="-122"/>
                <a:ea typeface="微软雅黑" panose="020B0503020204020204" pitchFamily="34" charset="-122"/>
              </a:rPr>
              <a:t>者模式在软件开发中应用非常广泛，如某电子商务网站可以在执行发送操作时给多个用户发送商品打折信息，某团队战斗游戏中队友牺牲讲给所有成员提示，凡是涉及一对一或者一对多的对象交互场景都可以使用观察者</a:t>
            </a:r>
            <a:r>
              <a:rPr lang="zh-CN" altLang="en-US" sz="2800" dirty="0" smtClean="0">
                <a:latin typeface="微软雅黑" panose="020B0503020204020204" pitchFamily="34" charset="-122"/>
                <a:ea typeface="微软雅黑" panose="020B0503020204020204" pitchFamily="34" charset="-122"/>
              </a:rPr>
              <a:t>模式。</a:t>
            </a:r>
            <a:endParaRPr lang="zh-CN" altLang="en-US" sz="2800" dirty="0">
              <a:latin typeface="微软雅黑" panose="020B0503020204020204" pitchFamily="34" charset="-122"/>
              <a:ea typeface="微软雅黑" panose="020B0503020204020204" pitchFamily="34" charset="-122"/>
            </a:endParaRPr>
          </a:p>
        </p:txBody>
      </p:sp>
      <p:sp>
        <p:nvSpPr>
          <p:cNvPr id="4"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23.4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模式效果与应用</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advTm="0">
    <p:wip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23.5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模式扩展</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1823" y="1462708"/>
            <a:ext cx="11102008" cy="5279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1130623" y="807889"/>
            <a:ext cx="6336704" cy="523220"/>
          </a:xfrm>
          <a:prstGeom prst="rect">
            <a:avLst/>
          </a:prstGeom>
        </p:spPr>
        <p:txBody>
          <a:bodyPr wrap="square">
            <a:spAutoFit/>
          </a:bodyPr>
          <a:lstStyle/>
          <a:p>
            <a:r>
              <a:rPr lang="zh-CN" altLang="en-US" sz="2800" b="1" dirty="0" smtClean="0">
                <a:latin typeface="微软雅黑" panose="020B0503020204020204" pitchFamily="34" charset="-122"/>
                <a:ea typeface="微软雅黑" panose="020B0503020204020204" pitchFamily="34" charset="-122"/>
              </a:rPr>
              <a:t>（</a:t>
            </a:r>
            <a:r>
              <a:rPr lang="en-US" altLang="zh-CN" sz="2800" b="1" dirty="0" smtClean="0">
                <a:latin typeface="微软雅黑" panose="020B0503020204020204" pitchFamily="34" charset="-122"/>
                <a:ea typeface="微软雅黑" panose="020B0503020204020204" pitchFamily="34" charset="-122"/>
              </a:rPr>
              <a:t>1</a:t>
            </a:r>
            <a:r>
              <a:rPr lang="zh-CN" altLang="en-US" sz="2800" b="1" dirty="0" smtClean="0">
                <a:latin typeface="微软雅黑" panose="020B0503020204020204" pitchFamily="34" charset="-122"/>
                <a:ea typeface="微软雅黑" panose="020B0503020204020204" pitchFamily="34" charset="-122"/>
              </a:rPr>
              <a:t>）</a:t>
            </a:r>
            <a:r>
              <a:rPr lang="en-US" altLang="zh-CN" sz="2800" b="1" dirty="0" smtClean="0">
                <a:latin typeface="微软雅黑" panose="020B0503020204020204" pitchFamily="34" charset="-122"/>
                <a:ea typeface="微软雅黑" panose="020B0503020204020204" pitchFamily="34" charset="-122"/>
              </a:rPr>
              <a:t>JDK</a:t>
            </a:r>
            <a:r>
              <a:rPr lang="zh-CN" altLang="en-US" sz="2800" b="1" dirty="0">
                <a:latin typeface="微软雅黑" panose="020B0503020204020204" pitchFamily="34" charset="-122"/>
                <a:ea typeface="微软雅黑" panose="020B0503020204020204" pitchFamily="34" charset="-122"/>
              </a:rPr>
              <a:t>对观察者模式的支持</a:t>
            </a:r>
            <a:endParaRPr lang="zh-CN" altLang="en-US" sz="2800" b="1"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23.5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模式扩展</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矩形 3"/>
          <p:cNvSpPr/>
          <p:nvPr/>
        </p:nvSpPr>
        <p:spPr>
          <a:xfrm>
            <a:off x="1130623" y="807889"/>
            <a:ext cx="6336704" cy="523220"/>
          </a:xfrm>
          <a:prstGeom prst="rect">
            <a:avLst/>
          </a:prstGeom>
        </p:spPr>
        <p:txBody>
          <a:bodyPr wrap="square">
            <a:spAutoFit/>
          </a:bodyPr>
          <a:lstStyle/>
          <a:p>
            <a:r>
              <a:rPr lang="zh-CN" altLang="en-US" sz="2800" b="1" dirty="0" smtClean="0">
                <a:latin typeface="微软雅黑" panose="020B0503020204020204" pitchFamily="34" charset="-122"/>
                <a:ea typeface="微软雅黑" panose="020B0503020204020204" pitchFamily="34" charset="-122"/>
              </a:rPr>
              <a:t>（</a:t>
            </a:r>
            <a:r>
              <a:rPr lang="en-US" altLang="zh-CN" sz="2800" b="1" dirty="0" smtClean="0">
                <a:latin typeface="微软雅黑" panose="020B0503020204020204" pitchFamily="34" charset="-122"/>
                <a:ea typeface="微软雅黑" panose="020B0503020204020204" pitchFamily="34" charset="-122"/>
              </a:rPr>
              <a:t>2</a:t>
            </a:r>
            <a:r>
              <a:rPr lang="zh-CN" altLang="en-US" sz="2800" b="1" dirty="0" smtClean="0">
                <a:latin typeface="微软雅黑" panose="020B0503020204020204" pitchFamily="34" charset="-122"/>
                <a:ea typeface="微软雅黑" panose="020B0503020204020204" pitchFamily="34" charset="-122"/>
              </a:rPr>
              <a:t>）</a:t>
            </a:r>
            <a:r>
              <a:rPr lang="en-US" altLang="zh-CN" sz="2800" b="1" dirty="0" smtClean="0">
                <a:latin typeface="微软雅黑" panose="020B0503020204020204" pitchFamily="34" charset="-122"/>
                <a:ea typeface="微软雅黑" panose="020B0503020204020204" pitchFamily="34" charset="-122"/>
              </a:rPr>
              <a:t>MVC</a:t>
            </a:r>
            <a:r>
              <a:rPr lang="zh-CN" altLang="en-US" sz="2800" b="1" dirty="0" smtClean="0">
                <a:latin typeface="微软雅黑" panose="020B0503020204020204" pitchFamily="34" charset="-122"/>
                <a:ea typeface="微软雅黑" panose="020B0503020204020204" pitchFamily="34" charset="-122"/>
              </a:rPr>
              <a:t>模式</a:t>
            </a:r>
            <a:endParaRPr lang="zh-CN" altLang="en-US" sz="2800" b="1" dirty="0">
              <a:latin typeface="微软雅黑" panose="020B0503020204020204" pitchFamily="34" charset="-122"/>
              <a:ea typeface="微软雅黑" panose="020B0503020204020204" pitchFamily="34" charset="-122"/>
            </a:endParaRPr>
          </a:p>
        </p:txBody>
      </p:sp>
      <p:sp>
        <p:nvSpPr>
          <p:cNvPr id="3" name="矩形 2"/>
          <p:cNvSpPr/>
          <p:nvPr/>
        </p:nvSpPr>
        <p:spPr>
          <a:xfrm>
            <a:off x="194519" y="1269554"/>
            <a:ext cx="11305256" cy="2116798"/>
          </a:xfrm>
          <a:prstGeom prst="rect">
            <a:avLst/>
          </a:prstGeom>
        </p:spPr>
        <p:txBody>
          <a:bodyPr wrap="square">
            <a:spAutoFit/>
          </a:bodyPr>
          <a:lstStyle/>
          <a:p>
            <a:pPr marL="1066800" lvl="1" indent="-457200">
              <a:lnSpc>
                <a:spcPct val="120000"/>
              </a:lnSpc>
              <a:buFont typeface="Wingdings" panose="05000000000000000000" pitchFamily="2" charset="2"/>
              <a:buChar char="ü"/>
            </a:pPr>
            <a:r>
              <a:rPr lang="zh-CN" altLang="en-US" sz="2800" dirty="0">
                <a:solidFill>
                  <a:srgbClr val="FF3300"/>
                </a:solidFill>
                <a:latin typeface="微软雅黑" panose="020B0503020204020204" pitchFamily="34" charset="-122"/>
                <a:ea typeface="微软雅黑" panose="020B0503020204020204" pitchFamily="34" charset="-122"/>
              </a:rPr>
              <a:t>模型</a:t>
            </a:r>
            <a:r>
              <a:rPr lang="en-US" altLang="zh-CN" sz="2800" dirty="0">
                <a:solidFill>
                  <a:srgbClr val="FF3300"/>
                </a:solidFill>
                <a:latin typeface="微软雅黑" panose="020B0503020204020204" pitchFamily="34" charset="-122"/>
                <a:ea typeface="微软雅黑" panose="020B0503020204020204" pitchFamily="34" charset="-122"/>
              </a:rPr>
              <a:t>(Model)</a:t>
            </a:r>
            <a:r>
              <a:rPr lang="zh-CN" altLang="en-US" sz="2800" dirty="0">
                <a:latin typeface="微软雅黑" panose="020B0503020204020204" pitchFamily="34" charset="-122"/>
                <a:ea typeface="微软雅黑" panose="020B0503020204020204" pitchFamily="34" charset="-122"/>
              </a:rPr>
              <a:t>，</a:t>
            </a:r>
            <a:r>
              <a:rPr lang="zh-CN" altLang="en-US" sz="2800" dirty="0">
                <a:solidFill>
                  <a:srgbClr val="FF3300"/>
                </a:solidFill>
                <a:latin typeface="微软雅黑" panose="020B0503020204020204" pitchFamily="34" charset="-122"/>
                <a:ea typeface="微软雅黑" panose="020B0503020204020204" pitchFamily="34" charset="-122"/>
              </a:rPr>
              <a:t>视图</a:t>
            </a:r>
            <a:r>
              <a:rPr lang="en-US" altLang="zh-CN" sz="2800" dirty="0">
                <a:solidFill>
                  <a:srgbClr val="FF3300"/>
                </a:solidFill>
                <a:latin typeface="微软雅黑" panose="020B0503020204020204" pitchFamily="34" charset="-122"/>
                <a:ea typeface="微软雅黑" panose="020B0503020204020204" pitchFamily="34" charset="-122"/>
              </a:rPr>
              <a:t>(View)</a:t>
            </a:r>
            <a:r>
              <a:rPr lang="zh-CN" altLang="en-US" sz="2800" dirty="0">
                <a:latin typeface="微软雅黑" panose="020B0503020204020204" pitchFamily="34" charset="-122"/>
                <a:ea typeface="微软雅黑" panose="020B0503020204020204" pitchFamily="34" charset="-122"/>
              </a:rPr>
              <a:t>和</a:t>
            </a:r>
            <a:r>
              <a:rPr lang="zh-CN" altLang="en-US" sz="2800" dirty="0">
                <a:solidFill>
                  <a:srgbClr val="FF3300"/>
                </a:solidFill>
                <a:latin typeface="微软雅黑" panose="020B0503020204020204" pitchFamily="34" charset="-122"/>
                <a:ea typeface="微软雅黑" panose="020B0503020204020204" pitchFamily="34" charset="-122"/>
              </a:rPr>
              <a:t>控制器</a:t>
            </a:r>
            <a:r>
              <a:rPr lang="en-US" altLang="zh-CN" sz="2800" dirty="0">
                <a:solidFill>
                  <a:srgbClr val="FF3300"/>
                </a:solidFill>
                <a:latin typeface="微软雅黑" panose="020B0503020204020204" pitchFamily="34" charset="-122"/>
                <a:ea typeface="微软雅黑" panose="020B0503020204020204" pitchFamily="34" charset="-122"/>
              </a:rPr>
              <a:t>(Controller)</a:t>
            </a:r>
            <a:endParaRPr lang="en-US" altLang="zh-CN" sz="2800" dirty="0">
              <a:solidFill>
                <a:srgbClr val="FF3300"/>
              </a:solidFill>
              <a:latin typeface="微软雅黑" panose="020B0503020204020204" pitchFamily="34" charset="-122"/>
              <a:ea typeface="微软雅黑" panose="020B0503020204020204" pitchFamily="34" charset="-122"/>
            </a:endParaRPr>
          </a:p>
          <a:p>
            <a:pPr marL="1066800" lvl="1" indent="-457200">
              <a:lnSpc>
                <a:spcPct val="120000"/>
              </a:lnSpc>
              <a:buFont typeface="Wingdings" panose="05000000000000000000" pitchFamily="2" charset="2"/>
              <a:buChar char="ü"/>
            </a:pPr>
            <a:r>
              <a:rPr lang="zh-CN" altLang="en-US" sz="2800" dirty="0">
                <a:solidFill>
                  <a:srgbClr val="FF3300"/>
                </a:solidFill>
                <a:latin typeface="微软雅黑" panose="020B0503020204020204" pitchFamily="34" charset="-122"/>
                <a:ea typeface="微软雅黑" panose="020B0503020204020204" pitchFamily="34" charset="-122"/>
              </a:rPr>
              <a:t>模型</a:t>
            </a:r>
            <a:r>
              <a:rPr lang="zh-CN" altLang="en-US" sz="2800" dirty="0">
                <a:latin typeface="微软雅黑" panose="020B0503020204020204" pitchFamily="34" charset="-122"/>
                <a:ea typeface="微软雅黑" panose="020B0503020204020204" pitchFamily="34" charset="-122"/>
              </a:rPr>
              <a:t>可对应于观察者模式中的</a:t>
            </a:r>
            <a:r>
              <a:rPr lang="zh-CN" altLang="en-US" sz="2800" dirty="0">
                <a:solidFill>
                  <a:srgbClr val="FF3300"/>
                </a:solidFill>
                <a:latin typeface="微软雅黑" panose="020B0503020204020204" pitchFamily="34" charset="-122"/>
                <a:ea typeface="微软雅黑" panose="020B0503020204020204" pitchFamily="34" charset="-122"/>
              </a:rPr>
              <a:t>观察目标</a:t>
            </a:r>
            <a:r>
              <a:rPr lang="zh-CN" altLang="en-US" sz="2800" dirty="0">
                <a:latin typeface="微软雅黑" panose="020B0503020204020204" pitchFamily="34" charset="-122"/>
                <a:ea typeface="微软雅黑" panose="020B0503020204020204" pitchFamily="34" charset="-122"/>
              </a:rPr>
              <a:t>，而</a:t>
            </a:r>
            <a:r>
              <a:rPr lang="zh-CN" altLang="en-US" sz="2800" dirty="0">
                <a:solidFill>
                  <a:srgbClr val="FF3300"/>
                </a:solidFill>
                <a:latin typeface="微软雅黑" panose="020B0503020204020204" pitchFamily="34" charset="-122"/>
                <a:ea typeface="微软雅黑" panose="020B0503020204020204" pitchFamily="34" charset="-122"/>
              </a:rPr>
              <a:t>视图</a:t>
            </a:r>
            <a:r>
              <a:rPr lang="zh-CN" altLang="en-US" sz="2800" dirty="0">
                <a:latin typeface="微软雅黑" panose="020B0503020204020204" pitchFamily="34" charset="-122"/>
                <a:ea typeface="微软雅黑" panose="020B0503020204020204" pitchFamily="34" charset="-122"/>
              </a:rPr>
              <a:t>对应于</a:t>
            </a:r>
            <a:r>
              <a:rPr lang="zh-CN" altLang="en-US" sz="2800" dirty="0">
                <a:solidFill>
                  <a:srgbClr val="FF3300"/>
                </a:solidFill>
                <a:latin typeface="微软雅黑" panose="020B0503020204020204" pitchFamily="34" charset="-122"/>
                <a:ea typeface="微软雅黑" panose="020B0503020204020204" pitchFamily="34" charset="-122"/>
              </a:rPr>
              <a:t>观察者</a:t>
            </a:r>
            <a:r>
              <a:rPr lang="zh-CN" altLang="en-US" sz="2800" dirty="0">
                <a:latin typeface="微软雅黑" panose="020B0503020204020204" pitchFamily="34" charset="-122"/>
                <a:ea typeface="微软雅黑" panose="020B0503020204020204" pitchFamily="34" charset="-122"/>
              </a:rPr>
              <a:t>，</a:t>
            </a:r>
            <a:r>
              <a:rPr lang="zh-CN" altLang="en-US" sz="2800" dirty="0">
                <a:solidFill>
                  <a:srgbClr val="FF3300"/>
                </a:solidFill>
                <a:latin typeface="微软雅黑" panose="020B0503020204020204" pitchFamily="34" charset="-122"/>
                <a:ea typeface="微软雅黑" panose="020B0503020204020204" pitchFamily="34" charset="-122"/>
              </a:rPr>
              <a:t>控制器</a:t>
            </a:r>
            <a:r>
              <a:rPr lang="zh-CN" altLang="en-US" sz="2800" dirty="0">
                <a:latin typeface="微软雅黑" panose="020B0503020204020204" pitchFamily="34" charset="-122"/>
                <a:ea typeface="微软雅黑" panose="020B0503020204020204" pitchFamily="34" charset="-122"/>
              </a:rPr>
              <a:t>可充当两者之间的</a:t>
            </a:r>
            <a:r>
              <a:rPr lang="zh-CN" altLang="en-US" sz="2800" dirty="0">
                <a:solidFill>
                  <a:srgbClr val="FF3300"/>
                </a:solidFill>
                <a:latin typeface="微软雅黑" panose="020B0503020204020204" pitchFamily="34" charset="-122"/>
                <a:ea typeface="微软雅黑" panose="020B0503020204020204" pitchFamily="34" charset="-122"/>
              </a:rPr>
              <a:t>中介者</a:t>
            </a:r>
            <a:endParaRPr lang="en-US" altLang="zh-CN" sz="2800" dirty="0">
              <a:solidFill>
                <a:srgbClr val="FF3300"/>
              </a:solidFill>
              <a:latin typeface="微软雅黑" panose="020B0503020204020204" pitchFamily="34" charset="-122"/>
              <a:ea typeface="微软雅黑" panose="020B0503020204020204" pitchFamily="34" charset="-122"/>
            </a:endParaRPr>
          </a:p>
          <a:p>
            <a:pPr marL="1066800" lvl="1" indent="-457200">
              <a:lnSpc>
                <a:spcPct val="120000"/>
              </a:lnSpc>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当</a:t>
            </a:r>
            <a:r>
              <a:rPr lang="zh-CN" altLang="en-US" sz="2800" dirty="0">
                <a:solidFill>
                  <a:srgbClr val="FF3300"/>
                </a:solidFill>
                <a:latin typeface="微软雅黑" panose="020B0503020204020204" pitchFamily="34" charset="-122"/>
                <a:ea typeface="微软雅黑" panose="020B0503020204020204" pitchFamily="34" charset="-122"/>
              </a:rPr>
              <a:t>模型层</a:t>
            </a:r>
            <a:r>
              <a:rPr lang="zh-CN" altLang="en-US" sz="2800" dirty="0">
                <a:latin typeface="微软雅黑" panose="020B0503020204020204" pitchFamily="34" charset="-122"/>
                <a:ea typeface="微软雅黑" panose="020B0503020204020204" pitchFamily="34" charset="-122"/>
              </a:rPr>
              <a:t>的数据发生改变时，</a:t>
            </a:r>
            <a:r>
              <a:rPr lang="zh-CN" altLang="en-US" sz="2800" dirty="0">
                <a:solidFill>
                  <a:srgbClr val="FF3300"/>
                </a:solidFill>
                <a:latin typeface="微软雅黑" panose="020B0503020204020204" pitchFamily="34" charset="-122"/>
                <a:ea typeface="微软雅黑" panose="020B0503020204020204" pitchFamily="34" charset="-122"/>
              </a:rPr>
              <a:t>视图层</a:t>
            </a:r>
            <a:r>
              <a:rPr lang="zh-CN" altLang="en-US" sz="2800" dirty="0">
                <a:latin typeface="微软雅黑" panose="020B0503020204020204" pitchFamily="34" charset="-122"/>
                <a:ea typeface="微软雅黑" panose="020B0503020204020204" pitchFamily="34" charset="-122"/>
              </a:rPr>
              <a:t>将自动改变其显示内容</a:t>
            </a:r>
            <a:endParaRPr lang="en-US" altLang="zh-CN" sz="2800" dirty="0">
              <a:latin typeface="微软雅黑" panose="020B0503020204020204" pitchFamily="34" charset="-122"/>
              <a:ea typeface="微软雅黑" panose="020B0503020204020204" pitchFamily="34" charset="-122"/>
            </a:endParaRPr>
          </a:p>
        </p:txBody>
      </p:sp>
      <p:pic>
        <p:nvPicPr>
          <p:cNvPr id="4098" name="Picture 2" descr="https://gimg2.baidu.com/image_search/src=http%3A%2F%2Fartimg.ishenping.com%2F20191219045400667_PLOWEZ.jpg&amp;refer=http%3A%2F%2Fartimg.ishenping.com&amp;app=2002&amp;size=f9999,10000&amp;q=a80&amp;n=0&amp;g=0n&amp;fmt=auto?sec=1651253170&amp;t=c88bf72e2496bfc9b54bf6fe252ed89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18655" y="3458360"/>
            <a:ext cx="9577064" cy="321179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advTm="0">
    <p:wip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07567" y="1014090"/>
            <a:ext cx="7620000" cy="50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advTm="0">
    <p:wipe/>
  </p:transition>
  <p:timing>
    <p:tnLst>
      <p:par>
        <p:cTn id="1" dur="indefinite" restart="never" nodeType="tmRoot"/>
      </p:par>
    </p:tnLst>
  </p:timing>
</p:sld>
</file>

<file path=ppt/tags/tag1.xml><?xml version="1.0" encoding="utf-8"?>
<p:tagLst xmlns:p="http://schemas.openxmlformats.org/presentationml/2006/main">
  <p:tag name="ISPRING_ULTRA_SCORM_SLIDE_COUNT" val="4"/>
  <p:tag name="ISPRING_PRESENTATION_TITLE" val="PowerPoint 演示文稿"/>
  <p:tag name="ISPRING_RESOURCE_PATHS_HASH_PRESENTER" val="af3f2d575d923f6e4ff64f325e7b41567660d7"/>
  <p:tag name="commondata" val="eyJoZGlkIjoiZmIwNTgzN2VkODcyMGZjYmE5ZDczYWZmOTUyYTJjOTMifQ=="/>
</p:tagLst>
</file>

<file path=ppt/theme/theme1.xml><?xml version="1.0" encoding="utf-8"?>
<a:theme xmlns:a="http://schemas.openxmlformats.org/drawingml/2006/main" name="第一PPT，www.1ppt.com">
  <a:themeElements>
    <a:clrScheme name="自定义 107">
      <a:dk1>
        <a:sysClr val="windowText" lastClr="000000"/>
      </a:dk1>
      <a:lt1>
        <a:sysClr val="window" lastClr="FFFFFF"/>
      </a:lt1>
      <a:dk2>
        <a:srgbClr val="1F497D"/>
      </a:dk2>
      <a:lt2>
        <a:srgbClr val="EEECE1"/>
      </a:lt2>
      <a:accent1>
        <a:srgbClr val="0070C0"/>
      </a:accent1>
      <a:accent2>
        <a:srgbClr val="FFC000"/>
      </a:accent2>
      <a:accent3>
        <a:srgbClr val="BFBFBF"/>
      </a:accent3>
      <a:accent4>
        <a:srgbClr val="BFBFBF"/>
      </a:accent4>
      <a:accent5>
        <a:srgbClr val="BFBFBF"/>
      </a:accent5>
      <a:accent6>
        <a:srgbClr val="BFBFB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3445</Words>
  <Application>WPS 演示</Application>
  <PresentationFormat>自定义</PresentationFormat>
  <Paragraphs>254</Paragraphs>
  <Slides>30</Slides>
  <Notes>2</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30</vt:i4>
      </vt:variant>
    </vt:vector>
  </HeadingPairs>
  <TitlesOfParts>
    <vt:vector size="44" baseType="lpstr">
      <vt:lpstr>Arial</vt:lpstr>
      <vt:lpstr>宋体</vt:lpstr>
      <vt:lpstr>Wingdings</vt:lpstr>
      <vt:lpstr>Eras Bold ITC</vt:lpstr>
      <vt:lpstr>微软雅黑</vt:lpstr>
      <vt:lpstr>Arial Unicode MS</vt:lpstr>
      <vt:lpstr>Times New Roman</vt:lpstr>
      <vt:lpstr>黑体</vt:lpstr>
      <vt:lpstr>Times New Roman</vt:lpstr>
      <vt:lpstr>Arial Unicode MS</vt:lpstr>
      <vt:lpstr>Calibri</vt:lpstr>
      <vt:lpstr>华文行楷</vt:lpstr>
      <vt:lpstr>Arial</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蓝色简洁</dc:title>
  <dc:creator>第一PPT</dc:creator>
  <cp:keywords>www.1ppt.com</cp:keywords>
  <cp:lastModifiedBy>i-sugars</cp:lastModifiedBy>
  <cp:revision>421</cp:revision>
  <dcterms:created xsi:type="dcterms:W3CDTF">2014-08-23T07:50:00Z</dcterms:created>
  <dcterms:modified xsi:type="dcterms:W3CDTF">2024-10-22T17:46:33Z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727B27483DC14DDCB6AC4BD0F527C12F_12</vt:lpwstr>
  </property>
  <property fmtid="{D5CDD505-2E9C-101B-9397-08002B2CF9AE}" pid="3" name="KSOProductBuildVer">
    <vt:lpwstr>2052-12.1.0.18608</vt:lpwstr>
  </property>
</Properties>
</file>