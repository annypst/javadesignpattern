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42" r:id="rId3"/>
    <p:sldId id="437" r:id="rId5"/>
    <p:sldId id="600" r:id="rId6"/>
    <p:sldId id="560" r:id="rId7"/>
    <p:sldId id="536" r:id="rId8"/>
    <p:sldId id="579" r:id="rId9"/>
    <p:sldId id="571" r:id="rId10"/>
    <p:sldId id="472" r:id="rId11"/>
    <p:sldId id="636" r:id="rId12"/>
    <p:sldId id="637" r:id="rId13"/>
    <p:sldId id="644" r:id="rId14"/>
    <p:sldId id="447" r:id="rId15"/>
    <p:sldId id="584" r:id="rId16"/>
    <p:sldId id="548" r:id="rId17"/>
    <p:sldId id="549" r:id="rId18"/>
    <p:sldId id="627" r:id="rId19"/>
    <p:sldId id="551" r:id="rId20"/>
    <p:sldId id="448" r:id="rId21"/>
    <p:sldId id="565" r:id="rId22"/>
    <p:sldId id="553" r:id="rId23"/>
    <p:sldId id="554" r:id="rId24"/>
    <p:sldId id="643" r:id="rId25"/>
    <p:sldId id="642" r:id="rId26"/>
    <p:sldId id="623" r:id="rId27"/>
    <p:sldId id="487" r:id="rId28"/>
  </p:sldIdLst>
  <p:sldSz cx="12198350" cy="6859270"/>
  <p:notesSz cx="6858000" cy="9144000"/>
  <p:custDataLst>
    <p:tags r:id="rId32"/>
  </p:custDataLst>
  <p:defaultTextStyle>
    <a:defPPr>
      <a:defRPr lang="zh-CN"/>
    </a:defPPr>
    <a:lvl1pPr marL="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2" userDrawn="1">
          <p15:clr>
            <a:srgbClr val="A4A3A4"/>
          </p15:clr>
        </p15:guide>
        <p15:guide id="3" pos="304" userDrawn="1">
          <p15:clr>
            <a:srgbClr val="A4A3A4"/>
          </p15:clr>
        </p15:guide>
        <p15:guide id="4" pos="1892" userDrawn="1">
          <p15:clr>
            <a:srgbClr val="A4A3A4"/>
          </p15:clr>
        </p15:guide>
        <p15:guide id="5" pos="12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A2"/>
    <a:srgbClr val="FAFAFA"/>
    <a:srgbClr val="FFC400"/>
    <a:srgbClr val="FFD347"/>
    <a:srgbClr val="FFC91D"/>
    <a:srgbClr val="0071C1"/>
    <a:srgbClr val="4144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59" autoAdjust="0"/>
    <p:restoredTop sz="92513" autoAdjust="0"/>
  </p:normalViewPr>
  <p:slideViewPr>
    <p:cSldViewPr showGuides="1">
      <p:cViewPr varScale="1">
        <p:scale>
          <a:sx n="55" d="100"/>
          <a:sy n="55" d="100"/>
        </p:scale>
        <p:origin x="-102" y="-360"/>
      </p:cViewPr>
      <p:guideLst>
        <p:guide orient="horz" pos="2160"/>
        <p:guide pos="3842"/>
        <p:guide pos="304"/>
        <p:guide pos="1892"/>
        <p:guide pos="12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2AE03-6EE8-41FD-8A37-86C6BC5E26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1562671" y="693490"/>
            <a:ext cx="10635679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11" y="0"/>
            <a:ext cx="1155204" cy="110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20" y="273112"/>
            <a:ext cx="4013173" cy="116232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9216" y="273114"/>
            <a:ext cx="6819216" cy="5854469"/>
          </a:xfrm>
          <a:prstGeom prst="rect">
            <a:avLst/>
          </a:prstGeom>
        </p:spPr>
        <p:txBody>
          <a:bodyPr lIns="121963" tIns="60981" rIns="121963" bIns="60981"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920" y="1435434"/>
            <a:ext cx="4013173" cy="46921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962" y="4801712"/>
            <a:ext cx="7319010" cy="56687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962" y="612916"/>
            <a:ext cx="7319010" cy="4115753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835" indent="0">
              <a:buNone/>
              <a:defRPr sz="3200"/>
            </a:lvl3pPr>
            <a:lvl4pPr marL="1829435" indent="0">
              <a:buNone/>
              <a:defRPr sz="2700"/>
            </a:lvl4pPr>
            <a:lvl5pPr marL="2439035" indent="0">
              <a:buNone/>
              <a:defRPr sz="2700"/>
            </a:lvl5pPr>
            <a:lvl6pPr marL="3049270" indent="0">
              <a:buNone/>
              <a:defRPr sz="2700"/>
            </a:lvl6pPr>
            <a:lvl7pPr marL="3658870" indent="0">
              <a:buNone/>
              <a:defRPr sz="2700"/>
            </a:lvl7pPr>
            <a:lvl8pPr marL="4268470" indent="0">
              <a:buNone/>
              <a:defRPr sz="2700"/>
            </a:lvl8pPr>
            <a:lvl9pPr marL="4878705" indent="0">
              <a:buNone/>
              <a:defRPr sz="27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962" y="5368581"/>
            <a:ext cx="7319010" cy="8050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1600572"/>
            <a:ext cx="10978515" cy="4527011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804" y="206422"/>
            <a:ext cx="2744629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206422"/>
            <a:ext cx="8030580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 advTm="0">
    <p:wipe/>
  </p:transition>
  <p:timing>
    <p:tnLst>
      <p:par>
        <p:cTn id="1" dur="indefinite" restart="never" nodeType="tmRoot"/>
      </p:par>
    </p:tnLst>
  </p:timing>
  <p:txStyles>
    <p:titleStyle>
      <a:lvl1pPr algn="ctr" defTabSz="1219835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1235" indent="-3810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6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2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4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40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GI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GI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-616" y="-26590"/>
            <a:ext cx="12193647" cy="6860642"/>
          </a:xfrm>
          <a:prstGeom prst="rect">
            <a:avLst/>
          </a:prstGeom>
        </p:spPr>
      </p:pic>
      <p:cxnSp>
        <p:nvCxnSpPr>
          <p:cNvPr id="25" name="直接连接符 24"/>
          <p:cNvCxnSpPr/>
          <p:nvPr/>
        </p:nvCxnSpPr>
        <p:spPr>
          <a:xfrm>
            <a:off x="5327222" y="4390123"/>
            <a:ext cx="602891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2825" y="455097"/>
            <a:ext cx="2152446" cy="861974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Eras Bold ITC" panose="020B0907030504020204" pitchFamily="34" charset="0"/>
              </a:rPr>
              <a:t>LOGO</a:t>
            </a:r>
            <a:endParaRPr lang="zh-CN" altLang="en-US" sz="48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911525" y="5197738"/>
            <a:ext cx="1868170" cy="612775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软件学院</a:t>
            </a:r>
            <a:endParaRPr lang="en-US" altLang="zh-CN" sz="3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33889" y="2709714"/>
            <a:ext cx="4075790" cy="954103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en-US" altLang="zh-CN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 </a:t>
            </a:r>
            <a:r>
              <a:rPr lang="zh-CN" altLang="en-US" sz="5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zh-CN" altLang="en-US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endParaRPr lang="zh-CN" altLang="en-US" sz="5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722911" cy="68595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圆角矩形 66"/>
          <p:cNvSpPr/>
          <p:nvPr/>
        </p:nvSpPr>
        <p:spPr>
          <a:xfrm>
            <a:off x="4803031" y="2449086"/>
            <a:ext cx="1141485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200" dirty="0" smtClean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25.2</a:t>
            </a:r>
            <a:endParaRPr lang="zh-CN" altLang="en-US" sz="32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6313103" y="1516058"/>
            <a:ext cx="5114664" cy="554038"/>
            <a:chOff x="6339097" y="1579613"/>
            <a:chExt cx="3744416" cy="554038"/>
          </a:xfrm>
        </p:grpSpPr>
        <p:sp>
          <p:nvSpPr>
            <p:cNvPr id="69" name="圆角矩形 68"/>
            <p:cNvSpPr/>
            <p:nvPr/>
          </p:nvSpPr>
          <p:spPr>
            <a:xfrm>
              <a:off x="6339097" y="1622147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6723350" y="1579613"/>
              <a:ext cx="3202013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8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模式动机与定义</a:t>
              </a:r>
              <a:endParaRPr lang="zh-CN" altLang="zh-CN" sz="28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圆角矩形 70"/>
          <p:cNvSpPr/>
          <p:nvPr/>
        </p:nvSpPr>
        <p:spPr>
          <a:xfrm>
            <a:off x="4803031" y="3340586"/>
            <a:ext cx="1141485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200" dirty="0" smtClean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25.3</a:t>
            </a:r>
            <a:endParaRPr lang="zh-CN" altLang="en-US" sz="32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6289221" y="2405662"/>
            <a:ext cx="5114664" cy="565542"/>
            <a:chOff x="6315199" y="2410178"/>
            <a:chExt cx="3744416" cy="565542"/>
          </a:xfrm>
        </p:grpSpPr>
        <p:sp>
          <p:nvSpPr>
            <p:cNvPr id="73" name="圆角矩形 72"/>
            <p:cNvSpPr/>
            <p:nvPr/>
          </p:nvSpPr>
          <p:spPr>
            <a:xfrm>
              <a:off x="6315199" y="2410178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6747248" y="2421682"/>
              <a:ext cx="2653075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8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模式结构与分析</a:t>
              </a:r>
              <a:endParaRPr lang="zh-CN" altLang="zh-CN" sz="28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5" name="圆角矩形 74"/>
          <p:cNvSpPr/>
          <p:nvPr/>
        </p:nvSpPr>
        <p:spPr>
          <a:xfrm>
            <a:off x="4803031" y="4232086"/>
            <a:ext cx="1141485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200" dirty="0" smtClean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25.4</a:t>
            </a:r>
            <a:endParaRPr lang="zh-CN" altLang="en-US" sz="32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6313103" y="3306770"/>
            <a:ext cx="5114664" cy="554038"/>
            <a:chOff x="6339097" y="3285779"/>
            <a:chExt cx="3744416" cy="554038"/>
          </a:xfrm>
        </p:grpSpPr>
        <p:sp>
          <p:nvSpPr>
            <p:cNvPr id="77" name="圆角矩形 76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6723349" y="3285779"/>
              <a:ext cx="2736305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8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模式实例与解析</a:t>
              </a:r>
              <a:endParaRPr lang="zh-CN" altLang="zh-CN" sz="28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338535" y="2219568"/>
            <a:ext cx="2806485" cy="1354243"/>
          </a:xfrm>
          <a:prstGeom prst="rect">
            <a:avLst/>
          </a:prstGeom>
          <a:noFill/>
        </p:spPr>
        <p:txBody>
          <a:bodyPr wrap="square" lIns="121880" tIns="60938" rIns="121880" bIns="60938">
            <a:spAutoFit/>
          </a:bodyPr>
          <a:lstStyle/>
          <a:p>
            <a:pPr algn="r">
              <a:defRPr/>
            </a:pPr>
            <a:r>
              <a:rPr lang="zh-CN" altLang="en-US" sz="48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8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defRPr/>
            </a:pPr>
            <a:r>
              <a:rPr lang="en-US" altLang="zh-CN" sz="32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4803031" y="5123586"/>
            <a:ext cx="1141485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200" dirty="0" smtClean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25.5</a:t>
            </a:r>
            <a:endParaRPr lang="zh-CN" altLang="en-US" sz="32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313103" y="4196374"/>
            <a:ext cx="5114664" cy="554038"/>
            <a:chOff x="6339097" y="3264311"/>
            <a:chExt cx="3744416" cy="554038"/>
          </a:xfrm>
        </p:grpSpPr>
        <p:sp>
          <p:nvSpPr>
            <p:cNvPr id="19" name="圆角矩形 18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6723349" y="3264311"/>
              <a:ext cx="2736305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8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模式效果与应用</a:t>
              </a:r>
              <a:endParaRPr lang="zh-CN" altLang="zh-CN" sz="28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圆角矩形 3"/>
          <p:cNvSpPr/>
          <p:nvPr/>
        </p:nvSpPr>
        <p:spPr>
          <a:xfrm>
            <a:off x="4010943" y="549474"/>
            <a:ext cx="6384830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25 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策略</a:t>
            </a:r>
            <a:r>
              <a:rPr lang="zh-CN" altLang="en-US" sz="4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模式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313103" y="5085978"/>
            <a:ext cx="5114664" cy="554038"/>
            <a:chOff x="6339097" y="3264311"/>
            <a:chExt cx="3744416" cy="554038"/>
          </a:xfrm>
        </p:grpSpPr>
        <p:sp>
          <p:nvSpPr>
            <p:cNvPr id="23" name="圆角矩形 22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6723349" y="3264311"/>
              <a:ext cx="2736305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8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模式扩展</a:t>
              </a:r>
              <a:endParaRPr lang="zh-CN" altLang="zh-CN" sz="28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圆角矩形 24"/>
          <p:cNvSpPr/>
          <p:nvPr/>
        </p:nvSpPr>
        <p:spPr>
          <a:xfrm>
            <a:off x="4803031" y="1557586"/>
            <a:ext cx="1141485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200" dirty="0" smtClean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25.1</a:t>
            </a:r>
            <a:endParaRPr lang="zh-CN" altLang="en-US" sz="32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14599" y="693490"/>
            <a:ext cx="1065718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策略模式（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Strategy Pattern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用于算法的自由切换和扩展，是一种使用较为广泛的行为型模式。策略模式对应于解决某一问题的一个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算法族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，允许用户从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该算法族中任选一个算法解决某一问题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，同时可以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方便地更换算法或者增加新的算法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。它将每一个算法封装在一个称为具体策略的类中，同时为其提供统一的抽象策略类，而使用这些算法完成某一业务功能的类称为环境类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策略模式实现了算法定义和算法使用的分离，它通过继承和多态的机制实现对算法族的使用和管理，是一种简单易用的对象行为型模式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599" y="2709714"/>
            <a:ext cx="107291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本章难点：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、理解策略模式中环境类的作用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、理解策略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模式中抽象策略类的作用。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6607" y="1197546"/>
            <a:ext cx="10081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重要等级：</a:t>
            </a:r>
            <a:r>
              <a:rPr lang="zh-CN" altLang="zh-CN" sz="2800" b="1" kern="1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★★★★☆</a:t>
            </a:r>
            <a:endParaRPr lang="en-US" altLang="zh-CN" sz="2800" b="1" kern="100" dirty="0" smtClean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难度等级：</a:t>
            </a:r>
            <a:r>
              <a:rPr lang="zh-CN" altLang="zh-CN" sz="2800" b="1" kern="100" dirty="0" smtClean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★★☆</a:t>
            </a:r>
            <a:r>
              <a:rPr lang="zh-CN" altLang="zh-CN" sz="2800" b="1" kern="1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☆☆</a:t>
            </a:r>
            <a:endParaRPr lang="zh-CN" altLang="zh-CN" sz="2800" b="1" kern="1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25.1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模式动机与定义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10"/>
          <p:cNvPicPr>
            <a:picLocks noChangeAspect="1" noChangeArrowheads="1"/>
          </p:cNvPicPr>
          <p:nvPr/>
        </p:nvPicPr>
        <p:blipFill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943" y="1174683"/>
            <a:ext cx="6404829" cy="5189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内容占位符 2"/>
          <p:cNvSpPr txBox="1"/>
          <p:nvPr/>
        </p:nvSpPr>
        <p:spPr>
          <a:xfrm>
            <a:off x="1058615" y="909514"/>
            <a:ext cx="5215024" cy="1319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EC7328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模式动机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b="1" dirty="0" smtClean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</a:t>
            </a:r>
            <a:r>
              <a:rPr lang="zh-CN" altLang="en-US" sz="2800" b="1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出行方式</a:t>
            </a:r>
            <a:r>
              <a:rPr lang="zh-CN" altLang="en-US" sz="2800" b="1" dirty="0" smtClean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示意图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25.1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模式动机与定义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643679" y="900912"/>
            <a:ext cx="11144128" cy="52074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EC7328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模式动机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实现某个目标的途径不止一条，可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根据实际情况选择一条合适的途径</a:t>
            </a:r>
            <a:endParaRPr lang="zh-CN" altLang="en-US" sz="2800" dirty="0">
              <a:solidFill>
                <a:srgbClr val="EC73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软件开发：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 algn="l">
              <a:lnSpc>
                <a:spcPct val="150000"/>
              </a:lnSpc>
              <a:spcBef>
                <a:spcPts val="0"/>
              </a:spcBef>
              <a:buClr>
                <a:srgbClr val="EC7328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多种算法，例如排序、查找、打折等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 algn="l">
              <a:lnSpc>
                <a:spcPct val="150000"/>
              </a:lnSpc>
              <a:spcBef>
                <a:spcPts val="0"/>
              </a:spcBef>
              <a:buClr>
                <a:srgbClr val="EC7328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硬编码</a:t>
            </a:r>
            <a:r>
              <a:rPr lang="en-US" altLang="zh-CN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(Hard Coding)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实现将导致系统违背开闭原则，扩展性差，且维护困难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 algn="l">
              <a:lnSpc>
                <a:spcPct val="150000"/>
              </a:lnSpc>
              <a:spcBef>
                <a:spcPts val="0"/>
              </a:spcBef>
              <a:buClr>
                <a:srgbClr val="EC7328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可以定义一些独立的类来封装不同的算法，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每一个类封装一种具体的</a:t>
            </a:r>
            <a:r>
              <a:rPr lang="zh-CN" altLang="en-US" sz="2800" dirty="0" smtClean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 </a:t>
            </a:r>
            <a:r>
              <a:rPr lang="en-US" altLang="zh-CN" sz="2800" b="1" dirty="0" smtClean="0">
                <a:solidFill>
                  <a:srgbClr val="47B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</a:t>
            </a:r>
            <a:r>
              <a:rPr lang="zh-CN" altLang="en-US" sz="2800" b="1" dirty="0" smtClean="0">
                <a:solidFill>
                  <a:srgbClr val="47B3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策略类  </a:t>
            </a:r>
            <a:r>
              <a:rPr lang="en-US" altLang="zh-CN" sz="2800" b="1" dirty="0" smtClean="0">
                <a:solidFill>
                  <a:srgbClr val="47B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 </a:t>
            </a:r>
            <a:r>
              <a:rPr lang="zh-CN" altLang="en-US" sz="2800" b="1" dirty="0" smtClean="0">
                <a:solidFill>
                  <a:srgbClr val="47B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策略模式</a:t>
            </a:r>
            <a:endParaRPr lang="zh-CN" altLang="en-US" sz="2800" b="1" dirty="0">
              <a:solidFill>
                <a:srgbClr val="47B3B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25.1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模式动机与定义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812143" y="1102675"/>
            <a:ext cx="10975664" cy="520743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EC7328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模式定义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(Strategy Pattern)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：定义一系列算法，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将每一个算法封装起来，并让它们可以相互替换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让算法独立于使用它的客户而</a:t>
            </a:r>
            <a:r>
              <a:rPr lang="zh-CN" altLang="en-US" sz="2800" dirty="0" smtClean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  <a:endParaRPr lang="en-US" altLang="zh-CN" sz="2800" dirty="0" smtClean="0">
              <a:solidFill>
                <a:srgbClr val="EC73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又称为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政策</a:t>
            </a:r>
            <a:r>
              <a:rPr lang="en-US" altLang="zh-CN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(Policy)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endParaRPr lang="zh-CN" altLang="en-US" sz="2800" dirty="0">
              <a:solidFill>
                <a:srgbClr val="EC73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每一个封装算法的类称之为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(Strategy)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endParaRPr lang="zh-CN" altLang="en-US" sz="2800" dirty="0">
              <a:solidFill>
                <a:srgbClr val="EC73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策略模式提供了一种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可插入式</a:t>
            </a:r>
            <a:r>
              <a:rPr lang="en-US" altLang="zh-CN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(Pluggable)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的实现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模式是一种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对象行为型</a:t>
            </a:r>
            <a:r>
              <a:rPr lang="zh-CN" altLang="en-US" sz="2800" dirty="0" smtClean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119" y="1295772"/>
            <a:ext cx="11086688" cy="494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25.2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模式结构与分析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1103175" y="782954"/>
            <a:ext cx="2259696" cy="6709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EC7328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模式结构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8535" y="1674999"/>
            <a:ext cx="1288033" cy="5232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环境类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60799" y="1453889"/>
            <a:ext cx="2127008" cy="5232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抽象策略类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569877" y="3895053"/>
            <a:ext cx="2145922" cy="5232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具体策略类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25.2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模式结构与分析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931711" y="869210"/>
            <a:ext cx="10712080" cy="616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EC7328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模式分析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典型的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抽象策略类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示例代码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80295" y="1485578"/>
          <a:ext cx="10991488" cy="1570482"/>
        </p:xfrm>
        <a:graphic>
          <a:graphicData uri="http://schemas.openxmlformats.org/drawingml/2006/table">
            <a:tbl>
              <a:tblPr/>
              <a:tblGrid>
                <a:gridCol w="10991488"/>
              </a:tblGrid>
              <a:tr h="1036637"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</a:pPr>
                      <a:r>
                        <a:rPr lang="en-US" altLang="zh-CN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public abstract class Strategy {</a:t>
                      </a:r>
                      <a:endParaRPr lang="en-US" altLang="zh-CN" sz="32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lnSpc>
                          <a:spcPct val="110000"/>
                        </a:lnSpc>
                      </a:pPr>
                      <a:r>
                        <a:rPr lang="en-US" altLang="zh-CN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public abstract void algorithm( );  //</a:t>
                      </a:r>
                      <a:r>
                        <a:rPr lang="zh-CN" altLang="en-US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声明抽象算法</a:t>
                      </a:r>
                      <a:endParaRPr lang="zh-CN" altLang="en-US" sz="32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lnSpc>
                          <a:spcPct val="110000"/>
                        </a:lnSpc>
                      </a:pPr>
                      <a:r>
                        <a:rPr lang="en-US" altLang="zh-CN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32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内容占位符 2"/>
          <p:cNvSpPr txBox="1"/>
          <p:nvPr/>
        </p:nvSpPr>
        <p:spPr>
          <a:xfrm>
            <a:off x="914599" y="3069754"/>
            <a:ext cx="10712080" cy="616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EC7328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模式分析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典型的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具体策略类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示例代码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766663" y="3573810"/>
          <a:ext cx="10805120" cy="3179826"/>
        </p:xfrm>
        <a:graphic>
          <a:graphicData uri="http://schemas.openxmlformats.org/drawingml/2006/table">
            <a:tbl>
              <a:tblPr/>
              <a:tblGrid>
                <a:gridCol w="10805120"/>
              </a:tblGrid>
              <a:tr h="1036637">
                <a:tc>
                  <a:txBody>
                    <a:bodyPr/>
                    <a:lstStyle/>
                    <a:p>
                      <a:pPr marL="0" indent="0" algn="l" defTabSz="1219835" rtl="0" eaLnBrk="1" latinLnBrk="0" hangingPunct="1">
                        <a:lnSpc>
                          <a:spcPct val="110000"/>
                        </a:lnSpc>
                      </a:pPr>
                      <a:r>
                        <a:rPr lang="en-US" altLang="zh-CN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public class </a:t>
                      </a:r>
                      <a:r>
                        <a:rPr lang="en-US" altLang="zh-CN" sz="3200" b="1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ConcreteStrategyA</a:t>
                      </a:r>
                      <a:r>
                        <a:rPr lang="en-US" altLang="zh-CN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extends Strategy {</a:t>
                      </a:r>
                      <a:endParaRPr lang="en-US" altLang="zh-CN" sz="32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1219835" rtl="0" eaLnBrk="1" latinLnBrk="0" hangingPunct="1">
                        <a:lnSpc>
                          <a:spcPct val="110000"/>
                        </a:lnSpc>
                      </a:pPr>
                      <a:r>
                        <a:rPr lang="en-US" altLang="zh-CN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//</a:t>
                      </a:r>
                      <a:r>
                        <a:rPr lang="zh-CN" altLang="en-US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算法的具体实现</a:t>
                      </a:r>
                      <a:endParaRPr lang="zh-CN" altLang="en-US" sz="32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1219835" rtl="0" eaLnBrk="1" latinLnBrk="0" hangingPunct="1">
                        <a:lnSpc>
                          <a:spcPct val="110000"/>
                        </a:lnSpc>
                      </a:pPr>
                      <a:r>
                        <a:rPr lang="zh-CN" altLang="en-US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public void algorithm( ) {</a:t>
                      </a:r>
                      <a:endParaRPr lang="en-US" altLang="zh-CN" sz="32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1219835" rtl="0" eaLnBrk="1" latinLnBrk="0" hangingPunct="1">
                        <a:lnSpc>
                          <a:spcPct val="110000"/>
                        </a:lnSpc>
                      </a:pPr>
                      <a:r>
                        <a:rPr lang="en-US" altLang="zh-CN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    //</a:t>
                      </a:r>
                      <a:r>
                        <a:rPr lang="zh-CN" altLang="en-US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算法</a:t>
                      </a:r>
                      <a:r>
                        <a:rPr lang="en-US" altLang="zh-CN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en-US" altLang="zh-CN" sz="32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1219835" rtl="0" eaLnBrk="1" latinLnBrk="0" hangingPunct="1">
                        <a:lnSpc>
                          <a:spcPct val="110000"/>
                        </a:lnSpc>
                      </a:pPr>
                      <a:r>
                        <a:rPr lang="en-US" altLang="zh-CN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}</a:t>
                      </a:r>
                      <a:endParaRPr lang="en-US" altLang="zh-CN" sz="32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1219835" rtl="0" eaLnBrk="1" latinLnBrk="0" hangingPunct="1">
                        <a:lnSpc>
                          <a:spcPct val="110000"/>
                        </a:lnSpc>
                      </a:pPr>
                      <a:r>
                        <a:rPr lang="en-US" altLang="zh-CN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32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25.2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模式结构与分析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931711" y="765498"/>
            <a:ext cx="10712080" cy="616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EC7328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模式分析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典型的环境类示例代码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52303" y="1197546"/>
          <a:ext cx="11207512" cy="5397500"/>
        </p:xfrm>
        <a:graphic>
          <a:graphicData uri="http://schemas.openxmlformats.org/drawingml/2006/table">
            <a:tbl>
              <a:tblPr/>
              <a:tblGrid>
                <a:gridCol w="11207512"/>
              </a:tblGrid>
              <a:tr h="4608512">
                <a:tc>
                  <a:txBody>
                    <a:bodyPr/>
                    <a:lstStyle/>
                    <a:p>
                      <a:pPr indent="0">
                        <a:lnSpc>
                          <a:spcPct val="110000"/>
                        </a:lnSpc>
                      </a:pPr>
                      <a:r>
                        <a:rPr lang="en-US" altLang="zh-CN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public class Context {</a:t>
                      </a:r>
                      <a:endParaRPr lang="en-US" altLang="zh-CN" sz="28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lnSpc>
                          <a:spcPct val="110000"/>
                        </a:lnSpc>
                      </a:pPr>
                      <a:r>
                        <a:rPr lang="en-US" altLang="zh-CN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3200" b="1" kern="12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private Strategy </a:t>
                      </a:r>
                      <a:r>
                        <a:rPr lang="en-US" altLang="zh-CN" sz="3200" b="1" kern="1200" dirty="0" err="1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strategy</a:t>
                      </a:r>
                      <a:r>
                        <a:rPr lang="en-US" altLang="zh-CN" sz="3200" b="1" kern="12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; //</a:t>
                      </a:r>
                      <a:r>
                        <a:rPr lang="zh-CN" alt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维持一个对抽象策略类的引用</a:t>
                      </a:r>
                      <a:endParaRPr lang="zh-CN" altLang="en-US" sz="28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lnSpc>
                          <a:spcPct val="110000"/>
                        </a:lnSpc>
                      </a:pPr>
                      <a:r>
                        <a:rPr lang="zh-CN" alt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//</a:t>
                      </a:r>
                      <a:r>
                        <a:rPr lang="zh-CN" alt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注入策略对象</a:t>
                      </a:r>
                      <a:endParaRPr lang="zh-CN" altLang="en-US" sz="28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lnSpc>
                          <a:spcPct val="110000"/>
                        </a:lnSpc>
                      </a:pPr>
                      <a:r>
                        <a:rPr lang="zh-CN" alt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public void </a:t>
                      </a:r>
                      <a:r>
                        <a:rPr lang="en-US" altLang="zh-CN" sz="2800" b="1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setStrategy</a:t>
                      </a:r>
                      <a:r>
                        <a:rPr lang="en-US" altLang="zh-CN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(Strategy strategy) {</a:t>
                      </a:r>
                      <a:endParaRPr lang="en-US" altLang="zh-CN" sz="28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lnSpc>
                          <a:spcPct val="110000"/>
                        </a:lnSpc>
                      </a:pPr>
                      <a:r>
                        <a:rPr lang="en-US" altLang="zh-CN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this.strategy</a:t>
                      </a:r>
                      <a:r>
                        <a:rPr lang="en-US" altLang="zh-CN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= strategy;</a:t>
                      </a:r>
                      <a:endParaRPr lang="en-US" altLang="zh-CN" sz="28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lnSpc>
                          <a:spcPct val="110000"/>
                        </a:lnSpc>
                      </a:pPr>
                      <a:r>
                        <a:rPr lang="en-US" altLang="zh-CN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}</a:t>
                      </a:r>
                      <a:endParaRPr lang="en-US" altLang="zh-CN" sz="28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lnSpc>
                          <a:spcPct val="110000"/>
                        </a:lnSpc>
                      </a:pPr>
                      <a:r>
                        <a:rPr lang="en-US" altLang="zh-CN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//</a:t>
                      </a:r>
                      <a:r>
                        <a:rPr lang="zh-CN" alt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调用策略类中的算法</a:t>
                      </a:r>
                      <a:endParaRPr lang="zh-CN" altLang="en-US" sz="28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lnSpc>
                          <a:spcPct val="110000"/>
                        </a:lnSpc>
                      </a:pPr>
                      <a:r>
                        <a:rPr lang="zh-CN" alt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3200" b="1" kern="12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public void algorithm( ) {</a:t>
                      </a:r>
                      <a:endParaRPr lang="en-US" altLang="zh-CN" sz="3200" b="1" kern="1200" dirty="0" smtClean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lnSpc>
                          <a:spcPct val="110000"/>
                        </a:lnSpc>
                      </a:pPr>
                      <a:r>
                        <a:rPr lang="en-US" altLang="zh-CN" sz="3200" b="1" kern="12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3200" b="1" kern="1200" dirty="0" err="1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strategy.algorithm</a:t>
                      </a:r>
                      <a:r>
                        <a:rPr lang="en-US" altLang="zh-CN" sz="3200" b="1" kern="12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);</a:t>
                      </a:r>
                      <a:endParaRPr lang="en-US" altLang="zh-CN" sz="3200" b="1" kern="1200" dirty="0" smtClean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lnSpc>
                          <a:spcPct val="110000"/>
                        </a:lnSpc>
                      </a:pPr>
                      <a:r>
                        <a:rPr lang="en-US" altLang="zh-CN" sz="3200" b="1" kern="12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}</a:t>
                      </a:r>
                      <a:endParaRPr lang="en-US" altLang="zh-CN" sz="3200" b="1" kern="1200" dirty="0" smtClean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lnSpc>
                          <a:spcPct val="110000"/>
                        </a:lnSpc>
                      </a:pPr>
                      <a:r>
                        <a:rPr lang="en-US" altLang="zh-CN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8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25.2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模式结构与分析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931711" y="765498"/>
            <a:ext cx="10712080" cy="616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EC7328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模式分析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典型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的客户类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示例代码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52303" y="1341562"/>
          <a:ext cx="11207512" cy="5008626"/>
        </p:xfrm>
        <a:graphic>
          <a:graphicData uri="http://schemas.openxmlformats.org/drawingml/2006/table">
            <a:tbl>
              <a:tblPr/>
              <a:tblGrid>
                <a:gridCol w="11207512"/>
              </a:tblGrid>
              <a:tr h="4608512">
                <a:tc>
                  <a:txBody>
                    <a:bodyPr/>
                    <a:lstStyle/>
                    <a:p>
                      <a:pPr indent="0">
                        <a:lnSpc>
                          <a:spcPct val="130000"/>
                        </a:lnSpc>
                      </a:pPr>
                      <a:r>
                        <a:rPr lang="en-US" altLang="zh-CN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……</a:t>
                      </a:r>
                      <a:endParaRPr lang="en-US" altLang="zh-CN" sz="32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lnSpc>
                          <a:spcPct val="130000"/>
                        </a:lnSpc>
                      </a:pPr>
                      <a:r>
                        <a:rPr lang="en-US" altLang="zh-CN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Context </a:t>
                      </a:r>
                      <a:r>
                        <a:rPr lang="en-US" altLang="zh-CN" sz="3200" b="1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context</a:t>
                      </a:r>
                      <a:r>
                        <a:rPr lang="en-US" altLang="zh-CN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altLang="zh-CN" sz="3200" b="1" kern="12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new Context( );</a:t>
                      </a:r>
                      <a:endParaRPr lang="en-US" altLang="zh-CN" sz="3200" b="1" kern="1200" dirty="0" smtClean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lnSpc>
                          <a:spcPct val="130000"/>
                        </a:lnSpc>
                      </a:pPr>
                      <a:r>
                        <a:rPr lang="en-US" altLang="zh-CN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Strategy </a:t>
                      </a:r>
                      <a:r>
                        <a:rPr lang="en-US" altLang="zh-CN" sz="3200" b="1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strategy</a:t>
                      </a:r>
                      <a:r>
                        <a:rPr lang="en-US" altLang="zh-CN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;</a:t>
                      </a:r>
                      <a:endParaRPr lang="en-US" altLang="zh-CN" sz="32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lnSpc>
                          <a:spcPct val="130000"/>
                        </a:lnSpc>
                      </a:pPr>
                      <a:r>
                        <a:rPr lang="en-US" altLang="zh-CN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strategy = </a:t>
                      </a:r>
                      <a:r>
                        <a:rPr lang="en-US" altLang="zh-CN" sz="3200" b="1" kern="12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new </a:t>
                      </a:r>
                      <a:r>
                        <a:rPr lang="en-US" altLang="zh-CN" sz="3200" b="1" kern="1200" dirty="0" err="1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ConcreteStrategyA</a:t>
                      </a:r>
                      <a:r>
                        <a:rPr lang="en-US" altLang="zh-CN" sz="3200" b="1" kern="12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);</a:t>
                      </a:r>
                      <a:endParaRPr lang="en-US" altLang="zh-CN" sz="3200" b="1" kern="1200" dirty="0" smtClean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lnSpc>
                          <a:spcPct val="130000"/>
                        </a:lnSpc>
                      </a:pPr>
                      <a:r>
                        <a:rPr lang="en-US" altLang="zh-CN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         //</a:t>
                      </a:r>
                      <a:r>
                        <a:rPr lang="zh-CN" altLang="en-US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可在运行时指定类型，通过配置文件和反射机制实现</a:t>
                      </a:r>
                      <a:endParaRPr lang="zh-CN" altLang="en-US" sz="32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lnSpc>
                          <a:spcPct val="130000"/>
                        </a:lnSpc>
                      </a:pPr>
                      <a:r>
                        <a:rPr lang="en-US" altLang="zh-CN" sz="3200" b="1" kern="1200" dirty="0" err="1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context.setStrategy</a:t>
                      </a:r>
                      <a:r>
                        <a:rPr lang="en-US" altLang="zh-CN" sz="3200" b="1" kern="12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(strategy);</a:t>
                      </a:r>
                      <a:endParaRPr lang="en-US" altLang="zh-CN" sz="3200" b="1" kern="1200" dirty="0" smtClean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lnSpc>
                          <a:spcPct val="130000"/>
                        </a:lnSpc>
                      </a:pPr>
                      <a:r>
                        <a:rPr lang="en-US" altLang="zh-CN" sz="3200" b="1" kern="1200" dirty="0" err="1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context.algorithm</a:t>
                      </a:r>
                      <a:r>
                        <a:rPr lang="en-US" altLang="zh-CN" sz="3200" b="1" kern="12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);</a:t>
                      </a:r>
                      <a:endParaRPr lang="en-US" altLang="zh-CN" sz="3200" b="1" kern="1200" dirty="0" smtClean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indent="0">
                        <a:lnSpc>
                          <a:spcPct val="130000"/>
                        </a:lnSpc>
                      </a:pPr>
                      <a:r>
                        <a:rPr lang="en-US" altLang="zh-CN" sz="32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……</a:t>
                      </a:r>
                      <a:endParaRPr lang="en-US" altLang="zh-CN" sz="3200" b="1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25.3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模式实例与解析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283639" y="1174683"/>
            <a:ext cx="11144128" cy="5207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EC7328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排序策略：实例说明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 algn="l">
              <a:lnSpc>
                <a:spcPct val="150000"/>
              </a:lnSpc>
              <a:buClr>
                <a:srgbClr val="EC7328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某系统提供了一个用于对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数组数据进行操作的类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，该类封装了对数组的常见操作，如查找数组元素、对数组元素进行排序等。现以排序操作为例，使用策略模式设计该数组操作类，使得客户端可以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动态地更换排序算法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，可以根据需要选择冒泡排序或选择排序或插入排序，也能够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灵活地增加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新的排序算法。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25.3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模式实例与解析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Picture 1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039" y="909514"/>
            <a:ext cx="10722784" cy="5468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25.3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模式实例与解析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8" name="Group 5"/>
          <p:cNvGrpSpPr/>
          <p:nvPr/>
        </p:nvGrpSpPr>
        <p:grpSpPr bwMode="auto">
          <a:xfrm>
            <a:off x="5002039" y="3233205"/>
            <a:ext cx="4193480" cy="2044450"/>
            <a:chOff x="2381" y="3283"/>
            <a:chExt cx="1361" cy="510"/>
          </a:xfrm>
        </p:grpSpPr>
        <p:pic>
          <p:nvPicPr>
            <p:cNvPr id="9" name="Picture 6" descr="gif005"/>
            <p:cNvPicPr>
              <a:picLocks noChangeAspect="1" noChangeArrowheads="1" noCrop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1" y="3283"/>
              <a:ext cx="252" cy="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608" y="3505"/>
              <a:ext cx="1134" cy="146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3200" b="1" dirty="0">
                  <a:solidFill>
                    <a:srgbClr val="44B3BE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演示</a:t>
              </a:r>
              <a:r>
                <a:rPr lang="en-US" altLang="zh-CN" sz="3200" b="1" dirty="0">
                  <a:solidFill>
                    <a:srgbClr val="44B3BE"/>
                  </a:solidFill>
                  <a:latin typeface="Arial" panose="020B0604020202020204"/>
                  <a:ea typeface="华文行楷" panose="02010800040101010101" pitchFamily="2" charset="-122"/>
                </a:rPr>
                <a:t>……</a:t>
              </a:r>
              <a:endParaRPr lang="en-US" altLang="zh-CN" sz="3200" b="1" dirty="0">
                <a:solidFill>
                  <a:srgbClr val="44B3BE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</p:grpSp>
      <p:sp>
        <p:nvSpPr>
          <p:cNvPr id="11" name="内容占位符 2"/>
          <p:cNvSpPr txBox="1"/>
          <p:nvPr/>
        </p:nvSpPr>
        <p:spPr>
          <a:xfrm>
            <a:off x="1388207" y="909514"/>
            <a:ext cx="7735304" cy="2024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EC7328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模式实例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排序策略：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参考代码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 algn="l">
              <a:lnSpc>
                <a:spcPct val="150000"/>
              </a:lnSpc>
              <a:buClr>
                <a:srgbClr val="EC7328"/>
              </a:buClr>
              <a:buFont typeface="Arial" panose="020B0604020202020204" pitchFamily="34" charset="0"/>
              <a:buChar char="•"/>
            </a:pP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DesignPatterns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strategy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包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499663" y="693490"/>
            <a:ext cx="11288144" cy="6408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  <a:buClr>
                <a:srgbClr val="EC7328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模式实例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2-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影院售票系统：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实例说明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l">
              <a:lnSpc>
                <a:spcPct val="150000"/>
              </a:lnSpc>
              <a:spcBef>
                <a:spcPts val="0"/>
              </a:spcBef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某软件公司为某电影院开发了一套影院售票系统，在该系统中需要为不同类型的用户提供不同的电影票打折方式，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具体如下：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l">
              <a:lnSpc>
                <a:spcPct val="150000"/>
              </a:lnSpc>
              <a:spcBef>
                <a:spcPts val="0"/>
              </a:spcBef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学生凭学生证可享受票价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折优惠。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l">
              <a:lnSpc>
                <a:spcPct val="150000"/>
              </a:lnSpc>
              <a:spcBef>
                <a:spcPts val="0"/>
              </a:spcBef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年龄在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周岁及以下的儿童可享受每张票减免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元的优惠（原始票价需大于等于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元）。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l">
              <a:lnSpc>
                <a:spcPct val="150000"/>
              </a:lnSpc>
              <a:spcBef>
                <a:spcPts val="0"/>
              </a:spcBef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影院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用户除享受票价半价优惠外还可进行积分，积分累计到一定额度可换取电影院赠送的奖品。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l">
              <a:lnSpc>
                <a:spcPct val="150000"/>
              </a:lnSpc>
              <a:spcBef>
                <a:spcPts val="0"/>
              </a:spcBef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该系统在将来可能还要根据需要引入新的打折方式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25.3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模式实例与解析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25.3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模式实例与解析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49" y="1125538"/>
            <a:ext cx="11646074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1028167" y="900913"/>
            <a:ext cx="9823536" cy="2024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EC7328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模式实例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影院售票系统：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参考代码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 algn="l">
              <a:lnSpc>
                <a:spcPct val="150000"/>
              </a:lnSpc>
              <a:buClr>
                <a:srgbClr val="EC7328"/>
              </a:buClr>
              <a:buFont typeface="Arial" panose="020B0604020202020204" pitchFamily="34" charset="0"/>
              <a:buChar char="•"/>
            </a:pP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DesignPatterns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strategy 2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包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5"/>
          <p:cNvGrpSpPr/>
          <p:nvPr/>
        </p:nvGrpSpPr>
        <p:grpSpPr bwMode="auto">
          <a:xfrm>
            <a:off x="4031468" y="3141762"/>
            <a:ext cx="4193480" cy="2044450"/>
            <a:chOff x="2381" y="3283"/>
            <a:chExt cx="1361" cy="510"/>
          </a:xfrm>
        </p:grpSpPr>
        <p:pic>
          <p:nvPicPr>
            <p:cNvPr id="9" name="Picture 6" descr="gif005"/>
            <p:cNvPicPr>
              <a:picLocks noChangeAspect="1" noChangeArrowheads="1" noCrop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1" y="3283"/>
              <a:ext cx="252" cy="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608" y="3505"/>
              <a:ext cx="1134" cy="146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3200" b="1" dirty="0">
                  <a:solidFill>
                    <a:srgbClr val="44B3BE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演示</a:t>
              </a:r>
              <a:r>
                <a:rPr lang="en-US" altLang="zh-CN" sz="3200" b="1" dirty="0">
                  <a:solidFill>
                    <a:srgbClr val="44B3BE"/>
                  </a:solidFill>
                  <a:latin typeface="Arial" panose="020B0604020202020204"/>
                  <a:ea typeface="华文行楷" panose="02010800040101010101" pitchFamily="2" charset="-122"/>
                </a:rPr>
                <a:t>……</a:t>
              </a:r>
              <a:endParaRPr lang="en-US" altLang="zh-CN" sz="3200" b="1" dirty="0">
                <a:solidFill>
                  <a:srgbClr val="44B3BE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</p:grpSp>
      <p:sp>
        <p:nvSpPr>
          <p:cNvPr id="11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25.3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模式实例与解析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25.4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模式效果与应用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571671" y="1100034"/>
            <a:ext cx="11360152" cy="492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EC7328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策略模式优点：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对开闭原则的完美支持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，用户可以在不修改原有系统的基础上选择算法或行为，也可以灵活地增加新的算法或行为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管理相关的算法族的办法</a:t>
            </a:r>
            <a:endParaRPr lang="zh-CN" altLang="en-US" sz="2800" dirty="0">
              <a:solidFill>
                <a:srgbClr val="EC73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提供了一种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可以替换继承关系的办法</a:t>
            </a:r>
            <a:endParaRPr lang="zh-CN" altLang="en-US" sz="2800" dirty="0">
              <a:solidFill>
                <a:srgbClr val="EC73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避免多重条件选择语句</a:t>
            </a:r>
            <a:endParaRPr lang="zh-CN" altLang="en-US" sz="2800" dirty="0">
              <a:solidFill>
                <a:srgbClr val="EC73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提供了一种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算法的复用机制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，不同的环境类可以方便地复用策略类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>
              <a:lnSpc>
                <a:spcPct val="150000"/>
              </a:lnSpc>
              <a:buClr>
                <a:srgbClr val="EC7328"/>
              </a:buClr>
            </a:pP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25.4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模式效果与应用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571671" y="1172042"/>
            <a:ext cx="11144128" cy="3049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EC7328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策略模式缺点：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 smtClean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必须知道所有的策略类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，并自行决定使用哪一个策略类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将造成系统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产生很多具体策略类</a:t>
            </a:r>
            <a:endParaRPr lang="zh-CN" altLang="en-US" sz="2800" dirty="0">
              <a:solidFill>
                <a:srgbClr val="EC73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无法同时在客户端使用多个策略</a:t>
            </a:r>
            <a:r>
              <a:rPr lang="zh-CN" altLang="en-US" sz="2800" dirty="0" smtClean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25.4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模式效果与应用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571671" y="1125538"/>
            <a:ext cx="11144128" cy="3753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EC7328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在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以下情况下可以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使用策略模式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个系统需要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动态地在几种算法中选择一种</a:t>
            </a:r>
            <a:endParaRPr lang="zh-CN" altLang="en-US" sz="2800" dirty="0">
              <a:solidFill>
                <a:srgbClr val="EC73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避免使用难以维护的多重条件选择语句</a:t>
            </a:r>
            <a:endParaRPr lang="zh-CN" altLang="en-US" sz="2800" dirty="0">
              <a:solidFill>
                <a:srgbClr val="EC73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EC7328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不希望客户端知道复杂的、与算法相关的数据结构，</a:t>
            </a:r>
            <a:r>
              <a:rPr lang="zh-CN" altLang="en-US" sz="2800" dirty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提高算法的保密性与</a:t>
            </a:r>
            <a:r>
              <a:rPr lang="zh-CN" altLang="en-US" sz="2800" dirty="0" smtClean="0">
                <a:solidFill>
                  <a:srgbClr val="EC7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安全性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25.4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模式效果与应用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86949" y="829370"/>
            <a:ext cx="1097286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模式应用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模式实用性强、扩展性好，在软件开发中得以广泛应用，只要某一问题涉及多种解决方案时都可以使用策略模式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 SE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的容器布局管理。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25.4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模式效果与应用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86949" y="829370"/>
            <a:ext cx="1097286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模式应用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模式实用性强、扩展性好，在软件开发中得以广泛应用，只要某一问题涉及多种解决方案时都可以使用策略模式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 SE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的容器布局管理。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815" y="909514"/>
            <a:ext cx="11174016" cy="553925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25.4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模式效果与应用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86949" y="829370"/>
            <a:ext cx="1097286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模式应用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）作为一个经典的设计模式，除了基于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的系统外，在使用其他面向对象技术开发的软件中，策略模式也得到了广泛的应用。例如在微软公司提供的演示项目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PetShop4.0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中就使用策略模式来处理同步订单和异步订单的问题。使用时，其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子项目的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Order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类里通过反射机制从配置文件中读取策略的配置信息，决定使用同步或者异步处理方式。而通过修改配置文件即可更改订单处理方式，提高了系统的灵活性。。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25.5 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模式扩展</a:t>
            </a:r>
            <a:endParaRPr lang="zh-CN" altLang="zh-CN" sz="2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058616" y="909514"/>
            <a:ext cx="7128792" cy="864096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区分策略模式和状态模式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854710" y="1967865"/>
          <a:ext cx="10488930" cy="0"/>
        </p:xfrm>
        <a:graphic>
          <a:graphicData uri="http://schemas.openxmlformats.org/drawingml/2006/table">
            <a:tbl>
              <a:tblPr/>
              <a:tblGrid>
                <a:gridCol w="3496310"/>
                <a:gridCol w="3496310"/>
                <a:gridCol w="3496310"/>
              </a:tblGrid>
              <a:tr h="0"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0.875rem / 1.6 -apple-system"/>
                          <a:ea typeface="0.875rem / 1.6 -apple-system"/>
                        </a:rPr>
                        <a:t>特性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0.875rem / 1.6 -apple-system"/>
                        <a:ea typeface="0.875rem / 1.6 -apple-system"/>
                      </a:endParaRPr>
                    </a:p>
                  </a:txBody>
                  <a:tcPr marL="0" marR="1273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825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0.875rem / 1.6 -apple-system"/>
                          <a:ea typeface="0.875rem / 1.6 -apple-system"/>
                        </a:rPr>
                        <a:t>策略模式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0.875rem / 1.6 -apple-system"/>
                        <a:ea typeface="0.875rem / 1.6 -apple-system"/>
                      </a:endParaRPr>
                    </a:p>
                  </a:txBody>
                  <a:tcPr marL="0" marR="1273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825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0.875rem / 1.6 -apple-system"/>
                          <a:ea typeface="0.875rem / 1.6 -apple-system"/>
                        </a:rPr>
                        <a:t>状态模式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0.875rem / 1.6 -apple-system"/>
                        <a:ea typeface="0.875rem / 1.6 -apple-system"/>
                      </a:endParaRPr>
                    </a:p>
                  </a:txBody>
                  <a:tcPr marL="0" marR="1273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825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​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意图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​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27317" marT="63817" marB="63817">
                    <a:lnL>
                      <a:noFill/>
                    </a:lnL>
                    <a:lnR>
                      <a:noFill/>
                    </a:lnR>
                    <a:lnT w="825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封装可互换的算法，让客户端选择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27317" marT="63817" marB="63817">
                    <a:lnL>
                      <a:noFill/>
                    </a:lnL>
                    <a:lnR>
                      <a:noFill/>
                    </a:lnR>
                    <a:lnT w="825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让对象随内部状态改变而改变行为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27317" marT="63817" marB="63817">
                    <a:lnL>
                      <a:noFill/>
                    </a:lnL>
                    <a:lnR>
                      <a:noFill/>
                    </a:lnR>
                    <a:lnT w="825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​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客户端角色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​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27317" marT="63817" marB="63817">
                    <a:lnL>
                      <a:noFill/>
                    </a:lnL>
                    <a:lnR>
                      <a:noFill/>
                    </a:lnR>
                    <a:lnT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​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主动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选择并设置策略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27317" marT="63817" marB="63817">
                    <a:lnL>
                      <a:noFill/>
                    </a:lnL>
                    <a:lnR>
                      <a:noFill/>
                    </a:lnR>
                    <a:lnT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​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被动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调用方法，不了解具体状态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27317" marT="63817" marB="63817">
                    <a:lnL>
                      <a:noFill/>
                    </a:lnL>
                    <a:lnR>
                      <a:noFill/>
                    </a:lnR>
                    <a:lnT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​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状态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/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策略关系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​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27317" marT="63817" marB="63817">
                    <a:lnL>
                      <a:noFill/>
                    </a:lnL>
                    <a:lnR>
                      <a:noFill/>
                    </a:lnR>
                    <a:lnT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策略之间独立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，无关联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27317" marT="63817" marB="63817">
                    <a:lnL>
                      <a:noFill/>
                    </a:lnL>
                    <a:lnR>
                      <a:noFill/>
                    </a:lnR>
                    <a:lnT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状态之间有关联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，知道下一个状态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27317" marT="63817" marB="63817">
                    <a:lnL>
                      <a:noFill/>
                    </a:lnL>
                    <a:lnR>
                      <a:noFill/>
                    </a:lnR>
                    <a:lnT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​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转换控制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​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27317" marT="63817" marB="63817">
                    <a:lnL>
                      <a:noFill/>
                    </a:lnL>
                    <a:lnR>
                      <a:noFill/>
                    </a:lnR>
                    <a:lnT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由客户端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控制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27317" marT="63817" marB="63817">
                    <a:lnL>
                      <a:noFill/>
                    </a:lnL>
                    <a:lnR>
                      <a:noFill/>
                    </a:lnR>
                    <a:lnT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由上下文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或状态对象自身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控制（自动）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27317" marT="63817" marB="63817">
                    <a:lnL>
                      <a:noFill/>
                    </a:lnL>
                    <a:lnR>
                      <a:noFill/>
                    </a:lnR>
                    <a:lnT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​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主要目的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​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27317" marT="63817" marB="63817">
                    <a:lnL>
                      <a:noFill/>
                    </a:lnL>
                    <a:lnR>
                      <a:noFill/>
                    </a:lnR>
                    <a:lnT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灵活性、避免使用条件语句选择算法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27317" marT="63817" marB="63817">
                    <a:lnL>
                      <a:noFill/>
                    </a:lnL>
                    <a:lnR>
                      <a:noFill/>
                    </a:lnR>
                    <a:lnT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简化复杂的条件逻辑，管理状态流转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27317" marT="63817" marB="63817">
                    <a:lnL>
                      <a:noFill/>
                    </a:lnL>
                    <a:lnR>
                      <a:noFill/>
                    </a:lnR>
                    <a:lnT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​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类比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​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27317" marT="63817" marB="63817">
                    <a:lnL>
                      <a:noFill/>
                    </a:lnL>
                    <a:lnR>
                      <a:noFill/>
                    </a:lnR>
                    <a:lnT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​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选择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出行工具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27317" marT="63817" marB="63817">
                    <a:lnL>
                      <a:noFill/>
                    </a:lnL>
                    <a:lnR>
                      <a:noFill/>
                    </a:lnR>
                    <a:lnT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人类心情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-apple-system"/>
                          <a:ea typeface="-apple-system"/>
                        </a:rPr>
                        <a:t>转换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27317" marT="63817" marB="63817">
                    <a:lnL>
                      <a:noFill/>
                    </a:lnL>
                    <a:lnR>
                      <a:noFill/>
                    </a:lnR>
                    <a:lnT w="444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567" y="1014090"/>
            <a:ext cx="7620000" cy="5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ULTRA_SCORM_SLIDE_COUNT" val="4"/>
  <p:tag name="ISPRING_PRESENTATION_TITLE" val="PowerPoint 演示文稿"/>
  <p:tag name="ISPRING_RESOURCE_PATHS_HASH_PRESENTER" val="af3f2d575d923f6e4ff64f325e7b41567660d7"/>
  <p:tag name="commondata" val="eyJoZGlkIjoiZmIwNTgzN2VkODcyMGZjYmE5ZDczYWZmOTUyYTJjOTMifQ=="/>
</p:tagLst>
</file>

<file path=ppt/theme/theme1.xml><?xml version="1.0" encoding="utf-8"?>
<a:theme xmlns:a="http://schemas.openxmlformats.org/drawingml/2006/main" name="第一PPT，www.1ppt.com">
  <a:themeElements>
    <a:clrScheme name="自定义 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FFC000"/>
      </a:accent2>
      <a:accent3>
        <a:srgbClr val="BFBFBF"/>
      </a:accent3>
      <a:accent4>
        <a:srgbClr val="BFBFBF"/>
      </a:accent4>
      <a:accent5>
        <a:srgbClr val="BFBFB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2942</Words>
  <Application>WPS 演示</Application>
  <PresentationFormat>自定义</PresentationFormat>
  <Paragraphs>259</Paragraphs>
  <Slides>25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2" baseType="lpstr">
      <vt:lpstr>Arial</vt:lpstr>
      <vt:lpstr>宋体</vt:lpstr>
      <vt:lpstr>Wingdings</vt:lpstr>
      <vt:lpstr>Eras Bold ITC</vt:lpstr>
      <vt:lpstr>微软雅黑</vt:lpstr>
      <vt:lpstr>Arial Unicode MS</vt:lpstr>
      <vt:lpstr>Times New Roman</vt:lpstr>
      <vt:lpstr>黑体</vt:lpstr>
      <vt:lpstr>Times New Roman</vt:lpstr>
      <vt:lpstr>Arial Unicode MS</vt:lpstr>
      <vt:lpstr>Calibri</vt:lpstr>
      <vt:lpstr>华文行楷</vt:lpstr>
      <vt:lpstr>Arial</vt:lpstr>
      <vt:lpstr>0.875rem / 1.6 -apple-system</vt:lpstr>
      <vt:lpstr>-apple-system</vt:lpstr>
      <vt:lpstr>SWAstro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蓝色简洁</dc:title>
  <dc:creator>第一PPT</dc:creator>
  <cp:keywords>www.1ppt.com</cp:keywords>
  <cp:lastModifiedBy>i-sugars</cp:lastModifiedBy>
  <cp:revision>439</cp:revision>
  <dcterms:created xsi:type="dcterms:W3CDTF">2014-08-23T07:50:00Z</dcterms:created>
  <dcterms:modified xsi:type="dcterms:W3CDTF">2025-10-31T05:38:20Z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88E8A767B73B4E33A175C95B8BB57135_12</vt:lpwstr>
  </property>
  <property fmtid="{D5CDD505-2E9C-101B-9397-08002B2CF9AE}" pid="3" name="KSOProductBuildVer">
    <vt:lpwstr>2052-12.1.0.23125</vt:lpwstr>
  </property>
</Properties>
</file>