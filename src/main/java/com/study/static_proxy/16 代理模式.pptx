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42" r:id="rId3"/>
    <p:sldId id="437" r:id="rId5"/>
    <p:sldId id="469" r:id="rId6"/>
    <p:sldId id="560" r:id="rId7"/>
    <p:sldId id="536" r:id="rId8"/>
    <p:sldId id="579" r:id="rId9"/>
    <p:sldId id="571" r:id="rId10"/>
    <p:sldId id="472" r:id="rId11"/>
    <p:sldId id="587" r:id="rId12"/>
    <p:sldId id="589" r:id="rId13"/>
    <p:sldId id="572" r:id="rId14"/>
    <p:sldId id="590" r:id="rId15"/>
    <p:sldId id="447" r:id="rId16"/>
    <p:sldId id="584" r:id="rId17"/>
    <p:sldId id="548" r:id="rId18"/>
    <p:sldId id="549" r:id="rId19"/>
    <p:sldId id="574" r:id="rId20"/>
    <p:sldId id="599" r:id="rId21"/>
    <p:sldId id="551" r:id="rId22"/>
    <p:sldId id="448" r:id="rId23"/>
    <p:sldId id="565" r:id="rId24"/>
    <p:sldId id="553" r:id="rId25"/>
    <p:sldId id="595" r:id="rId26"/>
    <p:sldId id="554" r:id="rId27"/>
    <p:sldId id="555" r:id="rId28"/>
    <p:sldId id="588" r:id="rId29"/>
    <p:sldId id="596" r:id="rId30"/>
    <p:sldId id="591" r:id="rId31"/>
    <p:sldId id="597" r:id="rId32"/>
    <p:sldId id="592" r:id="rId33"/>
    <p:sldId id="614" r:id="rId34"/>
    <p:sldId id="487" r:id="rId35"/>
  </p:sldIdLst>
  <p:sldSz cx="12198350" cy="6859270"/>
  <p:notesSz cx="6858000" cy="9144000"/>
  <p:custDataLst>
    <p:tags r:id="rId39"/>
  </p:custDataLst>
  <p:defaultTextStyle>
    <a:defPPr>
      <a:defRPr lang="zh-CN"/>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2" userDrawn="1">
          <p15:clr>
            <a:srgbClr val="A4A3A4"/>
          </p15:clr>
        </p15:guide>
        <p15:guide id="3" pos="304" userDrawn="1">
          <p15:clr>
            <a:srgbClr val="A4A3A4"/>
          </p15:clr>
        </p15:guide>
        <p15:guide id="4" pos="1892" userDrawn="1">
          <p15:clr>
            <a:srgbClr val="A4A3A4"/>
          </p15:clr>
        </p15:guide>
        <p15:guide id="5" pos="121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DA2"/>
    <a:srgbClr val="FAFAFA"/>
    <a:srgbClr val="FFC400"/>
    <a:srgbClr val="FFD347"/>
    <a:srgbClr val="FFC91D"/>
    <a:srgbClr val="0071C1"/>
    <a:srgbClr val="4144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59" autoAdjust="0"/>
    <p:restoredTop sz="92513" autoAdjust="0"/>
  </p:normalViewPr>
  <p:slideViewPr>
    <p:cSldViewPr showGuides="1">
      <p:cViewPr varScale="1">
        <p:scale>
          <a:sx n="55" d="100"/>
          <a:sy n="55" d="100"/>
        </p:scale>
        <p:origin x="-102" y="-360"/>
      </p:cViewPr>
      <p:guideLst>
        <p:guide orient="horz" pos="2160"/>
        <p:guide pos="3842"/>
        <p:guide pos="304"/>
        <p:guide pos="1892"/>
        <p:guide pos="1211"/>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9" Type="http://schemas.openxmlformats.org/officeDocument/2006/relationships/tags" Target="tags/tag1.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262AE03-6EE8-41FD-8A37-86C6BC5E264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21FD59-C920-460C-B1C9-0346C59420B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835" rtl="0" eaLnBrk="1" latinLnBrk="0" hangingPunct="1">
      <a:defRPr sz="1600" kern="1200">
        <a:solidFill>
          <a:schemeClr val="tx1"/>
        </a:solidFill>
        <a:latin typeface="+mn-lt"/>
        <a:ea typeface="+mn-ea"/>
        <a:cs typeface="+mn-cs"/>
      </a:defRPr>
    </a:lvl1pPr>
    <a:lvl2pPr marL="609600" algn="l" defTabSz="1219835" rtl="0" eaLnBrk="1" latinLnBrk="0" hangingPunct="1">
      <a:defRPr sz="1600" kern="1200">
        <a:solidFill>
          <a:schemeClr val="tx1"/>
        </a:solidFill>
        <a:latin typeface="+mn-lt"/>
        <a:ea typeface="+mn-ea"/>
        <a:cs typeface="+mn-cs"/>
      </a:defRPr>
    </a:lvl2pPr>
    <a:lvl3pPr marL="1219835" algn="l" defTabSz="1219835" rtl="0" eaLnBrk="1" latinLnBrk="0" hangingPunct="1">
      <a:defRPr sz="1600" kern="1200">
        <a:solidFill>
          <a:schemeClr val="tx1"/>
        </a:solidFill>
        <a:latin typeface="+mn-lt"/>
        <a:ea typeface="+mn-ea"/>
        <a:cs typeface="+mn-cs"/>
      </a:defRPr>
    </a:lvl3pPr>
    <a:lvl4pPr marL="1829435" algn="l" defTabSz="1219835" rtl="0" eaLnBrk="1" latinLnBrk="0" hangingPunct="1">
      <a:defRPr sz="1600" kern="1200">
        <a:solidFill>
          <a:schemeClr val="tx1"/>
        </a:solidFill>
        <a:latin typeface="+mn-lt"/>
        <a:ea typeface="+mn-ea"/>
        <a:cs typeface="+mn-cs"/>
      </a:defRPr>
    </a:lvl4pPr>
    <a:lvl5pPr marL="2439035" algn="l" defTabSz="1219835" rtl="0" eaLnBrk="1" latinLnBrk="0" hangingPunct="1">
      <a:defRPr sz="1600" kern="1200">
        <a:solidFill>
          <a:schemeClr val="tx1"/>
        </a:solidFill>
        <a:latin typeface="+mn-lt"/>
        <a:ea typeface="+mn-ea"/>
        <a:cs typeface="+mn-cs"/>
      </a:defRPr>
    </a:lvl5pPr>
    <a:lvl6pPr marL="3049270" algn="l" defTabSz="1219835" rtl="0" eaLnBrk="1" latinLnBrk="0" hangingPunct="1">
      <a:defRPr sz="1600" kern="1200">
        <a:solidFill>
          <a:schemeClr val="tx1"/>
        </a:solidFill>
        <a:latin typeface="+mn-lt"/>
        <a:ea typeface="+mn-ea"/>
        <a:cs typeface="+mn-cs"/>
      </a:defRPr>
    </a:lvl6pPr>
    <a:lvl7pPr marL="3658870" algn="l" defTabSz="1219835" rtl="0" eaLnBrk="1" latinLnBrk="0" hangingPunct="1">
      <a:defRPr sz="1600" kern="1200">
        <a:solidFill>
          <a:schemeClr val="tx1"/>
        </a:solidFill>
        <a:latin typeface="+mn-lt"/>
        <a:ea typeface="+mn-ea"/>
        <a:cs typeface="+mn-cs"/>
      </a:defRPr>
    </a:lvl7pPr>
    <a:lvl8pPr marL="4268470" algn="l" defTabSz="1219835" rtl="0" eaLnBrk="1" latinLnBrk="0" hangingPunct="1">
      <a:defRPr sz="1600" kern="1200">
        <a:solidFill>
          <a:schemeClr val="tx1"/>
        </a:solidFill>
        <a:latin typeface="+mn-lt"/>
        <a:ea typeface="+mn-ea"/>
        <a:cs typeface="+mn-cs"/>
      </a:defRPr>
    </a:lvl8pPr>
    <a:lvl9pPr marL="4878705" algn="l" defTabSz="121983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Tree>
  </p:cSld>
  <p:clrMapOvr>
    <a:masterClrMapping/>
  </p:clrMapOvr>
  <p:transition spd="slow" advTm="0">
    <p:wip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5" name="直接连接符 4"/>
          <p:cNvCxnSpPr/>
          <p:nvPr userDrawn="1"/>
        </p:nvCxnSpPr>
        <p:spPr>
          <a:xfrm>
            <a:off x="1562671" y="693490"/>
            <a:ext cx="10635679"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2511" y="0"/>
            <a:ext cx="1155204" cy="1100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advTm="0">
    <p:wip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918" y="274702"/>
            <a:ext cx="10978515" cy="1143265"/>
          </a:xfrm>
          <a:prstGeom prst="rect">
            <a:avLst/>
          </a:prstGeom>
        </p:spPr>
        <p:txBody>
          <a:bodyPr lIns="121963" tIns="60981" rIns="121963" bIns="60981"/>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4" name="页脚占位符 3"/>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5" name="灯片编号占位符 4"/>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3" name="页脚占位符 2"/>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4" name="灯片编号占位符 3"/>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920" y="273112"/>
            <a:ext cx="4013173" cy="1162320"/>
          </a:xfrm>
          <a:prstGeom prst="rect">
            <a:avLst/>
          </a:prstGeom>
        </p:spPr>
        <p:txBody>
          <a:bodyPr lIns="121963" tIns="60981" rIns="121963" bIns="60981" anchor="b"/>
          <a:lstStyle>
            <a:lvl1pPr algn="l">
              <a:defRPr sz="27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9216" y="273114"/>
            <a:ext cx="6819216" cy="5854469"/>
          </a:xfrm>
          <a:prstGeom prst="rect">
            <a:avLst/>
          </a:prstGeom>
        </p:spPr>
        <p:txBody>
          <a:bodyPr lIns="121963" tIns="60981" rIns="121963" bIns="60981"/>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09920" y="1435434"/>
            <a:ext cx="4013173" cy="4692149"/>
          </a:xfrm>
          <a:prstGeom prst="rect">
            <a:avLst/>
          </a:prstGeom>
        </p:spPr>
        <p:txBody>
          <a:bodyPr lIns="121963" tIns="60981" rIns="121963" bIns="60981"/>
          <a:lstStyle>
            <a:lvl1pPr marL="0" indent="0">
              <a:buNone/>
              <a:defRPr sz="1900"/>
            </a:lvl1pPr>
            <a:lvl2pPr marL="609600" indent="0">
              <a:buNone/>
              <a:defRPr sz="1600"/>
            </a:lvl2pPr>
            <a:lvl3pPr marL="1219835" indent="0">
              <a:buNone/>
              <a:defRPr sz="1300"/>
            </a:lvl3pPr>
            <a:lvl4pPr marL="1829435" indent="0">
              <a:buNone/>
              <a:defRPr sz="1200"/>
            </a:lvl4pPr>
            <a:lvl5pPr marL="2439035" indent="0">
              <a:buNone/>
              <a:defRPr sz="1200"/>
            </a:lvl5pPr>
            <a:lvl6pPr marL="3049270" indent="0">
              <a:buNone/>
              <a:defRPr sz="1200"/>
            </a:lvl6pPr>
            <a:lvl7pPr marL="3658870" indent="0">
              <a:buNone/>
              <a:defRPr sz="1200"/>
            </a:lvl7pPr>
            <a:lvl8pPr marL="4268470" indent="0">
              <a:buNone/>
              <a:defRPr sz="1200"/>
            </a:lvl8pPr>
            <a:lvl9pPr marL="4878705" indent="0">
              <a:buNone/>
              <a:defRPr sz="12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6" name="页脚占位符 5"/>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7" name="灯片编号占位符 6"/>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962" y="4801712"/>
            <a:ext cx="7319010" cy="566870"/>
          </a:xfrm>
          <a:prstGeom prst="rect">
            <a:avLst/>
          </a:prstGeom>
        </p:spPr>
        <p:txBody>
          <a:bodyPr lIns="121963" tIns="60981" rIns="121963" bIns="60981" anchor="b"/>
          <a:lstStyle>
            <a:lvl1pPr algn="l">
              <a:defRPr sz="27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90962" y="612916"/>
            <a:ext cx="7319010" cy="4115753"/>
          </a:xfrm>
          <a:prstGeom prst="rect">
            <a:avLst/>
          </a:prstGeom>
        </p:spPr>
        <p:txBody>
          <a:bodyPr lIns="121963" tIns="60981" rIns="121963" bIns="60981"/>
          <a:lstStyle>
            <a:lvl1pPr marL="0" indent="0">
              <a:buNone/>
              <a:defRPr sz="4300"/>
            </a:lvl1pPr>
            <a:lvl2pPr marL="609600" indent="0">
              <a:buNone/>
              <a:defRPr sz="3700"/>
            </a:lvl2pPr>
            <a:lvl3pPr marL="1219835" indent="0">
              <a:buNone/>
              <a:defRPr sz="3200"/>
            </a:lvl3pPr>
            <a:lvl4pPr marL="1829435" indent="0">
              <a:buNone/>
              <a:defRPr sz="2700"/>
            </a:lvl4pPr>
            <a:lvl5pPr marL="2439035" indent="0">
              <a:buNone/>
              <a:defRPr sz="2700"/>
            </a:lvl5pPr>
            <a:lvl6pPr marL="3049270" indent="0">
              <a:buNone/>
              <a:defRPr sz="2700"/>
            </a:lvl6pPr>
            <a:lvl7pPr marL="3658870" indent="0">
              <a:buNone/>
              <a:defRPr sz="2700"/>
            </a:lvl7pPr>
            <a:lvl8pPr marL="4268470" indent="0">
              <a:buNone/>
              <a:defRPr sz="2700"/>
            </a:lvl8pPr>
            <a:lvl9pPr marL="4878705" indent="0">
              <a:buNone/>
              <a:defRPr sz="2700"/>
            </a:lvl9pPr>
          </a:lstStyle>
          <a:p>
            <a:endParaRPr lang="zh-CN" altLang="en-US"/>
          </a:p>
        </p:txBody>
      </p:sp>
      <p:sp>
        <p:nvSpPr>
          <p:cNvPr id="4" name="文本占位符 3"/>
          <p:cNvSpPr>
            <a:spLocks noGrp="1"/>
          </p:cNvSpPr>
          <p:nvPr>
            <p:ph type="body" sz="half" idx="2"/>
          </p:nvPr>
        </p:nvSpPr>
        <p:spPr>
          <a:xfrm>
            <a:off x="2390962" y="5368581"/>
            <a:ext cx="7319010" cy="805049"/>
          </a:xfrm>
          <a:prstGeom prst="rect">
            <a:avLst/>
          </a:prstGeom>
        </p:spPr>
        <p:txBody>
          <a:bodyPr lIns="121963" tIns="60981" rIns="121963" bIns="60981"/>
          <a:lstStyle>
            <a:lvl1pPr marL="0" indent="0">
              <a:buNone/>
              <a:defRPr sz="1900"/>
            </a:lvl1pPr>
            <a:lvl2pPr marL="609600" indent="0">
              <a:buNone/>
              <a:defRPr sz="1600"/>
            </a:lvl2pPr>
            <a:lvl3pPr marL="1219835" indent="0">
              <a:buNone/>
              <a:defRPr sz="1300"/>
            </a:lvl3pPr>
            <a:lvl4pPr marL="1829435" indent="0">
              <a:buNone/>
              <a:defRPr sz="1200"/>
            </a:lvl4pPr>
            <a:lvl5pPr marL="2439035" indent="0">
              <a:buNone/>
              <a:defRPr sz="1200"/>
            </a:lvl5pPr>
            <a:lvl6pPr marL="3049270" indent="0">
              <a:buNone/>
              <a:defRPr sz="1200"/>
            </a:lvl6pPr>
            <a:lvl7pPr marL="3658870" indent="0">
              <a:buNone/>
              <a:defRPr sz="1200"/>
            </a:lvl7pPr>
            <a:lvl8pPr marL="4268470" indent="0">
              <a:buNone/>
              <a:defRPr sz="1200"/>
            </a:lvl8pPr>
            <a:lvl9pPr marL="4878705" indent="0">
              <a:buNone/>
              <a:defRPr sz="12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6" name="页脚占位符 5"/>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7" name="灯片编号占位符 6"/>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918" y="274702"/>
            <a:ext cx="10978515" cy="1143265"/>
          </a:xfrm>
          <a:prstGeom prst="rect">
            <a:avLst/>
          </a:prstGeom>
        </p:spPr>
        <p:txBody>
          <a:bodyPr lIns="121963" tIns="60981" rIns="121963" bIns="60981"/>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918" y="1600572"/>
            <a:ext cx="10978515" cy="4527011"/>
          </a:xfrm>
          <a:prstGeom prst="rect">
            <a:avLst/>
          </a:prstGeom>
        </p:spPr>
        <p:txBody>
          <a:bodyPr vert="eaVert" lIns="121963" tIns="60981" rIns="121963" bIns="6098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5" name="页脚占位符 4"/>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6" name="灯片编号占位符 5"/>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804" y="206422"/>
            <a:ext cx="2744629" cy="4388867"/>
          </a:xfrm>
          <a:prstGeom prst="rect">
            <a:avLst/>
          </a:prstGeom>
        </p:spPr>
        <p:txBody>
          <a:bodyPr vert="eaVert" lIns="121963" tIns="60981" rIns="121963" bIns="60981"/>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918" y="206422"/>
            <a:ext cx="8030580" cy="4388867"/>
          </a:xfrm>
          <a:prstGeom prst="rect">
            <a:avLst/>
          </a:prstGeom>
        </p:spPr>
        <p:txBody>
          <a:bodyPr vert="eaVert" lIns="121963" tIns="60981" rIns="121963" bIns="6098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5" name="页脚占位符 4"/>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6" name="灯片编号占位符 5"/>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cSld>
  <p:clrMapOvr>
    <a:masterClrMapping/>
  </p:clrMapOvr>
  <p:transition spd="slow" advTm="0">
    <p:wip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slow" advTm="0">
    <p:wipe/>
  </p:transition>
  <p:timing>
    <p:tnLst>
      <p:par>
        <p:cTn id="1" dur="indefinite" restart="never" nodeType="tmRoot"/>
      </p:par>
    </p:tnLst>
  </p:timing>
  <p:txStyles>
    <p:titleStyle>
      <a:lvl1pPr algn="ctr" defTabSz="1219835"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emf"/></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8.emf"/><Relationship Id="rId1" Type="http://schemas.openxmlformats.org/officeDocument/2006/relationships/oleObject" Target="../embeddings/oleObject2.bin"/></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emf"/></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screen"/>
          <a:stretch>
            <a:fillRect/>
          </a:stretch>
        </p:blipFill>
        <p:spPr>
          <a:xfrm>
            <a:off x="-616" y="-26590"/>
            <a:ext cx="12193647" cy="6860642"/>
          </a:xfrm>
          <a:prstGeom prst="rect">
            <a:avLst/>
          </a:prstGeom>
        </p:spPr>
      </p:pic>
      <p:cxnSp>
        <p:nvCxnSpPr>
          <p:cNvPr id="25" name="直接连接符 24"/>
          <p:cNvCxnSpPr/>
          <p:nvPr/>
        </p:nvCxnSpPr>
        <p:spPr>
          <a:xfrm>
            <a:off x="5327222" y="4390123"/>
            <a:ext cx="6028912"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582825" y="455097"/>
            <a:ext cx="2152446" cy="861974"/>
          </a:xfrm>
          <a:prstGeom prst="rect">
            <a:avLst/>
          </a:prstGeom>
          <a:noFill/>
        </p:spPr>
        <p:txBody>
          <a:bodyPr wrap="none" lIns="121917" tIns="60958" rIns="121917" bIns="60958" rtlCol="0">
            <a:spAutoFit/>
          </a:bodyPr>
          <a:lstStyle/>
          <a:p>
            <a:r>
              <a:rPr lang="en-US" altLang="zh-CN" sz="4800" dirty="0">
                <a:solidFill>
                  <a:schemeClr val="bg1"/>
                </a:solidFill>
                <a:latin typeface="Eras Bold ITC" panose="020B0907030504020204" pitchFamily="34" charset="0"/>
              </a:rPr>
              <a:t>LOGO</a:t>
            </a:r>
            <a:endParaRPr lang="zh-CN" altLang="en-US" sz="4800" dirty="0">
              <a:solidFill>
                <a:schemeClr val="bg1"/>
              </a:solidFill>
              <a:latin typeface="Eras Bold ITC" panose="020B0907030504020204" pitchFamily="34" charset="0"/>
            </a:endParaRPr>
          </a:p>
        </p:txBody>
      </p:sp>
      <p:sp>
        <p:nvSpPr>
          <p:cNvPr id="30" name="TextBox 29"/>
          <p:cNvSpPr txBox="1"/>
          <p:nvPr/>
        </p:nvSpPr>
        <p:spPr>
          <a:xfrm>
            <a:off x="8911525" y="5197738"/>
            <a:ext cx="1868170" cy="612775"/>
          </a:xfrm>
          <a:prstGeom prst="rect">
            <a:avLst/>
          </a:prstGeom>
          <a:noFill/>
        </p:spPr>
        <p:txBody>
          <a:bodyPr wrap="none" lIns="121917" tIns="60958" rIns="121917" bIns="60958" rtlCol="0">
            <a:spAutoFit/>
          </a:bodyPr>
          <a:lstStyle/>
          <a:p>
            <a:pPr algn="r"/>
            <a:r>
              <a:rPr lang="zh-CN" altLang="en-US" sz="3200" b="1" dirty="0" smtClean="0">
                <a:solidFill>
                  <a:schemeClr val="tx1">
                    <a:lumMod val="75000"/>
                    <a:lumOff val="25000"/>
                  </a:schemeClr>
                </a:solidFill>
                <a:latin typeface="微软雅黑" panose="020B0503020204020204" pitchFamily="34" charset="-122"/>
                <a:ea typeface="微软雅黑" panose="020B0503020204020204" pitchFamily="34" charset="-122"/>
              </a:rPr>
              <a:t>软件学院</a:t>
            </a:r>
            <a:endParaRPr lang="en-US" altLang="zh-CN" sz="3200" b="1"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4" name="TextBox 23"/>
          <p:cNvSpPr txBox="1"/>
          <p:nvPr/>
        </p:nvSpPr>
        <p:spPr>
          <a:xfrm>
            <a:off x="7133889" y="2709714"/>
            <a:ext cx="4075790" cy="954103"/>
          </a:xfrm>
          <a:prstGeom prst="rect">
            <a:avLst/>
          </a:prstGeom>
          <a:noFill/>
        </p:spPr>
        <p:txBody>
          <a:bodyPr wrap="none" lIns="121917" tIns="60958" rIns="121917" bIns="60958" rtlCol="0">
            <a:spAutoFit/>
          </a:bodyPr>
          <a:lstStyle/>
          <a:p>
            <a:pPr algn="r"/>
            <a:r>
              <a:rPr lang="en-US" altLang="zh-CN" sz="5400" b="1" dirty="0" smtClean="0">
                <a:solidFill>
                  <a:schemeClr val="accent1"/>
                </a:solidFill>
                <a:latin typeface="微软雅黑" panose="020B0503020204020204" pitchFamily="34" charset="-122"/>
                <a:ea typeface="微软雅黑" panose="020B0503020204020204" pitchFamily="34" charset="-122"/>
              </a:rPr>
              <a:t>16 </a:t>
            </a:r>
            <a:r>
              <a:rPr lang="zh-CN" altLang="en-US" sz="5400" b="1" dirty="0" smtClean="0">
                <a:solidFill>
                  <a:schemeClr val="accent1"/>
                </a:solidFill>
                <a:latin typeface="微软雅黑" panose="020B0503020204020204" pitchFamily="34" charset="-122"/>
                <a:ea typeface="微软雅黑" panose="020B0503020204020204" pitchFamily="34" charset="-122"/>
              </a:rPr>
              <a:t>代理模式</a:t>
            </a:r>
            <a:endParaRPr lang="zh-CN" altLang="en-US" sz="54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3722911" cy="68595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圆角矩形 66"/>
          <p:cNvSpPr/>
          <p:nvPr/>
        </p:nvSpPr>
        <p:spPr>
          <a:xfrm>
            <a:off x="4803031" y="2449086"/>
            <a:ext cx="1141485"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2" tIns="60946" rIns="121892" bIns="60946" anchor="ctr"/>
          <a:lstStyle/>
          <a:p>
            <a:pPr algn="ctr">
              <a:defRPr/>
            </a:pPr>
            <a:r>
              <a:rPr lang="en-US" altLang="zh-CN" sz="3200" dirty="0" smtClean="0">
                <a:latin typeface="+mj-lt"/>
                <a:ea typeface="Arial Unicode MS" panose="020B0604020202020204" pitchFamily="34" charset="-122"/>
                <a:cs typeface="Arial Unicode MS" panose="020B0604020202020204" pitchFamily="34" charset="-122"/>
              </a:rPr>
              <a:t>16.2</a:t>
            </a:r>
            <a:endParaRPr lang="zh-CN" altLang="en-US" sz="3200" dirty="0">
              <a:latin typeface="+mj-lt"/>
              <a:ea typeface="Arial Unicode MS" panose="020B0604020202020204" pitchFamily="34" charset="-122"/>
              <a:cs typeface="Arial Unicode MS" panose="020B0604020202020204" pitchFamily="34" charset="-122"/>
            </a:endParaRPr>
          </a:p>
        </p:txBody>
      </p:sp>
      <p:grpSp>
        <p:nvGrpSpPr>
          <p:cNvPr id="68" name="组合 67"/>
          <p:cNvGrpSpPr/>
          <p:nvPr/>
        </p:nvGrpSpPr>
        <p:grpSpPr>
          <a:xfrm>
            <a:off x="6313103" y="1516058"/>
            <a:ext cx="5114664" cy="554038"/>
            <a:chOff x="6339097" y="1579613"/>
            <a:chExt cx="3744416" cy="554038"/>
          </a:xfrm>
        </p:grpSpPr>
        <p:sp>
          <p:nvSpPr>
            <p:cNvPr id="69" name="圆角矩形 68"/>
            <p:cNvSpPr/>
            <p:nvPr/>
          </p:nvSpPr>
          <p:spPr>
            <a:xfrm>
              <a:off x="6339097" y="1622147"/>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latin typeface="+mj-lt"/>
                <a:ea typeface="Arial Unicode MS" panose="020B0604020202020204" pitchFamily="34" charset="-122"/>
                <a:cs typeface="Arial Unicode MS" panose="020B0604020202020204" pitchFamily="34" charset="-122"/>
              </a:endParaRPr>
            </a:p>
          </p:txBody>
        </p:sp>
        <p:sp>
          <p:nvSpPr>
            <p:cNvPr id="70" name="矩形 69"/>
            <p:cNvSpPr/>
            <p:nvPr/>
          </p:nvSpPr>
          <p:spPr>
            <a:xfrm>
              <a:off x="6723350" y="1579613"/>
              <a:ext cx="3202013" cy="554038"/>
            </a:xfrm>
            <a:prstGeom prst="rect">
              <a:avLst/>
            </a:prstGeom>
          </p:spPr>
          <p:txBody>
            <a:bodyPr wrap="square" lIns="121960" tIns="60980" rIns="121960" bIns="60980">
              <a:spAutoFit/>
            </a:bodyPr>
            <a:lstStyle/>
            <a:p>
              <a:pPr>
                <a:defRPr/>
              </a:pPr>
              <a:r>
                <a:rPr lang="zh-CN" altLang="en-US" sz="2800" b="1"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模式动机与定义</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1" name="圆角矩形 70"/>
          <p:cNvSpPr/>
          <p:nvPr/>
        </p:nvSpPr>
        <p:spPr>
          <a:xfrm>
            <a:off x="4803031" y="3340586"/>
            <a:ext cx="1141485"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2" tIns="60946" rIns="121892" bIns="60946" anchor="ctr"/>
          <a:lstStyle/>
          <a:p>
            <a:pPr algn="ctr">
              <a:defRPr/>
            </a:pPr>
            <a:r>
              <a:rPr lang="en-US" altLang="zh-CN" sz="3200" dirty="0" smtClean="0">
                <a:latin typeface="+mj-lt"/>
                <a:ea typeface="Arial Unicode MS" panose="020B0604020202020204" pitchFamily="34" charset="-122"/>
                <a:cs typeface="Arial Unicode MS" panose="020B0604020202020204" pitchFamily="34" charset="-122"/>
              </a:rPr>
              <a:t>16.3</a:t>
            </a:r>
            <a:endParaRPr lang="zh-CN" altLang="en-US" sz="3200" dirty="0">
              <a:latin typeface="+mj-lt"/>
              <a:ea typeface="Arial Unicode MS" panose="020B0604020202020204" pitchFamily="34" charset="-122"/>
              <a:cs typeface="Arial Unicode MS" panose="020B0604020202020204" pitchFamily="34" charset="-122"/>
            </a:endParaRPr>
          </a:p>
        </p:txBody>
      </p:sp>
      <p:grpSp>
        <p:nvGrpSpPr>
          <p:cNvPr id="72" name="组合 71"/>
          <p:cNvGrpSpPr/>
          <p:nvPr/>
        </p:nvGrpSpPr>
        <p:grpSpPr>
          <a:xfrm>
            <a:off x="6289221" y="2405662"/>
            <a:ext cx="5114664" cy="565542"/>
            <a:chOff x="6315199" y="2410178"/>
            <a:chExt cx="3744416" cy="565542"/>
          </a:xfrm>
        </p:grpSpPr>
        <p:sp>
          <p:nvSpPr>
            <p:cNvPr id="73" name="圆角矩形 72"/>
            <p:cNvSpPr/>
            <p:nvPr/>
          </p:nvSpPr>
          <p:spPr>
            <a:xfrm>
              <a:off x="6315199" y="2410178"/>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latin typeface="+mj-lt"/>
                <a:ea typeface="Arial Unicode MS" panose="020B0604020202020204" pitchFamily="34" charset="-122"/>
                <a:cs typeface="Arial Unicode MS" panose="020B0604020202020204" pitchFamily="34" charset="-122"/>
              </a:endParaRPr>
            </a:p>
          </p:txBody>
        </p:sp>
        <p:sp>
          <p:nvSpPr>
            <p:cNvPr id="74" name="矩形 73"/>
            <p:cNvSpPr/>
            <p:nvPr/>
          </p:nvSpPr>
          <p:spPr>
            <a:xfrm>
              <a:off x="6747248" y="2421682"/>
              <a:ext cx="2653075" cy="554038"/>
            </a:xfrm>
            <a:prstGeom prst="rect">
              <a:avLst/>
            </a:prstGeom>
          </p:spPr>
          <p:txBody>
            <a:bodyPr wrap="square" lIns="121960" tIns="60980" rIns="121960" bIns="60980">
              <a:spAutoFit/>
            </a:bodyPr>
            <a:lstStyle/>
            <a:p>
              <a:pPr>
                <a:defRPr/>
              </a:pPr>
              <a:r>
                <a:rPr lang="zh-CN" altLang="en-US" sz="2800" b="1"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5" name="圆角矩形 74"/>
          <p:cNvSpPr/>
          <p:nvPr/>
        </p:nvSpPr>
        <p:spPr>
          <a:xfrm>
            <a:off x="4803031" y="4232086"/>
            <a:ext cx="1141485"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2" tIns="60946" rIns="121892" bIns="60946" anchor="ctr"/>
          <a:lstStyle/>
          <a:p>
            <a:pPr algn="ctr">
              <a:defRPr/>
            </a:pPr>
            <a:r>
              <a:rPr lang="en-US" altLang="zh-CN" sz="3200" dirty="0" smtClean="0">
                <a:latin typeface="+mj-lt"/>
                <a:ea typeface="Arial Unicode MS" panose="020B0604020202020204" pitchFamily="34" charset="-122"/>
                <a:cs typeface="Arial Unicode MS" panose="020B0604020202020204" pitchFamily="34" charset="-122"/>
              </a:rPr>
              <a:t>16.4</a:t>
            </a:r>
            <a:endParaRPr lang="zh-CN" altLang="en-US" sz="3200" dirty="0">
              <a:latin typeface="+mj-lt"/>
              <a:ea typeface="Arial Unicode MS" panose="020B0604020202020204" pitchFamily="34" charset="-122"/>
              <a:cs typeface="Arial Unicode MS" panose="020B0604020202020204" pitchFamily="34" charset="-122"/>
            </a:endParaRPr>
          </a:p>
        </p:txBody>
      </p:sp>
      <p:grpSp>
        <p:nvGrpSpPr>
          <p:cNvPr id="76" name="组合 75"/>
          <p:cNvGrpSpPr/>
          <p:nvPr/>
        </p:nvGrpSpPr>
        <p:grpSpPr>
          <a:xfrm>
            <a:off x="6313103" y="3306770"/>
            <a:ext cx="5114664" cy="554038"/>
            <a:chOff x="6339097" y="3285779"/>
            <a:chExt cx="3744416" cy="554038"/>
          </a:xfrm>
        </p:grpSpPr>
        <p:sp>
          <p:nvSpPr>
            <p:cNvPr id="77" name="圆角矩形 76"/>
            <p:cNvSpPr/>
            <p:nvPr/>
          </p:nvSpPr>
          <p:spPr>
            <a:xfrm>
              <a:off x="6339097" y="3296031"/>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latin typeface="+mj-lt"/>
                <a:ea typeface="Arial Unicode MS" panose="020B0604020202020204" pitchFamily="34" charset="-122"/>
                <a:cs typeface="Arial Unicode MS" panose="020B0604020202020204" pitchFamily="34" charset="-122"/>
              </a:endParaRPr>
            </a:p>
          </p:txBody>
        </p:sp>
        <p:sp>
          <p:nvSpPr>
            <p:cNvPr id="78" name="矩形 77"/>
            <p:cNvSpPr/>
            <p:nvPr/>
          </p:nvSpPr>
          <p:spPr>
            <a:xfrm>
              <a:off x="6723349" y="3285779"/>
              <a:ext cx="2736305" cy="554038"/>
            </a:xfrm>
            <a:prstGeom prst="rect">
              <a:avLst/>
            </a:prstGeom>
          </p:spPr>
          <p:txBody>
            <a:bodyPr wrap="square" lIns="121960" tIns="60980" rIns="121960" bIns="60980">
              <a:spAutoFit/>
            </a:bodyPr>
            <a:lstStyle/>
            <a:p>
              <a:pPr>
                <a:defRPr/>
              </a:pPr>
              <a:r>
                <a:rPr lang="zh-CN" altLang="en-US" sz="2800" b="1"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87" name="TextBox 86"/>
          <p:cNvSpPr txBox="1"/>
          <p:nvPr/>
        </p:nvSpPr>
        <p:spPr>
          <a:xfrm>
            <a:off x="338535" y="2219568"/>
            <a:ext cx="2806485" cy="1354243"/>
          </a:xfrm>
          <a:prstGeom prst="rect">
            <a:avLst/>
          </a:prstGeom>
          <a:noFill/>
        </p:spPr>
        <p:txBody>
          <a:bodyPr wrap="square" lIns="121880" tIns="60938" rIns="121880" bIns="60938">
            <a:spAutoFit/>
          </a:bodyPr>
          <a:lstStyle/>
          <a:p>
            <a:pPr algn="r">
              <a:defRPr/>
            </a:pPr>
            <a:r>
              <a:rPr lang="zh-CN" altLang="en-US" sz="4800" b="1" spc="200" dirty="0" smtClean="0">
                <a:solidFill>
                  <a:schemeClr val="bg1"/>
                </a:solidFill>
                <a:latin typeface="微软雅黑" panose="020B0503020204020204" pitchFamily="34" charset="-122"/>
                <a:ea typeface="微软雅黑" panose="020B0503020204020204" pitchFamily="34" charset="-122"/>
              </a:rPr>
              <a:t>目录</a:t>
            </a:r>
            <a:endParaRPr lang="en-US" altLang="zh-CN" sz="4800" b="1" spc="200" dirty="0">
              <a:solidFill>
                <a:schemeClr val="bg1"/>
              </a:solidFill>
              <a:latin typeface="微软雅黑" panose="020B0503020204020204" pitchFamily="34" charset="-122"/>
              <a:ea typeface="微软雅黑" panose="020B0503020204020204" pitchFamily="34" charset="-122"/>
            </a:endParaRPr>
          </a:p>
          <a:p>
            <a:pPr algn="r">
              <a:defRPr/>
            </a:pPr>
            <a:r>
              <a:rPr lang="en-US" altLang="zh-CN" sz="3200" b="1" spc="200" dirty="0">
                <a:solidFill>
                  <a:schemeClr val="bg1"/>
                </a:solidFill>
                <a:latin typeface="微软雅黑" panose="020B0503020204020204" pitchFamily="34" charset="-122"/>
                <a:ea typeface="微软雅黑" panose="020B0503020204020204" pitchFamily="34" charset="-122"/>
              </a:rPr>
              <a:t>CONTENTS</a:t>
            </a:r>
            <a:endParaRPr lang="zh-CN" altLang="en-US" sz="3200" b="1" spc="200" dirty="0">
              <a:solidFill>
                <a:schemeClr val="bg1"/>
              </a:solidFill>
              <a:latin typeface="微软雅黑" panose="020B0503020204020204" pitchFamily="34" charset="-122"/>
              <a:ea typeface="微软雅黑" panose="020B0503020204020204" pitchFamily="34" charset="-122"/>
            </a:endParaRPr>
          </a:p>
        </p:txBody>
      </p:sp>
      <p:sp>
        <p:nvSpPr>
          <p:cNvPr id="17" name="圆角矩形 16"/>
          <p:cNvSpPr/>
          <p:nvPr/>
        </p:nvSpPr>
        <p:spPr>
          <a:xfrm>
            <a:off x="4803031" y="5123586"/>
            <a:ext cx="1141485"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2" tIns="60946" rIns="121892" bIns="60946" anchor="ctr"/>
          <a:lstStyle/>
          <a:p>
            <a:pPr algn="ctr">
              <a:defRPr/>
            </a:pPr>
            <a:r>
              <a:rPr lang="en-US" altLang="zh-CN" sz="3200" dirty="0" smtClean="0">
                <a:latin typeface="+mj-lt"/>
                <a:ea typeface="Arial Unicode MS" panose="020B0604020202020204" pitchFamily="34" charset="-122"/>
                <a:cs typeface="Arial Unicode MS" panose="020B0604020202020204" pitchFamily="34" charset="-122"/>
              </a:rPr>
              <a:t>16.5</a:t>
            </a:r>
            <a:endParaRPr lang="zh-CN" altLang="en-US" sz="3200" dirty="0">
              <a:latin typeface="+mj-lt"/>
              <a:ea typeface="Arial Unicode MS" panose="020B0604020202020204" pitchFamily="34" charset="-122"/>
              <a:cs typeface="Arial Unicode MS" panose="020B0604020202020204" pitchFamily="34" charset="-122"/>
            </a:endParaRPr>
          </a:p>
        </p:txBody>
      </p:sp>
      <p:grpSp>
        <p:nvGrpSpPr>
          <p:cNvPr id="18" name="组合 17"/>
          <p:cNvGrpSpPr/>
          <p:nvPr/>
        </p:nvGrpSpPr>
        <p:grpSpPr>
          <a:xfrm>
            <a:off x="6313103" y="4196374"/>
            <a:ext cx="5114664" cy="554038"/>
            <a:chOff x="6339097" y="3264311"/>
            <a:chExt cx="3744416" cy="554038"/>
          </a:xfrm>
        </p:grpSpPr>
        <p:sp>
          <p:nvSpPr>
            <p:cNvPr id="19" name="圆角矩形 18"/>
            <p:cNvSpPr/>
            <p:nvPr/>
          </p:nvSpPr>
          <p:spPr>
            <a:xfrm>
              <a:off x="6339097" y="3296031"/>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latin typeface="+mj-lt"/>
                <a:ea typeface="Arial Unicode MS" panose="020B0604020202020204" pitchFamily="34" charset="-122"/>
                <a:cs typeface="Arial Unicode MS" panose="020B0604020202020204" pitchFamily="34" charset="-122"/>
              </a:endParaRPr>
            </a:p>
          </p:txBody>
        </p:sp>
        <p:sp>
          <p:nvSpPr>
            <p:cNvPr id="20" name="矩形 19"/>
            <p:cNvSpPr/>
            <p:nvPr/>
          </p:nvSpPr>
          <p:spPr>
            <a:xfrm>
              <a:off x="6723349" y="3264311"/>
              <a:ext cx="2736305" cy="554038"/>
            </a:xfrm>
            <a:prstGeom prst="rect">
              <a:avLst/>
            </a:prstGeom>
          </p:spPr>
          <p:txBody>
            <a:bodyPr wrap="square" lIns="121960" tIns="60980" rIns="121960" bIns="60980">
              <a:spAutoFit/>
            </a:bodyPr>
            <a:lstStyle/>
            <a:p>
              <a:pPr>
                <a:defRPr/>
              </a:pPr>
              <a:r>
                <a:rPr lang="zh-CN" altLang="en-US" sz="2800" b="1"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圆角矩形 3"/>
          <p:cNvSpPr/>
          <p:nvPr/>
        </p:nvSpPr>
        <p:spPr>
          <a:xfrm>
            <a:off x="4010943" y="549474"/>
            <a:ext cx="6384830" cy="7200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000" b="1" dirty="0" smtClean="0">
                <a:latin typeface="黑体" panose="02010609060101010101" pitchFamily="49" charset="-122"/>
                <a:ea typeface="黑体" panose="02010609060101010101" pitchFamily="49" charset="-122"/>
              </a:rPr>
              <a:t>16 </a:t>
            </a:r>
            <a:r>
              <a:rPr lang="zh-CN" altLang="en-US" sz="4000" b="1" dirty="0" smtClean="0">
                <a:latin typeface="黑体" panose="02010609060101010101" pitchFamily="49" charset="-122"/>
                <a:ea typeface="黑体" panose="02010609060101010101" pitchFamily="49" charset="-122"/>
              </a:rPr>
              <a:t>代理模式</a:t>
            </a:r>
            <a:endParaRPr lang="zh-CN" altLang="en-US" sz="4000" b="1" dirty="0">
              <a:latin typeface="黑体" panose="02010609060101010101" pitchFamily="49" charset="-122"/>
              <a:ea typeface="黑体" panose="02010609060101010101" pitchFamily="49" charset="-122"/>
            </a:endParaRPr>
          </a:p>
        </p:txBody>
      </p:sp>
      <p:grpSp>
        <p:nvGrpSpPr>
          <p:cNvPr id="22" name="组合 21"/>
          <p:cNvGrpSpPr/>
          <p:nvPr/>
        </p:nvGrpSpPr>
        <p:grpSpPr>
          <a:xfrm>
            <a:off x="6313103" y="5085978"/>
            <a:ext cx="5114664" cy="554038"/>
            <a:chOff x="6339097" y="3264311"/>
            <a:chExt cx="3744416" cy="554038"/>
          </a:xfrm>
        </p:grpSpPr>
        <p:sp>
          <p:nvSpPr>
            <p:cNvPr id="23" name="圆角矩形 22"/>
            <p:cNvSpPr/>
            <p:nvPr/>
          </p:nvSpPr>
          <p:spPr>
            <a:xfrm>
              <a:off x="6339097" y="3296031"/>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latin typeface="+mj-lt"/>
                <a:ea typeface="Arial Unicode MS" panose="020B0604020202020204" pitchFamily="34" charset="-122"/>
                <a:cs typeface="Arial Unicode MS" panose="020B0604020202020204" pitchFamily="34" charset="-122"/>
              </a:endParaRPr>
            </a:p>
          </p:txBody>
        </p:sp>
        <p:sp>
          <p:nvSpPr>
            <p:cNvPr id="24" name="矩形 23"/>
            <p:cNvSpPr/>
            <p:nvPr/>
          </p:nvSpPr>
          <p:spPr>
            <a:xfrm>
              <a:off x="6723349" y="3264311"/>
              <a:ext cx="2736305" cy="554038"/>
            </a:xfrm>
            <a:prstGeom prst="rect">
              <a:avLst/>
            </a:prstGeom>
          </p:spPr>
          <p:txBody>
            <a:bodyPr wrap="square" lIns="121960" tIns="60980" rIns="121960" bIns="60980">
              <a:spAutoFit/>
            </a:bodyPr>
            <a:lstStyle/>
            <a:p>
              <a:pPr>
                <a:defRPr/>
              </a:pPr>
              <a:r>
                <a:rPr lang="zh-CN" altLang="en-US" sz="2800" b="1"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模式扩展</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5" name="圆角矩形 24"/>
          <p:cNvSpPr/>
          <p:nvPr/>
        </p:nvSpPr>
        <p:spPr>
          <a:xfrm>
            <a:off x="4803031" y="1557586"/>
            <a:ext cx="1141485"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2" tIns="60946" rIns="121892" bIns="60946" anchor="ctr"/>
          <a:lstStyle/>
          <a:p>
            <a:pPr algn="ctr">
              <a:defRPr/>
            </a:pPr>
            <a:r>
              <a:rPr lang="en-US" altLang="zh-CN" sz="3200" dirty="0" smtClean="0">
                <a:latin typeface="+mj-lt"/>
                <a:ea typeface="Arial Unicode MS" panose="020B0604020202020204" pitchFamily="34" charset="-122"/>
                <a:cs typeface="Arial Unicode MS" panose="020B0604020202020204" pitchFamily="34" charset="-122"/>
              </a:rPr>
              <a:t>16.1</a:t>
            </a:r>
            <a:endParaRPr lang="zh-CN" altLang="en-US" sz="3200" dirty="0">
              <a:latin typeface="+mj-lt"/>
              <a:ea typeface="Arial Unicode MS" panose="020B0604020202020204" pitchFamily="34" charset="-122"/>
              <a:cs typeface="Arial Unicode MS" panose="020B0604020202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14599" y="903119"/>
            <a:ext cx="10657184" cy="5186869"/>
          </a:xfrm>
          <a:prstGeom prst="rect">
            <a:avLst/>
          </a:prstGeom>
        </p:spPr>
        <p:txBody>
          <a:bodyPr wrap="square">
            <a:spAutoFit/>
          </a:bodyPr>
          <a:lstStyle/>
          <a:p>
            <a:pPr indent="457200">
              <a:lnSpc>
                <a:spcPct val="150000"/>
              </a:lnSpc>
            </a:pPr>
            <a:r>
              <a:rPr lang="zh-CN" altLang="en-US" sz="2800" b="1" dirty="0">
                <a:solidFill>
                  <a:srgbClr val="FF0000"/>
                </a:solidFill>
                <a:latin typeface="微软雅黑" panose="020B0503020204020204" pitchFamily="34" charset="-122"/>
                <a:ea typeface="微软雅黑" panose="020B0503020204020204" pitchFamily="34" charset="-122"/>
              </a:rPr>
              <a:t>代理模式（</a:t>
            </a:r>
            <a:r>
              <a:rPr lang="en-US" altLang="zh-CN" sz="2800" b="1" dirty="0">
                <a:solidFill>
                  <a:srgbClr val="FF0000"/>
                </a:solidFill>
                <a:latin typeface="微软雅黑" panose="020B0503020204020204" pitchFamily="34" charset="-122"/>
                <a:ea typeface="微软雅黑" panose="020B0503020204020204" pitchFamily="34" charset="-122"/>
              </a:rPr>
              <a:t>Proxy Pattern</a:t>
            </a:r>
            <a:r>
              <a:rPr lang="zh-CN" altLang="en-US" sz="2800" b="1" dirty="0">
                <a:solidFill>
                  <a:srgbClr val="FF0000"/>
                </a:solidFill>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是常用的结构型设计模式之一，当直接访问某些对象存在问题时可以通过一个代理对象来间接访问，为了保证客户端使用的透明性，所访问的真实对象与代理对象需要实现相同的接口。</a:t>
            </a:r>
            <a:endParaRPr lang="zh-CN" altLang="en-US" sz="2800" b="1" dirty="0">
              <a:latin typeface="微软雅黑" panose="020B0503020204020204" pitchFamily="34" charset="-122"/>
              <a:ea typeface="微软雅黑" panose="020B0503020204020204" pitchFamily="34" charset="-122"/>
            </a:endParaRPr>
          </a:p>
          <a:p>
            <a:pPr indent="457200">
              <a:lnSpc>
                <a:spcPct val="150000"/>
              </a:lnSpc>
            </a:pPr>
            <a:endParaRPr lang="zh-CN" altLang="en-US" sz="2800" b="1" dirty="0">
              <a:latin typeface="微软雅黑" panose="020B0503020204020204" pitchFamily="34" charset="-122"/>
              <a:ea typeface="微软雅黑" panose="020B0503020204020204" pitchFamily="34" charset="-122"/>
            </a:endParaRPr>
          </a:p>
          <a:p>
            <a:pPr indent="457200">
              <a:lnSpc>
                <a:spcPct val="150000"/>
              </a:lnSpc>
            </a:pPr>
            <a:r>
              <a:rPr lang="zh-CN" altLang="en-US" sz="2800" b="1" dirty="0" smtClean="0">
                <a:latin typeface="微软雅黑" panose="020B0503020204020204" pitchFamily="34" charset="-122"/>
                <a:ea typeface="微软雅黑" panose="020B0503020204020204" pitchFamily="34" charset="-122"/>
              </a:rPr>
              <a:t>根据</a:t>
            </a:r>
            <a:r>
              <a:rPr lang="zh-CN" altLang="en-US" sz="2800" b="1" dirty="0">
                <a:latin typeface="微软雅黑" panose="020B0503020204020204" pitchFamily="34" charset="-122"/>
                <a:ea typeface="微软雅黑" panose="020B0503020204020204" pitchFamily="34" charset="-122"/>
              </a:rPr>
              <a:t>代理模式使用目的的不同，代理模式又可以分为多种类型，如远程代理、虚拟代理、保护代理等，它们应用与不同的场合，满足用户不同的需求。代理模式是一种对象结构型模式</a:t>
            </a:r>
            <a:r>
              <a:rPr lang="zh-CN" altLang="en-US" sz="2800" b="1" dirty="0" smtClean="0">
                <a:latin typeface="微软雅黑" panose="020B0503020204020204" pitchFamily="34" charset="-122"/>
                <a:ea typeface="微软雅黑" panose="020B0503020204020204" pitchFamily="34" charset="-122"/>
              </a:rPr>
              <a:t>。</a:t>
            </a:r>
            <a:r>
              <a:rPr lang="zh-CN" altLang="en-US" sz="2800" dirty="0" smtClean="0">
                <a:latin typeface="微软雅黑" panose="020B0503020204020204" pitchFamily="34" charset="-122"/>
                <a:ea typeface="微软雅黑" panose="020B0503020204020204" pitchFamily="34" charset="-122"/>
              </a:rPr>
              <a:t>  </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599" y="2709714"/>
            <a:ext cx="10729192" cy="2031325"/>
          </a:xfrm>
          <a:prstGeom prst="rect">
            <a:avLst/>
          </a:prstGeom>
          <a:noFill/>
        </p:spPr>
        <p:txBody>
          <a:bodyPr wrap="square" rtlCol="0">
            <a:spAutoFit/>
          </a:bodyPr>
          <a:lstStyle/>
          <a:p>
            <a:pPr>
              <a:lnSpc>
                <a:spcPct val="150000"/>
              </a:lnSpc>
            </a:pPr>
            <a:r>
              <a:rPr lang="zh-CN" altLang="en-US" sz="2800" b="1" dirty="0" smtClean="0">
                <a:latin typeface="微软雅黑" panose="020B0503020204020204" pitchFamily="34" charset="-122"/>
                <a:ea typeface="微软雅黑" panose="020B0503020204020204" pitchFamily="34" charset="-122"/>
              </a:rPr>
              <a:t>本章难点：</a:t>
            </a:r>
            <a:endParaRPr lang="en-US" altLang="zh-CN" sz="2800" b="1" dirty="0" smtClean="0">
              <a:latin typeface="微软雅黑" panose="020B0503020204020204" pitchFamily="34" charset="-122"/>
              <a:ea typeface="微软雅黑" panose="020B0503020204020204" pitchFamily="34" charset="-122"/>
            </a:endParaRPr>
          </a:p>
          <a:p>
            <a:pPr>
              <a:lnSpc>
                <a:spcPct val="150000"/>
              </a:lnSpc>
            </a:pPr>
            <a:r>
              <a:rPr lang="en-US" altLang="zh-CN" sz="2800" dirty="0" smtClean="0">
                <a:latin typeface="微软雅黑" panose="020B0503020204020204" pitchFamily="34" charset="-122"/>
                <a:ea typeface="微软雅黑" panose="020B0503020204020204" pitchFamily="34" charset="-122"/>
              </a:rPr>
              <a:t>1</a:t>
            </a:r>
            <a:r>
              <a:rPr lang="zh-CN" altLang="en-US" sz="2800" dirty="0">
                <a:latin typeface="微软雅黑" panose="020B0503020204020204" pitchFamily="34" charset="-122"/>
                <a:ea typeface="微软雅黑" panose="020B0503020204020204" pitchFamily="34" charset="-122"/>
              </a:rPr>
              <a:t>、理解不同类型的代理模式的原理</a:t>
            </a:r>
            <a:r>
              <a:rPr lang="zh-CN" altLang="en-US" sz="2800" dirty="0" smtClean="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a:p>
            <a:pPr>
              <a:lnSpc>
                <a:spcPct val="150000"/>
              </a:lnSpc>
            </a:pPr>
            <a:r>
              <a:rPr lang="en-US" altLang="zh-CN" sz="2800" dirty="0" smtClean="0">
                <a:latin typeface="微软雅黑" panose="020B0503020204020204" pitchFamily="34" charset="-122"/>
                <a:ea typeface="微软雅黑" panose="020B0503020204020204" pitchFamily="34" charset="-122"/>
              </a:rPr>
              <a:t>2</a:t>
            </a:r>
            <a:r>
              <a:rPr lang="zh-CN" altLang="en-US" sz="2800" dirty="0" smtClean="0">
                <a:latin typeface="微软雅黑" panose="020B0503020204020204" pitchFamily="34" charset="-122"/>
                <a:ea typeface="微软雅黑" panose="020B0503020204020204" pitchFamily="34" charset="-122"/>
              </a:rPr>
              <a:t>、理解</a:t>
            </a:r>
            <a:r>
              <a:rPr lang="zh-CN" altLang="en-US" sz="2800" dirty="0">
                <a:latin typeface="微软雅黑" panose="020B0503020204020204" pitchFamily="34" charset="-122"/>
                <a:ea typeface="微软雅黑" panose="020B0503020204020204" pitchFamily="34" charset="-122"/>
              </a:rPr>
              <a:t>不同类型的代理模式的适用情况和实现</a:t>
            </a:r>
            <a:r>
              <a:rPr lang="zh-CN" altLang="en-US" sz="2800" dirty="0" smtClean="0">
                <a:latin typeface="微软雅黑" panose="020B0503020204020204" pitchFamily="34" charset="-122"/>
                <a:ea typeface="微软雅黑" panose="020B0503020204020204" pitchFamily="34" charset="-122"/>
              </a:rPr>
              <a:t>方式。</a:t>
            </a:r>
            <a:endParaRPr lang="zh-CN" altLang="en-US" sz="2800" dirty="0">
              <a:latin typeface="微软雅黑" panose="020B0503020204020204" pitchFamily="34" charset="-122"/>
              <a:ea typeface="微软雅黑" panose="020B0503020204020204" pitchFamily="34" charset="-122"/>
            </a:endParaRPr>
          </a:p>
        </p:txBody>
      </p:sp>
      <p:sp>
        <p:nvSpPr>
          <p:cNvPr id="3" name="TextBox 2"/>
          <p:cNvSpPr txBox="1"/>
          <p:nvPr/>
        </p:nvSpPr>
        <p:spPr>
          <a:xfrm>
            <a:off x="986607" y="1197546"/>
            <a:ext cx="10081120" cy="1308884"/>
          </a:xfrm>
          <a:prstGeom prst="rect">
            <a:avLst/>
          </a:prstGeom>
          <a:noFill/>
        </p:spPr>
        <p:txBody>
          <a:bodyPr wrap="square" rtlCol="0">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代理</a:t>
            </a:r>
            <a:r>
              <a:rPr lang="zh-CN" altLang="en-US" sz="2800" b="1" dirty="0" smtClean="0">
                <a:latin typeface="微软雅黑" panose="020B0503020204020204" pitchFamily="34" charset="-122"/>
                <a:ea typeface="微软雅黑" panose="020B0503020204020204" pitchFamily="34" charset="-122"/>
              </a:rPr>
              <a:t>模式重要等级：</a:t>
            </a:r>
            <a:r>
              <a:rPr lang="zh-CN" altLang="zh-CN" sz="2800" b="1" kern="100" dirty="0" smtClean="0">
                <a:solidFill>
                  <a:srgbClr val="FF3300"/>
                </a:solidFill>
                <a:latin typeface="微软雅黑" panose="020B0503020204020204" pitchFamily="34" charset="-122"/>
                <a:ea typeface="微软雅黑" panose="020B0503020204020204" pitchFamily="34" charset="-122"/>
                <a:cs typeface="Times New Roman" panose="02020603050405020304"/>
              </a:rPr>
              <a:t>★★★★☆</a:t>
            </a:r>
            <a:endParaRPr lang="en-US" altLang="zh-CN" sz="2800" b="1" kern="100" dirty="0" smtClean="0">
              <a:solidFill>
                <a:srgbClr val="FF3300"/>
              </a:solidFill>
              <a:latin typeface="微软雅黑" panose="020B0503020204020204" pitchFamily="34" charset="-122"/>
              <a:ea typeface="微软雅黑" panose="020B0503020204020204" pitchFamily="34" charset="-122"/>
              <a:cs typeface="Times New Roman" panose="02020603050405020304"/>
            </a:endParaRPr>
          </a:p>
          <a:p>
            <a:pPr>
              <a:lnSpc>
                <a:spcPct val="150000"/>
              </a:lnSpc>
            </a:pPr>
            <a:r>
              <a:rPr lang="zh-CN" altLang="en-US" sz="2800" b="1" dirty="0" smtClean="0">
                <a:latin typeface="微软雅黑" panose="020B0503020204020204" pitchFamily="34" charset="-122"/>
                <a:ea typeface="微软雅黑" panose="020B0503020204020204" pitchFamily="34" charset="-122"/>
              </a:rPr>
              <a:t>代理模式难度等级：</a:t>
            </a:r>
            <a:r>
              <a:rPr lang="zh-CN" altLang="zh-CN" sz="2800" b="1" kern="100" dirty="0">
                <a:solidFill>
                  <a:srgbClr val="FF3300"/>
                </a:solidFill>
                <a:latin typeface="微软雅黑" panose="020B0503020204020204" pitchFamily="34" charset="-122"/>
                <a:ea typeface="微软雅黑" panose="020B0503020204020204" pitchFamily="34" charset="-122"/>
                <a:cs typeface="Times New Roman" panose="02020603050405020304"/>
              </a:rPr>
              <a:t>★★★☆☆</a:t>
            </a:r>
            <a:endParaRPr lang="zh-CN" altLang="zh-CN" sz="2800" b="1" kern="100" dirty="0">
              <a:solidFill>
                <a:srgbClr val="FF3300"/>
              </a:solidFill>
              <a:latin typeface="微软雅黑" panose="020B0503020204020204" pitchFamily="34" charset="-122"/>
              <a:ea typeface="微软雅黑" panose="020B0503020204020204" pitchFamily="34" charset="-122"/>
              <a:cs typeface="Times New Roman" panose="02020603050405020304"/>
            </a:endParaRPr>
          </a:p>
        </p:txBody>
      </p:sp>
    </p:spTree>
  </p:cSld>
  <p:clrMapOvr>
    <a:masterClrMapping/>
  </p:clrMapOvr>
  <p:transition spd="slow" advTm="0">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16.1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模式动机与定义</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内容占位符 2"/>
          <p:cNvSpPr txBox="1"/>
          <p:nvPr/>
        </p:nvSpPr>
        <p:spPr>
          <a:xfrm>
            <a:off x="236079" y="1116937"/>
            <a:ext cx="3219580" cy="123273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模式动机</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b="1" dirty="0" smtClean="0">
                <a:solidFill>
                  <a:srgbClr val="EC7328"/>
                </a:solidFill>
                <a:latin typeface="微软雅黑" panose="020B0503020204020204" pitchFamily="34" charset="-122"/>
                <a:ea typeface="微软雅黑" panose="020B0503020204020204" pitchFamily="34" charset="-122"/>
              </a:rPr>
              <a:t>代理小实例</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p:txBody>
      </p:sp>
      <p:pic>
        <p:nvPicPr>
          <p:cNvPr id="9" name="Picture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91063" y="909514"/>
            <a:ext cx="5246347" cy="2308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对象 3"/>
          <p:cNvGraphicFramePr>
            <a:graphicFrameLocks noChangeAspect="1"/>
          </p:cNvGraphicFramePr>
          <p:nvPr/>
        </p:nvGraphicFramePr>
        <p:xfrm>
          <a:off x="1403982" y="3535189"/>
          <a:ext cx="9087681" cy="2918941"/>
        </p:xfrm>
        <a:graphic>
          <a:graphicData uri="http://schemas.openxmlformats.org/presentationml/2006/ole">
            <mc:AlternateContent xmlns:mc="http://schemas.openxmlformats.org/markup-compatibility/2006">
              <mc:Choice xmlns:v="urn:schemas-microsoft-com:vml" Requires="v">
                <p:oleObj spid="_x0000_s1039" name="Visio" r:id="rId2" imgW="9817100" imgH="3670300" progId="Visio.Drawing.11">
                  <p:embed/>
                </p:oleObj>
              </mc:Choice>
              <mc:Fallback>
                <p:oleObj name="Visio" r:id="rId2" imgW="9817100" imgH="3670300"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982" y="3535189"/>
                        <a:ext cx="9087681" cy="2918941"/>
                      </a:xfrm>
                      <a:prstGeom prst="rect">
                        <a:avLst/>
                      </a:prstGeom>
                      <a:noFill/>
                      <a:ln>
                        <a:noFill/>
                      </a:ln>
                    </p:spPr>
                  </p:pic>
                </p:oleObj>
              </mc:Fallback>
            </mc:AlternateContent>
          </a:graphicData>
        </a:graphic>
      </p:graphicFrame>
    </p:spTree>
  </p:cSld>
  <p:clrMapOvr>
    <a:masterClrMapping/>
  </p:clrMapOvr>
  <p:transition spd="slow" advTm="0">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16.1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模式动机与定义</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内容占位符 2"/>
          <p:cNvSpPr txBox="1"/>
          <p:nvPr/>
        </p:nvSpPr>
        <p:spPr>
          <a:xfrm>
            <a:off x="236079" y="1174683"/>
            <a:ext cx="11144128" cy="304719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模式动机</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通过</a:t>
            </a:r>
            <a:r>
              <a:rPr lang="zh-CN" altLang="en-US" sz="2800" dirty="0">
                <a:solidFill>
                  <a:srgbClr val="EC7328"/>
                </a:solidFill>
                <a:latin typeface="微软雅黑" panose="020B0503020204020204" pitchFamily="34" charset="-122"/>
                <a:ea typeface="微软雅黑" panose="020B0503020204020204" pitchFamily="34" charset="-122"/>
              </a:rPr>
              <a:t>引入一个新的对象</a:t>
            </a:r>
            <a:r>
              <a:rPr lang="zh-CN" altLang="en-US" sz="2800" dirty="0">
                <a:latin typeface="微软雅黑" panose="020B0503020204020204" pitchFamily="34" charset="-122"/>
                <a:ea typeface="微软雅黑" panose="020B0503020204020204" pitchFamily="34" charset="-122"/>
              </a:rPr>
              <a:t>（如小图片和远程代理对象）</a:t>
            </a:r>
            <a:r>
              <a:rPr lang="zh-CN" altLang="en-US" sz="2800" dirty="0">
                <a:solidFill>
                  <a:srgbClr val="EC7328"/>
                </a:solidFill>
                <a:latin typeface="微软雅黑" panose="020B0503020204020204" pitchFamily="34" charset="-122"/>
                <a:ea typeface="微软雅黑" panose="020B0503020204020204" pitchFamily="34" charset="-122"/>
              </a:rPr>
              <a:t>来实现对真实对象的操作</a:t>
            </a:r>
            <a:r>
              <a:rPr lang="zh-CN" altLang="en-US" sz="2800" dirty="0">
                <a:latin typeface="微软雅黑" panose="020B0503020204020204" pitchFamily="34" charset="-122"/>
                <a:ea typeface="微软雅黑" panose="020B0503020204020204" pitchFamily="34" charset="-122"/>
              </a:rPr>
              <a:t>，或者</a:t>
            </a:r>
            <a:r>
              <a:rPr lang="zh-CN" altLang="en-US" sz="2800" dirty="0">
                <a:solidFill>
                  <a:srgbClr val="EC7328"/>
                </a:solidFill>
                <a:latin typeface="微软雅黑" panose="020B0503020204020204" pitchFamily="34" charset="-122"/>
                <a:ea typeface="微软雅黑" panose="020B0503020204020204" pitchFamily="34" charset="-122"/>
              </a:rPr>
              <a:t>将新的对象作为真实对象的一个替身</a:t>
            </a:r>
            <a:endParaRPr lang="zh-CN" altLang="en-US" sz="2800" dirty="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solidFill>
                  <a:srgbClr val="EC7328"/>
                </a:solidFill>
                <a:latin typeface="微软雅黑" panose="020B0503020204020204" pitchFamily="34" charset="-122"/>
                <a:ea typeface="微软雅黑" panose="020B0503020204020204" pitchFamily="34" charset="-122"/>
              </a:rPr>
              <a:t>引入</a:t>
            </a:r>
            <a:r>
              <a:rPr lang="zh-CN" altLang="en-US" sz="2800" dirty="0">
                <a:solidFill>
                  <a:srgbClr val="EC7328"/>
                </a:solidFill>
                <a:latin typeface="微软雅黑" panose="020B0503020204020204" pitchFamily="34" charset="-122"/>
                <a:ea typeface="微软雅黑" panose="020B0503020204020204" pitchFamily="34" charset="-122"/>
              </a:rPr>
              <a:t>代理对象来间接访问一个</a:t>
            </a:r>
            <a:r>
              <a:rPr lang="zh-CN" altLang="en-US" sz="2800" dirty="0" smtClean="0">
                <a:solidFill>
                  <a:srgbClr val="EC7328"/>
                </a:solidFill>
                <a:latin typeface="微软雅黑" panose="020B0503020204020204" pitchFamily="34" charset="-122"/>
                <a:ea typeface="微软雅黑" panose="020B0503020204020204" pitchFamily="34" charset="-122"/>
              </a:rPr>
              <a:t>对象  </a:t>
            </a:r>
            <a:r>
              <a:rPr lang="en-US" altLang="zh-CN" sz="2800" dirty="0" smtClean="0">
                <a:latin typeface="微软雅黑" panose="020B0503020204020204" pitchFamily="34" charset="-122"/>
                <a:ea typeface="微软雅黑" panose="020B0503020204020204" pitchFamily="34" charset="-122"/>
                <a:sym typeface="Wingdings" panose="05000000000000000000" pitchFamily="2" charset="2"/>
              </a:rPr>
              <a:t>  </a:t>
            </a:r>
            <a:r>
              <a:rPr lang="zh-CN" altLang="en-US" sz="2800" b="1" dirty="0" smtClean="0">
                <a:solidFill>
                  <a:srgbClr val="47B3BF"/>
                </a:solidFill>
                <a:latin typeface="微软雅黑" panose="020B0503020204020204" pitchFamily="34" charset="-122"/>
                <a:ea typeface="微软雅黑" panose="020B0503020204020204" pitchFamily="34" charset="-122"/>
                <a:sym typeface="Wingdings" panose="05000000000000000000" pitchFamily="2" charset="2"/>
              </a:rPr>
              <a:t>代理模式</a:t>
            </a:r>
            <a:endParaRPr lang="en-US" altLang="zh-CN" sz="2800" b="1" dirty="0" smtClean="0">
              <a:solidFill>
                <a:srgbClr val="47B3BF"/>
              </a:solidFill>
              <a:latin typeface="微软雅黑" panose="020B0503020204020204" pitchFamily="34" charset="-122"/>
              <a:ea typeface="微软雅黑" panose="020B0503020204020204" pitchFamily="34" charset="-122"/>
              <a:sym typeface="Wingdings" panose="05000000000000000000" pitchFamily="2" charset="2"/>
            </a:endParaRPr>
          </a:p>
          <a:p>
            <a:pPr marL="800100" lvl="1" indent="-342900" algn="l">
              <a:lnSpc>
                <a:spcPct val="150000"/>
              </a:lnSpc>
              <a:buClr>
                <a:srgbClr val="EC7328"/>
              </a:buClr>
              <a:buFont typeface="Wingdings" panose="05000000000000000000" pitchFamily="2" charset="2"/>
              <a:buChar char="ü"/>
            </a:pPr>
            <a:endParaRPr lang="en-US" altLang="zh-CN" sz="2800" b="1" dirty="0">
              <a:solidFill>
                <a:srgbClr val="47B3BF"/>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16.1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模式动机与定义</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内容占位符 2"/>
          <p:cNvSpPr txBox="1"/>
          <p:nvPr/>
        </p:nvSpPr>
        <p:spPr>
          <a:xfrm>
            <a:off x="427655" y="1174683"/>
            <a:ext cx="11144128" cy="52074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模式定义</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代理</a:t>
            </a:r>
            <a:r>
              <a:rPr lang="zh-CN" altLang="en-US" sz="2800" dirty="0">
                <a:latin typeface="微软雅黑" panose="020B0503020204020204" pitchFamily="34" charset="-122"/>
                <a:ea typeface="微软雅黑" panose="020B0503020204020204" pitchFamily="34" charset="-122"/>
              </a:rPr>
              <a:t>模式</a:t>
            </a:r>
            <a:r>
              <a:rPr lang="en-US" altLang="zh-CN" sz="2800" dirty="0">
                <a:latin typeface="微软雅黑" panose="020B0503020204020204" pitchFamily="34" charset="-122"/>
                <a:ea typeface="微软雅黑" panose="020B0503020204020204" pitchFamily="34" charset="-122"/>
              </a:rPr>
              <a:t>(Proxy Pattern) </a:t>
            </a:r>
            <a:r>
              <a:rPr lang="zh-CN" altLang="en-US" sz="2800" dirty="0">
                <a:latin typeface="微软雅黑" panose="020B0503020204020204" pitchFamily="34" charset="-122"/>
                <a:ea typeface="微软雅黑" panose="020B0503020204020204" pitchFamily="34" charset="-122"/>
              </a:rPr>
              <a:t>：给某一个对象</a:t>
            </a:r>
            <a:r>
              <a:rPr lang="zh-CN" altLang="en-US" sz="2800" dirty="0">
                <a:solidFill>
                  <a:srgbClr val="EC7328"/>
                </a:solidFill>
                <a:latin typeface="微软雅黑" panose="020B0503020204020204" pitchFamily="34" charset="-122"/>
                <a:ea typeface="微软雅黑" panose="020B0503020204020204" pitchFamily="34" charset="-122"/>
              </a:rPr>
              <a:t>提供一个代理</a:t>
            </a:r>
            <a:r>
              <a:rPr lang="zh-CN" altLang="en-US" sz="2800" dirty="0">
                <a:latin typeface="微软雅黑" panose="020B0503020204020204" pitchFamily="34" charset="-122"/>
                <a:ea typeface="微软雅黑" panose="020B0503020204020204" pitchFamily="34" charset="-122"/>
              </a:rPr>
              <a:t>，并</a:t>
            </a:r>
            <a:r>
              <a:rPr lang="zh-CN" altLang="en-US" sz="2800" dirty="0">
                <a:solidFill>
                  <a:srgbClr val="EC7328"/>
                </a:solidFill>
                <a:latin typeface="微软雅黑" panose="020B0503020204020204" pitchFamily="34" charset="-122"/>
                <a:ea typeface="微软雅黑" panose="020B0503020204020204" pitchFamily="34" charset="-122"/>
              </a:rPr>
              <a:t>由代理对象控制对原对象的</a:t>
            </a:r>
            <a:r>
              <a:rPr lang="zh-CN" altLang="en-US" sz="2800" dirty="0" smtClean="0">
                <a:solidFill>
                  <a:srgbClr val="EC7328"/>
                </a:solidFill>
                <a:latin typeface="微软雅黑" panose="020B0503020204020204" pitchFamily="34" charset="-122"/>
                <a:ea typeface="微软雅黑" panose="020B0503020204020204" pitchFamily="34" charset="-122"/>
              </a:rPr>
              <a:t>引用</a:t>
            </a:r>
            <a:endParaRPr lang="en-US" altLang="zh-CN" sz="2800" dirty="0" smtClean="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对象</a:t>
            </a:r>
            <a:r>
              <a:rPr lang="zh-CN" altLang="en-US" sz="2800" dirty="0">
                <a:latin typeface="微软雅黑" panose="020B0503020204020204" pitchFamily="34" charset="-122"/>
                <a:ea typeface="微软雅黑" panose="020B0503020204020204" pitchFamily="34" charset="-122"/>
              </a:rPr>
              <a:t>结构型</a:t>
            </a:r>
            <a:r>
              <a:rPr lang="zh-CN" altLang="en-US" sz="2800" dirty="0" smtClean="0">
                <a:latin typeface="微软雅黑" panose="020B0503020204020204" pitchFamily="34" charset="-122"/>
                <a:ea typeface="微软雅黑" panose="020B0503020204020204" pitchFamily="34" charset="-122"/>
              </a:rPr>
              <a:t>模式</a:t>
            </a:r>
            <a:endParaRPr lang="en-US" altLang="zh-CN" sz="2800"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代理对象可以在客户端和目标对象之间起到</a:t>
            </a:r>
            <a:r>
              <a:rPr lang="zh-CN" altLang="en-US" sz="2800" dirty="0">
                <a:solidFill>
                  <a:srgbClr val="EC7328"/>
                </a:solidFill>
                <a:latin typeface="微软雅黑" panose="020B0503020204020204" pitchFamily="34" charset="-122"/>
                <a:ea typeface="微软雅黑" panose="020B0503020204020204" pitchFamily="34" charset="-122"/>
              </a:rPr>
              <a:t>中介的</a:t>
            </a:r>
            <a:r>
              <a:rPr lang="zh-CN" altLang="en-US" sz="2800" dirty="0" smtClean="0">
                <a:solidFill>
                  <a:srgbClr val="EC7328"/>
                </a:solidFill>
                <a:latin typeface="微软雅黑" panose="020B0503020204020204" pitchFamily="34" charset="-122"/>
                <a:ea typeface="微软雅黑" panose="020B0503020204020204" pitchFamily="34" charset="-122"/>
              </a:rPr>
              <a:t>作用</a:t>
            </a:r>
            <a:endParaRPr lang="en-US" altLang="zh-CN" sz="28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通过</a:t>
            </a:r>
            <a:r>
              <a:rPr lang="zh-CN" altLang="en-US" sz="2800" dirty="0">
                <a:latin typeface="微软雅黑" panose="020B0503020204020204" pitchFamily="34" charset="-122"/>
                <a:ea typeface="微软雅黑" panose="020B0503020204020204" pitchFamily="34" charset="-122"/>
              </a:rPr>
              <a:t>代理对象</a:t>
            </a:r>
            <a:r>
              <a:rPr lang="zh-CN" altLang="en-US" sz="2800" dirty="0">
                <a:solidFill>
                  <a:srgbClr val="EC7328"/>
                </a:solidFill>
                <a:latin typeface="微软雅黑" panose="020B0503020204020204" pitchFamily="34" charset="-122"/>
                <a:ea typeface="微软雅黑" panose="020B0503020204020204" pitchFamily="34" charset="-122"/>
              </a:rPr>
              <a:t>去掉客户不能看到的内容和服务</a:t>
            </a:r>
            <a:r>
              <a:rPr lang="zh-CN" altLang="en-US" sz="2800" dirty="0">
                <a:latin typeface="微软雅黑" panose="020B0503020204020204" pitchFamily="34" charset="-122"/>
                <a:ea typeface="微软雅黑" panose="020B0503020204020204" pitchFamily="34" charset="-122"/>
              </a:rPr>
              <a:t>或者</a:t>
            </a:r>
            <a:r>
              <a:rPr lang="zh-CN" altLang="en-US" sz="2800" dirty="0">
                <a:solidFill>
                  <a:srgbClr val="EC7328"/>
                </a:solidFill>
                <a:latin typeface="微软雅黑" panose="020B0503020204020204" pitchFamily="34" charset="-122"/>
                <a:ea typeface="微软雅黑" panose="020B0503020204020204" pitchFamily="34" charset="-122"/>
              </a:rPr>
              <a:t>添加客户需要的</a:t>
            </a:r>
            <a:r>
              <a:rPr lang="zh-CN" altLang="en-US" sz="2800" dirty="0" smtClean="0">
                <a:solidFill>
                  <a:srgbClr val="EC7328"/>
                </a:solidFill>
                <a:latin typeface="微软雅黑" panose="020B0503020204020204" pitchFamily="34" charset="-122"/>
                <a:ea typeface="微软雅黑" panose="020B0503020204020204" pitchFamily="34" charset="-122"/>
              </a:rPr>
              <a:t>额外的新服务</a:t>
            </a: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30623" y="981522"/>
            <a:ext cx="9685076" cy="561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内容占位符 2"/>
          <p:cNvSpPr txBox="1"/>
          <p:nvPr/>
        </p:nvSpPr>
        <p:spPr>
          <a:xfrm>
            <a:off x="427655" y="1174683"/>
            <a:ext cx="4519392" cy="67093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模式结构</a:t>
            </a:r>
            <a:endParaRPr lang="zh-CN" altLang="en-US" sz="2800" b="1" dirty="0">
              <a:latin typeface="微软雅黑" panose="020B0503020204020204" pitchFamily="34" charset="-122"/>
              <a:ea typeface="微软雅黑" panose="020B0503020204020204" pitchFamily="34" charset="-122"/>
            </a:endParaRPr>
          </a:p>
        </p:txBody>
      </p:sp>
      <p:sp>
        <p:nvSpPr>
          <p:cNvPr id="17" name="TextBox 16"/>
          <p:cNvSpPr txBox="1"/>
          <p:nvPr/>
        </p:nvSpPr>
        <p:spPr>
          <a:xfrm>
            <a:off x="266527" y="2595311"/>
            <a:ext cx="2420824" cy="52322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sz="2800" dirty="0" smtClean="0">
                <a:latin typeface="微软雅黑" panose="020B0503020204020204" pitchFamily="34" charset="-122"/>
                <a:ea typeface="微软雅黑" panose="020B0503020204020204" pitchFamily="34" charset="-122"/>
              </a:rPr>
              <a:t>代理主题角色</a:t>
            </a:r>
            <a:endParaRPr lang="zh-CN" altLang="en-US" sz="2800" dirty="0">
              <a:latin typeface="微软雅黑" panose="020B0503020204020204" pitchFamily="34" charset="-122"/>
              <a:ea typeface="微软雅黑" panose="020B0503020204020204" pitchFamily="34" charset="-122"/>
            </a:endParaRPr>
          </a:p>
        </p:txBody>
      </p:sp>
      <p:sp>
        <p:nvSpPr>
          <p:cNvPr id="11" name="TextBox 10"/>
          <p:cNvSpPr txBox="1"/>
          <p:nvPr/>
        </p:nvSpPr>
        <p:spPr>
          <a:xfrm>
            <a:off x="9033151" y="2856921"/>
            <a:ext cx="2538631" cy="52322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sz="2800" dirty="0" smtClean="0">
                <a:latin typeface="微软雅黑" panose="020B0503020204020204" pitchFamily="34" charset="-122"/>
                <a:ea typeface="微软雅黑" panose="020B0503020204020204" pitchFamily="34" charset="-122"/>
              </a:rPr>
              <a:t>真实主题角色</a:t>
            </a:r>
            <a:endParaRPr lang="zh-CN" altLang="en-US" sz="2800" dirty="0">
              <a:latin typeface="微软雅黑" panose="020B0503020204020204" pitchFamily="34" charset="-122"/>
              <a:ea typeface="微软雅黑" panose="020B0503020204020204" pitchFamily="34" charset="-122"/>
            </a:endParaRPr>
          </a:p>
        </p:txBody>
      </p:sp>
      <p:sp>
        <p:nvSpPr>
          <p:cNvPr id="12" name="TextBox 11"/>
          <p:cNvSpPr txBox="1"/>
          <p:nvPr/>
        </p:nvSpPr>
        <p:spPr>
          <a:xfrm>
            <a:off x="8394875" y="803915"/>
            <a:ext cx="2420824" cy="523220"/>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zh-CN" altLang="en-US" sz="2800" dirty="0" smtClean="0">
                <a:latin typeface="微软雅黑" panose="020B0503020204020204" pitchFamily="34" charset="-122"/>
                <a:ea typeface="微软雅黑" panose="020B0503020204020204" pitchFamily="34" charset="-122"/>
              </a:rPr>
              <a:t>抽象主题角色</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内容占位符 2"/>
          <p:cNvSpPr txBox="1"/>
          <p:nvPr/>
        </p:nvSpPr>
        <p:spPr>
          <a:xfrm>
            <a:off x="931711" y="837507"/>
            <a:ext cx="10712080" cy="6163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模式分析</a:t>
            </a:r>
            <a:r>
              <a:rPr lang="en-US" altLang="zh-CN" sz="2800" b="1" dirty="0" smtClean="0">
                <a:latin typeface="微软雅黑" panose="020B0503020204020204" pitchFamily="34" charset="-122"/>
                <a:ea typeface="微软雅黑" panose="020B0503020204020204" pitchFamily="34" charset="-122"/>
              </a:rPr>
              <a:t>-</a:t>
            </a:r>
            <a:r>
              <a:rPr lang="zh-CN" altLang="en-US" sz="2800" b="1" dirty="0" smtClean="0">
                <a:latin typeface="微软雅黑" panose="020B0503020204020204" pitchFamily="34" charset="-122"/>
                <a:ea typeface="微软雅黑" panose="020B0503020204020204" pitchFamily="34" charset="-122"/>
              </a:rPr>
              <a:t>抽象主题类示例代码</a:t>
            </a:r>
            <a:r>
              <a:rPr lang="zh-CN" altLang="en-US" sz="2800" dirty="0" smtClean="0">
                <a:latin typeface="微软雅黑" panose="020B0503020204020204" pitchFamily="34" charset="-122"/>
                <a:ea typeface="微软雅黑" panose="020B0503020204020204" pitchFamily="34" charset="-122"/>
              </a:rPr>
              <a:t>：</a:t>
            </a:r>
            <a:endParaRPr lang="zh-CN" altLang="en-US" sz="28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graphicFrame>
        <p:nvGraphicFramePr>
          <p:cNvPr id="11" name="表格 10"/>
          <p:cNvGraphicFramePr>
            <a:graphicFrameLocks noGrp="1"/>
          </p:cNvGraphicFramePr>
          <p:nvPr/>
        </p:nvGraphicFramePr>
        <p:xfrm>
          <a:off x="1130623" y="1341562"/>
          <a:ext cx="9937104" cy="2194560"/>
        </p:xfrm>
        <a:graphic>
          <a:graphicData uri="http://schemas.openxmlformats.org/drawingml/2006/table">
            <a:tbl>
              <a:tblPr/>
              <a:tblGrid>
                <a:gridCol w="9937104"/>
              </a:tblGrid>
              <a:tr h="1564432">
                <a:tc>
                  <a:txBody>
                    <a:bodyPr/>
                    <a:lstStyle/>
                    <a:p>
                      <a:pPr algn="just">
                        <a:lnSpc>
                          <a:spcPct val="150000"/>
                        </a:lnSpc>
                        <a:spcAft>
                          <a:spcPts val="0"/>
                        </a:spcAft>
                      </a:pPr>
                      <a:r>
                        <a:rPr lang="en-US" altLang="zh-CN" sz="3200" b="1" kern="100" dirty="0" smtClean="0">
                          <a:latin typeface="Times New Roman" panose="02020603050405020304"/>
                          <a:ea typeface="+mn-ea"/>
                        </a:rPr>
                        <a:t>public abstract class Subject {</a:t>
                      </a:r>
                      <a:endParaRPr lang="en-US" altLang="zh-CN" sz="3200" b="1" kern="100" dirty="0" smtClean="0">
                        <a:latin typeface="Times New Roman" panose="02020603050405020304"/>
                        <a:ea typeface="+mn-ea"/>
                      </a:endParaRPr>
                    </a:p>
                    <a:p>
                      <a:pPr algn="just">
                        <a:lnSpc>
                          <a:spcPct val="150000"/>
                        </a:lnSpc>
                        <a:spcAft>
                          <a:spcPts val="0"/>
                        </a:spcAft>
                      </a:pPr>
                      <a:r>
                        <a:rPr lang="en-US" altLang="zh-CN" sz="3200" b="1" kern="100" dirty="0" smtClean="0">
                          <a:latin typeface="Times New Roman" panose="02020603050405020304"/>
                          <a:ea typeface="+mn-ea"/>
                        </a:rPr>
                        <a:t>        public abstract void request();</a:t>
                      </a:r>
                      <a:endParaRPr lang="en-US" altLang="zh-CN" sz="3200" b="1" kern="100" dirty="0" smtClean="0">
                        <a:latin typeface="Times New Roman" panose="02020603050405020304"/>
                        <a:ea typeface="+mn-ea"/>
                      </a:endParaRPr>
                    </a:p>
                    <a:p>
                      <a:pPr algn="just">
                        <a:lnSpc>
                          <a:spcPct val="150000"/>
                        </a:lnSpc>
                        <a:spcAft>
                          <a:spcPts val="0"/>
                        </a:spcAft>
                      </a:pPr>
                      <a:r>
                        <a:rPr lang="en-US" altLang="zh-CN" sz="3200" b="1" kern="100" dirty="0" smtClean="0">
                          <a:latin typeface="Times New Roman" panose="02020603050405020304"/>
                          <a:ea typeface="+mn-ea"/>
                        </a:rPr>
                        <a:t>}</a:t>
                      </a:r>
                      <a:endParaRPr lang="en-US" altLang="zh-CN" sz="3200" b="1" kern="100" dirty="0" smtClean="0">
                        <a:latin typeface="Times New Roman" panose="02020603050405020304"/>
                        <a:ea typeface="+mn-ea"/>
                      </a:endParaRPr>
                    </a:p>
                  </a:txBody>
                  <a:tcPr marL="68580" marR="68580" marT="0" marB="0">
                    <a:lnL>
                      <a:noFill/>
                    </a:lnL>
                    <a:lnR>
                      <a:noFill/>
                    </a:lnR>
                    <a:lnT>
                      <a:noFill/>
                    </a:lnT>
                    <a:lnB>
                      <a:noFill/>
                    </a:lnB>
                    <a:solidFill>
                      <a:srgbClr val="F2F2F2"/>
                    </a:solidFill>
                  </a:tcPr>
                </a:tc>
              </a:tr>
            </a:tbl>
          </a:graphicData>
        </a:graphic>
      </p:graphicFrame>
      <p:sp>
        <p:nvSpPr>
          <p:cNvPr id="5" name="内容占位符 2"/>
          <p:cNvSpPr txBox="1"/>
          <p:nvPr/>
        </p:nvSpPr>
        <p:spPr>
          <a:xfrm>
            <a:off x="949105" y="3501802"/>
            <a:ext cx="10712080" cy="6163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模式分析</a:t>
            </a:r>
            <a:r>
              <a:rPr lang="en-US" altLang="zh-CN" sz="2800" b="1" dirty="0" smtClean="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真实</a:t>
            </a:r>
            <a:r>
              <a:rPr lang="zh-CN" altLang="en-US" sz="2800" b="1" dirty="0" smtClean="0">
                <a:latin typeface="微软雅黑" panose="020B0503020204020204" pitchFamily="34" charset="-122"/>
                <a:ea typeface="微软雅黑" panose="020B0503020204020204" pitchFamily="34" charset="-122"/>
              </a:rPr>
              <a:t>主题类示例代码</a:t>
            </a:r>
            <a:r>
              <a:rPr lang="zh-CN" altLang="en-US" sz="2800" dirty="0" smtClean="0">
                <a:latin typeface="微软雅黑" panose="020B0503020204020204" pitchFamily="34" charset="-122"/>
                <a:ea typeface="微软雅黑" panose="020B0503020204020204" pitchFamily="34" charset="-122"/>
              </a:rPr>
              <a:t>：</a:t>
            </a:r>
            <a:endParaRPr lang="zh-CN" altLang="en-US" sz="28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graphicFrame>
        <p:nvGraphicFramePr>
          <p:cNvPr id="8" name="表格 7"/>
          <p:cNvGraphicFramePr>
            <a:graphicFrameLocks noGrp="1"/>
          </p:cNvGraphicFramePr>
          <p:nvPr/>
        </p:nvGraphicFramePr>
        <p:xfrm>
          <a:off x="1130623" y="4077866"/>
          <a:ext cx="9793088" cy="2438400"/>
        </p:xfrm>
        <a:graphic>
          <a:graphicData uri="http://schemas.openxmlformats.org/drawingml/2006/table">
            <a:tbl>
              <a:tblPr/>
              <a:tblGrid>
                <a:gridCol w="9793088"/>
              </a:tblGrid>
              <a:tr h="1036637">
                <a:tc>
                  <a:txBody>
                    <a:bodyPr/>
                    <a:lstStyle/>
                    <a:p>
                      <a:pPr marL="0" algn="just" defTabSz="1219835" rtl="0" eaLnBrk="1" latinLnBrk="0" hangingPunct="1">
                        <a:lnSpc>
                          <a:spcPct val="100000"/>
                        </a:lnSpc>
                        <a:spcAft>
                          <a:spcPts val="0"/>
                        </a:spcAft>
                      </a:pPr>
                      <a:r>
                        <a:rPr lang="en-US" altLang="zh-CN" sz="3200" b="1" kern="100" dirty="0" smtClean="0">
                          <a:solidFill>
                            <a:schemeClr val="tx1"/>
                          </a:solidFill>
                          <a:latin typeface="Times New Roman" panose="02020603050405020304"/>
                          <a:ea typeface="+mn-ea"/>
                          <a:cs typeface="+mn-cs"/>
                        </a:rPr>
                        <a:t>public class </a:t>
                      </a:r>
                      <a:r>
                        <a:rPr lang="en-US" altLang="zh-CN" sz="3200" b="1" kern="100" dirty="0" err="1" smtClean="0">
                          <a:solidFill>
                            <a:schemeClr val="tx1"/>
                          </a:solidFill>
                          <a:latin typeface="Times New Roman" panose="02020603050405020304"/>
                          <a:ea typeface="+mn-ea"/>
                          <a:cs typeface="+mn-cs"/>
                        </a:rPr>
                        <a:t>RealSubject</a:t>
                      </a:r>
                      <a:r>
                        <a:rPr lang="en-US" altLang="zh-CN" sz="3200" b="1" kern="100" dirty="0" smtClean="0">
                          <a:solidFill>
                            <a:schemeClr val="tx1"/>
                          </a:solidFill>
                          <a:latin typeface="Times New Roman" panose="02020603050405020304"/>
                          <a:ea typeface="+mn-ea"/>
                          <a:cs typeface="+mn-cs"/>
                        </a:rPr>
                        <a:t> </a:t>
                      </a:r>
                      <a:r>
                        <a:rPr lang="en-US" altLang="zh-CN" sz="3200" b="1" kern="100" dirty="0" smtClean="0">
                          <a:solidFill>
                            <a:srgbClr val="FF0000"/>
                          </a:solidFill>
                          <a:latin typeface="Times New Roman" panose="02020603050405020304"/>
                          <a:ea typeface="+mn-ea"/>
                          <a:cs typeface="+mn-cs"/>
                        </a:rPr>
                        <a:t>extends Subject</a:t>
                      </a:r>
                      <a:r>
                        <a:rPr lang="en-US" altLang="zh-CN" sz="3200" b="1" kern="100" dirty="0" smtClean="0">
                          <a:solidFill>
                            <a:schemeClr val="tx1"/>
                          </a:solidFill>
                          <a:latin typeface="Times New Roman" panose="02020603050405020304"/>
                          <a:ea typeface="+mn-ea"/>
                          <a:cs typeface="+mn-cs"/>
                        </a:rPr>
                        <a:t>{</a:t>
                      </a:r>
                      <a:endParaRPr lang="zh-CN" altLang="zh-CN" sz="3200" b="1" kern="100" dirty="0" smtClean="0">
                        <a:solidFill>
                          <a:schemeClr val="tx1"/>
                        </a:solidFill>
                        <a:latin typeface="Times New Roman" panose="02020603050405020304"/>
                        <a:ea typeface="+mn-ea"/>
                        <a:cs typeface="+mn-cs"/>
                      </a:endParaRPr>
                    </a:p>
                    <a:p>
                      <a:pPr marL="0" indent="276225" algn="just" defTabSz="1219835" rtl="0" eaLnBrk="1" latinLnBrk="0" hangingPunct="1">
                        <a:lnSpc>
                          <a:spcPct val="100000"/>
                        </a:lnSpc>
                        <a:spcAft>
                          <a:spcPts val="0"/>
                        </a:spcAft>
                      </a:pPr>
                      <a:r>
                        <a:rPr lang="fr-FR" altLang="zh-CN" sz="3200" b="1" kern="100" dirty="0" smtClean="0">
                          <a:solidFill>
                            <a:schemeClr val="tx1"/>
                          </a:solidFill>
                          <a:latin typeface="Times New Roman" panose="02020603050405020304"/>
                          <a:ea typeface="+mn-ea"/>
                          <a:cs typeface="+mn-cs"/>
                        </a:rPr>
                        <a:t>    public void request() {</a:t>
                      </a:r>
                      <a:endParaRPr lang="fr-FR" altLang="zh-CN" sz="3200" b="1" kern="100" dirty="0" smtClean="0">
                        <a:solidFill>
                          <a:schemeClr val="tx1"/>
                        </a:solidFill>
                        <a:latin typeface="Times New Roman" panose="02020603050405020304"/>
                        <a:ea typeface="+mn-ea"/>
                        <a:cs typeface="+mn-cs"/>
                      </a:endParaRPr>
                    </a:p>
                    <a:p>
                      <a:pPr marL="0" indent="276225" algn="just" defTabSz="1219835" rtl="0" eaLnBrk="1" latinLnBrk="0" hangingPunct="1">
                        <a:lnSpc>
                          <a:spcPct val="100000"/>
                        </a:lnSpc>
                        <a:spcAft>
                          <a:spcPts val="0"/>
                        </a:spcAft>
                      </a:pPr>
                      <a:r>
                        <a:rPr lang="fr-FR" altLang="zh-CN" sz="3200" b="1" kern="100" dirty="0" smtClean="0">
                          <a:solidFill>
                            <a:schemeClr val="tx1"/>
                          </a:solidFill>
                          <a:latin typeface="Times New Roman" panose="02020603050405020304"/>
                          <a:ea typeface="+mn-ea"/>
                          <a:cs typeface="+mn-cs"/>
                        </a:rPr>
                        <a:t>          //</a:t>
                      </a:r>
                      <a:r>
                        <a:rPr lang="zh-CN" altLang="en-US" sz="3200" b="1" kern="100" dirty="0" smtClean="0">
                          <a:solidFill>
                            <a:schemeClr val="tx1"/>
                          </a:solidFill>
                          <a:latin typeface="Times New Roman" panose="02020603050405020304"/>
                          <a:ea typeface="+mn-ea"/>
                          <a:cs typeface="+mn-cs"/>
                        </a:rPr>
                        <a:t>业务方法具体实现代码</a:t>
                      </a:r>
                      <a:endParaRPr lang="fr-FR" altLang="zh-CN" sz="3200" b="1" kern="100" dirty="0" smtClean="0">
                        <a:solidFill>
                          <a:schemeClr val="tx1"/>
                        </a:solidFill>
                        <a:latin typeface="Times New Roman" panose="02020603050405020304"/>
                        <a:ea typeface="+mn-ea"/>
                        <a:cs typeface="+mn-cs"/>
                      </a:endParaRPr>
                    </a:p>
                    <a:p>
                      <a:pPr marL="0" indent="276225" algn="just" defTabSz="1219835" rtl="0" eaLnBrk="1" latinLnBrk="0" hangingPunct="1">
                        <a:lnSpc>
                          <a:spcPct val="100000"/>
                        </a:lnSpc>
                        <a:spcAft>
                          <a:spcPts val="0"/>
                        </a:spcAft>
                      </a:pPr>
                      <a:r>
                        <a:rPr lang="fr-FR" altLang="zh-CN" sz="3200" b="1" kern="100" dirty="0" smtClean="0">
                          <a:solidFill>
                            <a:schemeClr val="tx1"/>
                          </a:solidFill>
                          <a:latin typeface="Times New Roman" panose="02020603050405020304"/>
                          <a:ea typeface="+mn-ea"/>
                          <a:cs typeface="+mn-cs"/>
                        </a:rPr>
                        <a:t>    }</a:t>
                      </a:r>
                      <a:endParaRPr lang="zh-CN" altLang="zh-CN" sz="3200" b="1" kern="100" dirty="0" smtClean="0">
                        <a:solidFill>
                          <a:schemeClr val="tx1"/>
                        </a:solidFill>
                        <a:latin typeface="Times New Roman" panose="02020603050405020304"/>
                        <a:ea typeface="+mn-ea"/>
                        <a:cs typeface="+mn-cs"/>
                      </a:endParaRPr>
                    </a:p>
                    <a:p>
                      <a:pPr marL="0" algn="just" defTabSz="1219835" rtl="0" eaLnBrk="1" latinLnBrk="0" hangingPunct="1">
                        <a:lnSpc>
                          <a:spcPct val="100000"/>
                        </a:lnSpc>
                        <a:spcAft>
                          <a:spcPts val="0"/>
                        </a:spcAft>
                      </a:pPr>
                      <a:r>
                        <a:rPr lang="en-US" altLang="zh-CN" sz="3200" b="1" kern="100" dirty="0" smtClean="0">
                          <a:solidFill>
                            <a:schemeClr val="tx1"/>
                          </a:solidFill>
                          <a:latin typeface="Times New Roman" panose="02020603050405020304"/>
                          <a:ea typeface="+mn-ea"/>
                          <a:cs typeface="+mn-cs"/>
                        </a:rPr>
                        <a:t>}</a:t>
                      </a:r>
                      <a:endParaRPr lang="zh-CN" altLang="zh-CN" sz="3200" b="1" kern="100" dirty="0">
                        <a:solidFill>
                          <a:schemeClr val="tx1"/>
                        </a:solidFill>
                        <a:latin typeface="Times New Roman" panose="02020603050405020304"/>
                        <a:ea typeface="+mn-ea"/>
                        <a:cs typeface="+mn-cs"/>
                      </a:endParaRPr>
                    </a:p>
                  </a:txBody>
                  <a:tcPr marL="68580" marR="68580" marT="0" marB="0">
                    <a:lnL>
                      <a:noFill/>
                    </a:lnL>
                    <a:lnR>
                      <a:noFill/>
                    </a:lnR>
                    <a:lnT>
                      <a:noFill/>
                    </a:lnT>
                    <a:lnB>
                      <a:noFill/>
                    </a:lnB>
                    <a:solidFill>
                      <a:srgbClr val="F2F2F2"/>
                    </a:solidFill>
                  </a:tcPr>
                </a:tc>
              </a:tr>
            </a:tbl>
          </a:graphicData>
        </a:graphic>
      </p:graphicFrame>
    </p:spTree>
  </p:cSld>
  <p:clrMapOvr>
    <a:masterClrMapping/>
  </p:clrMapOvr>
  <p:transition spd="slow" advTm="0">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内容占位符 2"/>
          <p:cNvSpPr txBox="1"/>
          <p:nvPr/>
        </p:nvSpPr>
        <p:spPr>
          <a:xfrm>
            <a:off x="931711" y="837507"/>
            <a:ext cx="10712080" cy="61636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模式分析</a:t>
            </a:r>
            <a:r>
              <a:rPr lang="en-US" altLang="zh-CN" sz="2800" b="1" dirty="0" smtClean="0">
                <a:latin typeface="微软雅黑" panose="020B0503020204020204" pitchFamily="34" charset="-122"/>
                <a:ea typeface="微软雅黑" panose="020B0503020204020204" pitchFamily="34" charset="-122"/>
              </a:rPr>
              <a:t>-</a:t>
            </a:r>
            <a:r>
              <a:rPr lang="zh-CN" altLang="en-US" sz="2800" b="1" dirty="0" smtClean="0">
                <a:latin typeface="微软雅黑" panose="020B0503020204020204" pitchFamily="34" charset="-122"/>
                <a:ea typeface="微软雅黑" panose="020B0503020204020204" pitchFamily="34" charset="-122"/>
              </a:rPr>
              <a:t>代理类示例代码</a:t>
            </a:r>
            <a:r>
              <a:rPr lang="zh-CN" altLang="en-US" sz="2800" dirty="0" smtClean="0">
                <a:latin typeface="微软雅黑" panose="020B0503020204020204" pitchFamily="34" charset="-122"/>
                <a:ea typeface="微软雅黑" panose="020B0503020204020204" pitchFamily="34" charset="-122"/>
              </a:rPr>
              <a:t>：</a:t>
            </a:r>
            <a:endParaRPr lang="zh-CN" altLang="en-US" sz="28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graphicFrame>
        <p:nvGraphicFramePr>
          <p:cNvPr id="11" name="表格 10"/>
          <p:cNvGraphicFramePr>
            <a:graphicFrameLocks noGrp="1"/>
          </p:cNvGraphicFramePr>
          <p:nvPr/>
        </p:nvGraphicFramePr>
        <p:xfrm>
          <a:off x="1058615" y="1341562"/>
          <a:ext cx="9937104" cy="5364480"/>
        </p:xfrm>
        <a:graphic>
          <a:graphicData uri="http://schemas.openxmlformats.org/drawingml/2006/table">
            <a:tbl>
              <a:tblPr/>
              <a:tblGrid>
                <a:gridCol w="9937104"/>
              </a:tblGrid>
              <a:tr h="4478757">
                <a:tc>
                  <a:txBody>
                    <a:bodyPr/>
                    <a:lstStyle/>
                    <a:p>
                      <a:r>
                        <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public class Proxy extends Subject {</a:t>
                      </a:r>
                      <a:endPar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b="1" kern="1200" dirty="0"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private </a:t>
                      </a:r>
                      <a:r>
                        <a:rPr lang="en-US" altLang="zh-CN" sz="3200" b="1" kern="1200" dirty="0" err="1"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RealSubject</a:t>
                      </a:r>
                      <a:r>
                        <a:rPr lang="en-US" altLang="zh-CN" sz="3200" b="1" kern="1200" dirty="0"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b="1" kern="1200" dirty="0" err="1"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realSubject</a:t>
                      </a:r>
                      <a:r>
                        <a:rPr lang="en-US" altLang="zh-CN" sz="3200" b="1" kern="1200" dirty="0"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 new </a:t>
                      </a:r>
                      <a:r>
                        <a:rPr lang="en-US" altLang="zh-CN" sz="3200" b="1" kern="1200" dirty="0" err="1"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RealSubject</a:t>
                      </a:r>
                      <a:r>
                        <a:rPr lang="en-US" altLang="zh-CN" sz="3200" b="1" kern="1200" dirty="0"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维持一个对真实主题对象的引用 </a:t>
                      </a:r>
                      <a:endParaRPr lang="zh-CN" altLang="en-US"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en-US"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public void </a:t>
                      </a:r>
                      <a:r>
                        <a:rPr lang="en-US" altLang="zh-CN" sz="3200" b="1" kern="1200" dirty="0" err="1"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preRequest</a:t>
                      </a:r>
                      <a:r>
                        <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    } </a:t>
                      </a:r>
                      <a:endPar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public void request() {</a:t>
                      </a:r>
                      <a:endPar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b="1" kern="1200" dirty="0" err="1"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preRequest</a:t>
                      </a:r>
                      <a:r>
                        <a:rPr lang="en-US" altLang="zh-CN" sz="3200" b="1" kern="1200" dirty="0"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3200" b="1" kern="1200" dirty="0"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b="1" kern="1200" dirty="0"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b="1" kern="1200" dirty="0" err="1"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realSubject.request</a:t>
                      </a:r>
                      <a:r>
                        <a:rPr lang="en-US" altLang="zh-CN" sz="3200" b="1" kern="1200" dirty="0"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调用真实主题对象的方法</a:t>
                      </a:r>
                      <a:endParaRPr lang="zh-CN" altLang="en-US"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en-US"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b="1" kern="1200" dirty="0" err="1"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postRequest</a:t>
                      </a:r>
                      <a:r>
                        <a:rPr lang="en-US" altLang="zh-CN" sz="3200" b="1" kern="1200" dirty="0"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en-US" altLang="zh-CN" sz="3200" b="1" kern="1200" dirty="0"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b="1" kern="1200" dirty="0" smtClean="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public void </a:t>
                      </a:r>
                      <a:r>
                        <a:rPr lang="en-US" altLang="zh-CN" sz="3200" b="1" kern="1200" dirty="0" err="1"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postRequest</a:t>
                      </a:r>
                      <a:r>
                        <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     ……    }</a:t>
                      </a:r>
                      <a:endPar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3200" b="1" kern="1200" dirty="0" smtClean="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lnL>
                      <a:noFill/>
                    </a:lnL>
                    <a:lnR>
                      <a:noFill/>
                    </a:lnR>
                    <a:lnT>
                      <a:noFill/>
                    </a:lnT>
                    <a:lnB>
                      <a:noFill/>
                    </a:lnB>
                    <a:solidFill>
                      <a:srgbClr val="F2F2F2"/>
                    </a:solidFill>
                  </a:tcPr>
                </a:tc>
              </a:tr>
            </a:tbl>
          </a:graphicData>
        </a:graphic>
      </p:graphicFrame>
    </p:spTree>
  </p:cSld>
  <p:clrMapOvr>
    <a:masterClrMapping/>
  </p:clrMapOvr>
  <p:transition spd="slow" advTm="0">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内容占位符 2"/>
          <p:cNvSpPr txBox="1"/>
          <p:nvPr/>
        </p:nvSpPr>
        <p:spPr>
          <a:xfrm>
            <a:off x="338535" y="1034796"/>
            <a:ext cx="11144128" cy="549134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几种常用的代理模式</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solidFill>
                  <a:srgbClr val="EC7328"/>
                </a:solidFill>
                <a:latin typeface="微软雅黑" panose="020B0503020204020204" pitchFamily="34" charset="-122"/>
                <a:ea typeface="微软雅黑" panose="020B0503020204020204" pitchFamily="34" charset="-122"/>
              </a:rPr>
              <a:t>远程</a:t>
            </a:r>
            <a:r>
              <a:rPr lang="zh-CN" altLang="en-US" sz="2800" dirty="0">
                <a:solidFill>
                  <a:srgbClr val="EC7328"/>
                </a:solidFill>
                <a:latin typeface="微软雅黑" panose="020B0503020204020204" pitchFamily="34" charset="-122"/>
                <a:ea typeface="微软雅黑" panose="020B0503020204020204" pitchFamily="34" charset="-122"/>
              </a:rPr>
              <a:t>代理</a:t>
            </a:r>
            <a:r>
              <a:rPr lang="en-US" altLang="zh-CN" sz="2800" dirty="0">
                <a:solidFill>
                  <a:srgbClr val="EC7328"/>
                </a:solidFill>
                <a:latin typeface="微软雅黑" panose="020B0503020204020204" pitchFamily="34" charset="-122"/>
                <a:ea typeface="微软雅黑" panose="020B0503020204020204" pitchFamily="34" charset="-122"/>
              </a:rPr>
              <a:t>(Remote Proxy)</a:t>
            </a:r>
            <a:r>
              <a:rPr lang="zh-CN" altLang="en-US" sz="2800" dirty="0">
                <a:latin typeface="微软雅黑" panose="020B0503020204020204" pitchFamily="34" charset="-122"/>
                <a:ea typeface="微软雅黑" panose="020B0503020204020204" pitchFamily="34" charset="-122"/>
              </a:rPr>
              <a:t>：为一个位于不同的地址空间的对象提供一个本地的代理对象，这个不同的地址空间可以在同一台主机中，也可以在另一台主机中，远程代理又称为大使</a:t>
            </a:r>
            <a:r>
              <a:rPr lang="en-US" altLang="zh-CN" sz="2800" dirty="0">
                <a:latin typeface="微软雅黑" panose="020B0503020204020204" pitchFamily="34" charset="-122"/>
                <a:ea typeface="微软雅黑" panose="020B0503020204020204" pitchFamily="34" charset="-122"/>
              </a:rPr>
              <a:t>(Ambassador)</a:t>
            </a:r>
            <a:endParaRPr lang="en-US" altLang="zh-CN" sz="2800"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solidFill>
                  <a:srgbClr val="EC7328"/>
                </a:solidFill>
                <a:latin typeface="微软雅黑" panose="020B0503020204020204" pitchFamily="34" charset="-122"/>
                <a:ea typeface="微软雅黑" panose="020B0503020204020204" pitchFamily="34" charset="-122"/>
              </a:rPr>
              <a:t>虚拟代理</a:t>
            </a:r>
            <a:r>
              <a:rPr lang="en-US" altLang="zh-CN" sz="2800" dirty="0">
                <a:solidFill>
                  <a:srgbClr val="EC7328"/>
                </a:solidFill>
                <a:latin typeface="微软雅黑" panose="020B0503020204020204" pitchFamily="34" charset="-122"/>
                <a:ea typeface="微软雅黑" panose="020B0503020204020204" pitchFamily="34" charset="-122"/>
              </a:rPr>
              <a:t>(Virtual Proxy)</a:t>
            </a:r>
            <a:r>
              <a:rPr lang="zh-CN" altLang="en-US" sz="2800" dirty="0">
                <a:latin typeface="微软雅黑" panose="020B0503020204020204" pitchFamily="34" charset="-122"/>
                <a:ea typeface="微软雅黑" panose="020B0503020204020204" pitchFamily="34" charset="-122"/>
              </a:rPr>
              <a:t>：如果需要创建一个资源消耗较大的对象，先创建一个消耗相对较小的对象来表示，真实对象只在需要时才会被真正创建</a:t>
            </a:r>
            <a:endParaRPr lang="zh-CN" altLang="en-US" sz="2800" dirty="0">
              <a:latin typeface="微软雅黑" panose="020B0503020204020204" pitchFamily="34" charset="-122"/>
              <a:ea typeface="微软雅黑" panose="020B0503020204020204" pitchFamily="34" charset="-122"/>
            </a:endParaRPr>
          </a:p>
          <a:p>
            <a:pPr lvl="1" algn="l">
              <a:lnSpc>
                <a:spcPct val="150000"/>
              </a:lnSpc>
              <a:buClr>
                <a:srgbClr val="EC7328"/>
              </a:buClr>
            </a:pPr>
            <a:endParaRPr lang="zh-CN" altLang="en-US" sz="2800" b="1"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zh-CN" altLang="en-US" sz="2800" b="1"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zh-CN" altLang="en-US" sz="2800" b="1"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内容占位符 2"/>
          <p:cNvSpPr txBox="1"/>
          <p:nvPr/>
        </p:nvSpPr>
        <p:spPr>
          <a:xfrm>
            <a:off x="338535" y="1034796"/>
            <a:ext cx="11144128" cy="549134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几种常用的代理模式</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solidFill>
                  <a:srgbClr val="EC7328"/>
                </a:solidFill>
                <a:latin typeface="微软雅黑" panose="020B0503020204020204" pitchFamily="34" charset="-122"/>
                <a:ea typeface="微软雅黑" panose="020B0503020204020204" pitchFamily="34" charset="-122"/>
              </a:rPr>
              <a:t>保护</a:t>
            </a:r>
            <a:r>
              <a:rPr lang="zh-CN" altLang="en-US" sz="2800" dirty="0">
                <a:solidFill>
                  <a:srgbClr val="EC7328"/>
                </a:solidFill>
                <a:latin typeface="微软雅黑" panose="020B0503020204020204" pitchFamily="34" charset="-122"/>
                <a:ea typeface="微软雅黑" panose="020B0503020204020204" pitchFamily="34" charset="-122"/>
              </a:rPr>
              <a:t>代理</a:t>
            </a:r>
            <a:r>
              <a:rPr lang="en-US" altLang="zh-CN" sz="2800" dirty="0">
                <a:solidFill>
                  <a:srgbClr val="EC7328"/>
                </a:solidFill>
                <a:latin typeface="微软雅黑" panose="020B0503020204020204" pitchFamily="34" charset="-122"/>
                <a:ea typeface="微软雅黑" panose="020B0503020204020204" pitchFamily="34" charset="-122"/>
              </a:rPr>
              <a:t>(Protect Proxy)</a:t>
            </a:r>
            <a:r>
              <a:rPr lang="zh-CN" altLang="en-US" sz="2800" dirty="0">
                <a:latin typeface="微软雅黑" panose="020B0503020204020204" pitchFamily="34" charset="-122"/>
                <a:ea typeface="微软雅黑" panose="020B0503020204020204" pitchFamily="34" charset="-122"/>
              </a:rPr>
              <a:t>：控制对一个对象的访问，可以给</a:t>
            </a:r>
            <a:r>
              <a:rPr lang="zh-CN" altLang="en-US" sz="2800" b="1" dirty="0">
                <a:latin typeface="微软雅黑" panose="020B0503020204020204" pitchFamily="34" charset="-122"/>
                <a:ea typeface="微软雅黑" panose="020B0503020204020204" pitchFamily="34" charset="-122"/>
              </a:rPr>
              <a:t>不同的用户提供不同级别的使用权限</a:t>
            </a:r>
            <a:endParaRPr lang="zh-CN" altLang="en-US" sz="2800" b="1"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solidFill>
                  <a:srgbClr val="EC7328"/>
                </a:solidFill>
                <a:latin typeface="微软雅黑" panose="020B0503020204020204" pitchFamily="34" charset="-122"/>
                <a:ea typeface="微软雅黑" panose="020B0503020204020204" pitchFamily="34" charset="-122"/>
              </a:rPr>
              <a:t>缓冲代理</a:t>
            </a:r>
            <a:r>
              <a:rPr lang="en-US" altLang="zh-CN" sz="2800" dirty="0">
                <a:solidFill>
                  <a:srgbClr val="EC7328"/>
                </a:solidFill>
                <a:latin typeface="微软雅黑" panose="020B0503020204020204" pitchFamily="34" charset="-122"/>
                <a:ea typeface="微软雅黑" panose="020B0503020204020204" pitchFamily="34" charset="-122"/>
              </a:rPr>
              <a:t>(Cache Proxy)</a:t>
            </a:r>
            <a:r>
              <a:rPr lang="zh-CN" altLang="en-US" sz="2800" dirty="0">
                <a:latin typeface="微软雅黑" panose="020B0503020204020204" pitchFamily="34" charset="-122"/>
                <a:ea typeface="微软雅黑" panose="020B0503020204020204" pitchFamily="34" charset="-122"/>
              </a:rPr>
              <a:t>：为某一个目标操作的结果提供临时的存储空间，以便多个客户端可以共享这些结果</a:t>
            </a: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solidFill>
                  <a:srgbClr val="EC7328"/>
                </a:solidFill>
                <a:latin typeface="微软雅黑" panose="020B0503020204020204" pitchFamily="34" charset="-122"/>
                <a:ea typeface="微软雅黑" panose="020B0503020204020204" pitchFamily="34" charset="-122"/>
              </a:rPr>
              <a:t>智能引用代理</a:t>
            </a:r>
            <a:r>
              <a:rPr lang="en-US" altLang="zh-CN" sz="2800" dirty="0">
                <a:solidFill>
                  <a:srgbClr val="EC7328"/>
                </a:solidFill>
                <a:latin typeface="微软雅黑" panose="020B0503020204020204" pitchFamily="34" charset="-122"/>
                <a:ea typeface="微软雅黑" panose="020B0503020204020204" pitchFamily="34" charset="-122"/>
              </a:rPr>
              <a:t>(Smart Reference Proxy)</a:t>
            </a:r>
            <a:r>
              <a:rPr lang="zh-CN" altLang="en-US" sz="2800" dirty="0">
                <a:latin typeface="微软雅黑" panose="020B0503020204020204" pitchFamily="34" charset="-122"/>
                <a:ea typeface="微软雅黑" panose="020B0503020204020204" pitchFamily="34" charset="-122"/>
              </a:rPr>
              <a:t>：当一个对象被引用时，提供一些额外的操作，例如将对象被调用的次数记录下来等</a:t>
            </a: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zh-CN" altLang="en-US" sz="2800" b="1"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zh-CN" altLang="en-US" sz="2800" b="1"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zh-CN" altLang="en-US" sz="2800" b="1"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内容占位符 2"/>
          <p:cNvSpPr txBox="1"/>
          <p:nvPr/>
        </p:nvSpPr>
        <p:spPr>
          <a:xfrm>
            <a:off x="355647" y="1102675"/>
            <a:ext cx="11576176" cy="52074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模式实例</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论坛权限控制代理：</a:t>
            </a:r>
            <a:r>
              <a:rPr lang="zh-CN" altLang="en-US" sz="2800" dirty="0" smtClean="0">
                <a:latin typeface="微软雅黑" panose="020B0503020204020204" pitchFamily="34" charset="-122"/>
                <a:ea typeface="微软雅黑" panose="020B0503020204020204" pitchFamily="34" charset="-122"/>
              </a:rPr>
              <a:t>实例说明</a:t>
            </a:r>
            <a:endParaRPr lang="zh-CN" altLang="en-US" sz="2800" dirty="0">
              <a:latin typeface="微软雅黑" panose="020B0503020204020204" pitchFamily="34" charset="-122"/>
              <a:ea typeface="微软雅黑" panose="020B0503020204020204" pitchFamily="34" charset="-122"/>
            </a:endParaRPr>
          </a:p>
          <a:p>
            <a:pPr marL="1257300" lvl="2" indent="-342900" algn="l">
              <a:lnSpc>
                <a:spcPct val="150000"/>
              </a:lnSpc>
              <a:buClr>
                <a:srgbClr val="EC7328"/>
              </a:buClr>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在一个论坛中已注册用户和游客的权限不同，已注册的用户拥有发帖、修改自己的注册信息、修改自己的帖子等功能；而游客只能看到别人发的帖子，没有其他权限。使用代理模式来设计该权限管理模块。</a:t>
            </a:r>
            <a:endParaRPr lang="zh-CN" altLang="en-US" sz="2800" dirty="0">
              <a:latin typeface="微软雅黑" panose="020B0503020204020204" pitchFamily="34" charset="-122"/>
              <a:ea typeface="微软雅黑" panose="020B0503020204020204" pitchFamily="34" charset="-122"/>
            </a:endParaRPr>
          </a:p>
          <a:p>
            <a:pPr marL="1257300" lvl="2" indent="-342900" algn="l">
              <a:lnSpc>
                <a:spcPct val="150000"/>
              </a:lnSpc>
              <a:buClr>
                <a:srgbClr val="EC7328"/>
              </a:buClr>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在本实例中我们使用</a:t>
            </a:r>
            <a:r>
              <a:rPr lang="zh-CN" altLang="en-US" sz="2800" b="1" dirty="0">
                <a:latin typeface="微软雅黑" panose="020B0503020204020204" pitchFamily="34" charset="-122"/>
                <a:ea typeface="微软雅黑" panose="020B0503020204020204" pitchFamily="34" charset="-122"/>
              </a:rPr>
              <a:t>代理模式中的保护代理</a:t>
            </a:r>
            <a:r>
              <a:rPr lang="zh-CN" altLang="en-US" sz="2800" dirty="0">
                <a:latin typeface="微软雅黑" panose="020B0503020204020204" pitchFamily="34" charset="-122"/>
                <a:ea typeface="微软雅黑" panose="020B0503020204020204" pitchFamily="34" charset="-122"/>
              </a:rPr>
              <a:t>，该代理用于控制对一个对象的访问，可以给不同的用户提供不同级别的使用权限。</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8575" y="797154"/>
            <a:ext cx="11017224" cy="5728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内容占位符 2"/>
          <p:cNvSpPr txBox="1"/>
          <p:nvPr/>
        </p:nvSpPr>
        <p:spPr>
          <a:xfrm>
            <a:off x="236079" y="1116936"/>
            <a:ext cx="4494944" cy="116073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模式实例</a:t>
            </a:r>
            <a:r>
              <a:rPr lang="en-US" altLang="zh-CN" sz="2800" b="1" dirty="0" smtClean="0">
                <a:latin typeface="微软雅黑" panose="020B0503020204020204" pitchFamily="34" charset="-122"/>
                <a:ea typeface="微软雅黑" panose="020B0503020204020204" pitchFamily="34" charset="-122"/>
              </a:rPr>
              <a:t>1</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论坛权限控制代理：</a:t>
            </a:r>
            <a:r>
              <a:rPr lang="zh-CN" altLang="en-US" sz="2800" dirty="0" smtClean="0">
                <a:latin typeface="微软雅黑" panose="020B0503020204020204" pitchFamily="34" charset="-122"/>
                <a:ea typeface="微软雅黑" panose="020B0503020204020204" pitchFamily="34" charset="-122"/>
              </a:rPr>
              <a:t>参考类图</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8" name="Group 5"/>
          <p:cNvGrpSpPr/>
          <p:nvPr/>
        </p:nvGrpSpPr>
        <p:grpSpPr bwMode="auto">
          <a:xfrm>
            <a:off x="5002039" y="3233205"/>
            <a:ext cx="4193480" cy="2044450"/>
            <a:chOff x="2381" y="3283"/>
            <a:chExt cx="1361" cy="510"/>
          </a:xfrm>
        </p:grpSpPr>
        <p:pic>
          <p:nvPicPr>
            <p:cNvPr id="9" name="Picture 6" descr="gif005"/>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2381" y="3283"/>
              <a:ext cx="252"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7"/>
            <p:cNvSpPr txBox="1">
              <a:spLocks noChangeArrowheads="1"/>
            </p:cNvSpPr>
            <p:nvPr/>
          </p:nvSpPr>
          <p:spPr bwMode="auto">
            <a:xfrm>
              <a:off x="2608" y="3505"/>
              <a:ext cx="1134" cy="146"/>
            </a:xfrm>
            <a:prstGeom prst="rect">
              <a:avLst/>
            </a:prstGeom>
            <a:noFill/>
            <a:ln w="9525">
              <a:noFill/>
              <a:miter lim="800000"/>
            </a:ln>
            <a:effectLst>
              <a:outerShdw dist="35921" dir="2700000" algn="ctr" rotWithShape="0">
                <a:schemeClr val="bg2"/>
              </a:outerShdw>
            </a:effectLst>
          </p:spPr>
          <p:txBody>
            <a:bodyPr>
              <a:spAutoFit/>
            </a:bodyPr>
            <a:lstStyle/>
            <a:p>
              <a:pPr>
                <a:spcBef>
                  <a:spcPct val="50000"/>
                </a:spcBef>
                <a:defRPr/>
              </a:pPr>
              <a:r>
                <a:rPr lang="zh-CN" altLang="en-US" sz="3200" b="1" dirty="0">
                  <a:solidFill>
                    <a:srgbClr val="44B3BE"/>
                  </a:solidFill>
                  <a:latin typeface="华文行楷" panose="02010800040101010101" pitchFamily="2" charset="-122"/>
                  <a:ea typeface="华文行楷" panose="02010800040101010101" pitchFamily="2" charset="-122"/>
                </a:rPr>
                <a:t>演示</a:t>
              </a:r>
              <a:r>
                <a:rPr lang="en-US" altLang="zh-CN" sz="3200" b="1" dirty="0">
                  <a:solidFill>
                    <a:srgbClr val="44B3BE"/>
                  </a:solidFill>
                  <a:latin typeface="Arial" panose="020B0604020202020204"/>
                  <a:ea typeface="华文行楷" panose="02010800040101010101" pitchFamily="2" charset="-122"/>
                </a:rPr>
                <a:t>……</a:t>
              </a:r>
              <a:endParaRPr lang="en-US" altLang="zh-CN" sz="3200" b="1" dirty="0">
                <a:solidFill>
                  <a:srgbClr val="44B3BE"/>
                </a:solidFill>
                <a:latin typeface="华文行楷" panose="02010800040101010101" pitchFamily="2" charset="-122"/>
                <a:ea typeface="华文行楷" panose="02010800040101010101" pitchFamily="2" charset="-122"/>
              </a:endParaRPr>
            </a:p>
          </p:txBody>
        </p:sp>
      </p:grpSp>
      <p:sp>
        <p:nvSpPr>
          <p:cNvPr id="11" name="内容占位符 2"/>
          <p:cNvSpPr txBox="1"/>
          <p:nvPr/>
        </p:nvSpPr>
        <p:spPr>
          <a:xfrm>
            <a:off x="236079" y="1044928"/>
            <a:ext cx="7735304" cy="202482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模式实例</a:t>
            </a:r>
            <a:r>
              <a:rPr lang="en-US" altLang="zh-CN" sz="2800" b="1" dirty="0" smtClean="0">
                <a:latin typeface="微软雅黑" panose="020B0503020204020204" pitchFamily="34" charset="-122"/>
                <a:ea typeface="微软雅黑" panose="020B0503020204020204" pitchFamily="34" charset="-122"/>
              </a:rPr>
              <a:t>1</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论坛权限控制代理：</a:t>
            </a:r>
            <a:r>
              <a:rPr lang="zh-CN" altLang="en-US" sz="2800" dirty="0" smtClean="0">
                <a:latin typeface="微软雅黑" panose="020B0503020204020204" pitchFamily="34" charset="-122"/>
                <a:ea typeface="微软雅黑" panose="020B0503020204020204" pitchFamily="34" charset="-122"/>
              </a:rPr>
              <a:t>参考代码</a:t>
            </a:r>
            <a:endParaRPr lang="en-US" altLang="zh-CN" sz="2800" dirty="0" smtClean="0">
              <a:latin typeface="微软雅黑" panose="020B0503020204020204" pitchFamily="34" charset="-122"/>
              <a:ea typeface="微软雅黑" panose="020B0503020204020204" pitchFamily="34" charset="-122"/>
            </a:endParaRPr>
          </a:p>
          <a:p>
            <a:pPr marL="1257300" lvl="2" indent="-342900" algn="l">
              <a:lnSpc>
                <a:spcPct val="150000"/>
              </a:lnSpc>
              <a:buClr>
                <a:srgbClr val="EC7328"/>
              </a:buClr>
              <a:buFont typeface="Arial" panose="020B0604020202020204" pitchFamily="34" charset="0"/>
              <a:buChar char="•"/>
            </a:pPr>
            <a:r>
              <a:rPr lang="en-US" altLang="zh-CN" sz="2800" dirty="0" err="1" smtClean="0">
                <a:latin typeface="微软雅黑" panose="020B0503020204020204" pitchFamily="34" charset="-122"/>
                <a:ea typeface="微软雅黑" panose="020B0503020204020204" pitchFamily="34" charset="-122"/>
              </a:rPr>
              <a:t>DesignPatterns</a:t>
            </a:r>
            <a:r>
              <a:rPr lang="zh-CN" altLang="en-US" sz="2800" dirty="0" smtClean="0">
                <a:latin typeface="微软雅黑" panose="020B0503020204020204" pitchFamily="34" charset="-122"/>
                <a:ea typeface="微软雅黑" panose="020B0503020204020204" pitchFamily="34" charset="-122"/>
              </a:rPr>
              <a:t>之</a:t>
            </a:r>
            <a:r>
              <a:rPr lang="en-US" altLang="zh-CN" sz="2800" dirty="0">
                <a:latin typeface="微软雅黑" panose="020B0503020204020204" pitchFamily="34" charset="-122"/>
                <a:ea typeface="微软雅黑" panose="020B0503020204020204" pitchFamily="34" charset="-122"/>
              </a:rPr>
              <a:t>proxy</a:t>
            </a:r>
            <a:r>
              <a:rPr lang="zh-CN" altLang="en-US" sz="2800" dirty="0" smtClean="0">
                <a:latin typeface="微软雅黑" panose="020B0503020204020204" pitchFamily="34" charset="-122"/>
                <a:ea typeface="微软雅黑" panose="020B0503020204020204" pitchFamily="34" charset="-122"/>
              </a:rPr>
              <a:t>包</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a:xfrm>
            <a:off x="355647" y="837506"/>
            <a:ext cx="11576176" cy="549547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spcBef>
                <a:spcPts val="0"/>
              </a:spcBef>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模式实例</a:t>
            </a:r>
            <a:r>
              <a:rPr lang="en-US" altLang="zh-CN" sz="2800" b="1" dirty="0" smtClean="0">
                <a:latin typeface="微软雅黑" panose="020B0503020204020204" pitchFamily="34" charset="-122"/>
                <a:ea typeface="微软雅黑" panose="020B0503020204020204" pitchFamily="34" charset="-122"/>
              </a:rPr>
              <a:t>2-</a:t>
            </a:r>
            <a:r>
              <a:rPr lang="zh-CN" altLang="en-US" sz="2800" b="1" dirty="0" smtClean="0">
                <a:latin typeface="微软雅黑" panose="020B0503020204020204" pitchFamily="34" charset="-122"/>
                <a:ea typeface="微软雅黑" panose="020B0503020204020204" pitchFamily="34" charset="-122"/>
              </a:rPr>
              <a:t>收费</a:t>
            </a:r>
            <a:r>
              <a:rPr lang="zh-CN" altLang="en-US" sz="2800" b="1" dirty="0">
                <a:latin typeface="微软雅黑" panose="020B0503020204020204" pitchFamily="34" charset="-122"/>
                <a:ea typeface="微软雅黑" panose="020B0503020204020204" pitchFamily="34" charset="-122"/>
              </a:rPr>
              <a:t>商务信息查询系统：实例</a:t>
            </a:r>
            <a:r>
              <a:rPr lang="zh-CN" altLang="en-US" sz="2800" b="1" dirty="0" smtClean="0">
                <a:latin typeface="微软雅黑" panose="020B0503020204020204" pitchFamily="34" charset="-122"/>
                <a:ea typeface="微软雅黑" panose="020B0503020204020204" pitchFamily="34" charset="-122"/>
              </a:rPr>
              <a:t>说明</a:t>
            </a:r>
            <a:endParaRPr lang="en-US" altLang="zh-CN" sz="2800" b="1" dirty="0" smtClean="0">
              <a:latin typeface="微软雅黑" panose="020B0503020204020204" pitchFamily="34" charset="-122"/>
              <a:ea typeface="微软雅黑" panose="020B0503020204020204" pitchFamily="34" charset="-122"/>
            </a:endParaRPr>
          </a:p>
          <a:p>
            <a:pPr marL="262890" lvl="2" algn="l">
              <a:lnSpc>
                <a:spcPct val="150000"/>
              </a:lnSpc>
              <a:spcBef>
                <a:spcPts val="0"/>
              </a:spcBef>
              <a:buClr>
                <a:srgbClr val="EC7328"/>
              </a:buClr>
            </a:pPr>
            <a:r>
              <a:rPr lang="zh-CN" altLang="en-US" sz="2400" dirty="0">
                <a:latin typeface="微软雅黑" panose="020B0503020204020204" pitchFamily="34" charset="-122"/>
                <a:ea typeface="微软雅黑" panose="020B0503020204020204" pitchFamily="34" charset="-122"/>
              </a:rPr>
              <a:t>某软件公司承接了某信息咨询公司的收费商务信息查询系统的开发任务，该系统的基本需求如下：</a:t>
            </a:r>
            <a:endParaRPr lang="zh-CN" altLang="en-US" sz="2400" dirty="0">
              <a:latin typeface="微软雅黑" panose="020B0503020204020204" pitchFamily="34" charset="-122"/>
              <a:ea typeface="微软雅黑" panose="020B0503020204020204" pitchFamily="34" charset="-122"/>
            </a:endParaRPr>
          </a:p>
          <a:p>
            <a:pPr marL="720090" lvl="2" indent="-457200" algn="l">
              <a:lnSpc>
                <a:spcPct val="150000"/>
              </a:lnSpc>
              <a:spcBef>
                <a:spcPts val="0"/>
              </a:spcBef>
              <a:buClr>
                <a:srgbClr val="EC7328"/>
              </a:buClr>
              <a:buFont typeface="Wingdings" panose="05000000000000000000" pitchFamily="2" charset="2"/>
              <a:buChar char="l"/>
            </a:pPr>
            <a:r>
              <a:rPr lang="en-US" altLang="zh-CN" sz="2400" dirty="0">
                <a:latin typeface="微软雅黑" panose="020B0503020204020204" pitchFamily="34" charset="-122"/>
                <a:ea typeface="微软雅黑" panose="020B0503020204020204" pitchFamily="34" charset="-122"/>
              </a:rPr>
              <a:t>(1) </a:t>
            </a:r>
            <a:r>
              <a:rPr lang="zh-CN" altLang="en-US" sz="2400" dirty="0" smtClean="0">
                <a:latin typeface="微软雅黑" panose="020B0503020204020204" pitchFamily="34" charset="-122"/>
                <a:ea typeface="微软雅黑" panose="020B0503020204020204" pitchFamily="34" charset="-122"/>
              </a:rPr>
              <a:t>查询</a:t>
            </a:r>
            <a:r>
              <a:rPr lang="zh-CN" altLang="en-US" sz="2400" dirty="0">
                <a:latin typeface="微软雅黑" panose="020B0503020204020204" pitchFamily="34" charset="-122"/>
                <a:ea typeface="微软雅黑" panose="020B0503020204020204" pitchFamily="34" charset="-122"/>
              </a:rPr>
              <a:t>之前用户需要通过身份验证，只有合法用户才能够使用该查询系统；</a:t>
            </a:r>
            <a:endParaRPr lang="zh-CN" altLang="en-US" sz="2400" dirty="0">
              <a:latin typeface="微软雅黑" panose="020B0503020204020204" pitchFamily="34" charset="-122"/>
              <a:ea typeface="微软雅黑" panose="020B0503020204020204" pitchFamily="34" charset="-122"/>
            </a:endParaRPr>
          </a:p>
          <a:p>
            <a:pPr marL="720090" lvl="2" indent="-457200" algn="l">
              <a:lnSpc>
                <a:spcPct val="150000"/>
              </a:lnSpc>
              <a:spcBef>
                <a:spcPts val="0"/>
              </a:spcBef>
              <a:buClr>
                <a:srgbClr val="EC7328"/>
              </a:buClr>
              <a:buFont typeface="Wingdings" panose="05000000000000000000" pitchFamily="2" charset="2"/>
              <a:buChar char="l"/>
            </a:pPr>
            <a:r>
              <a:rPr lang="en-US" altLang="zh-CN" sz="2400" dirty="0">
                <a:latin typeface="微软雅黑" panose="020B0503020204020204" pitchFamily="34" charset="-122"/>
                <a:ea typeface="微软雅黑" panose="020B0503020204020204" pitchFamily="34" charset="-122"/>
              </a:rPr>
              <a:t>(2) </a:t>
            </a:r>
            <a:r>
              <a:rPr lang="zh-CN" altLang="en-US" sz="2400" dirty="0" smtClean="0">
                <a:latin typeface="微软雅黑" panose="020B0503020204020204" pitchFamily="34" charset="-122"/>
                <a:ea typeface="微软雅黑" panose="020B0503020204020204" pitchFamily="34" charset="-122"/>
              </a:rPr>
              <a:t>查询</a:t>
            </a:r>
            <a:r>
              <a:rPr lang="zh-CN" altLang="en-US" sz="2400" dirty="0">
                <a:latin typeface="微软雅黑" panose="020B0503020204020204" pitchFamily="34" charset="-122"/>
                <a:ea typeface="微软雅黑" panose="020B0503020204020204" pitchFamily="34" charset="-122"/>
              </a:rPr>
              <a:t>时系统需要记录查询日志，以便根据查询次数收取查询费用。</a:t>
            </a:r>
            <a:endParaRPr lang="zh-CN" altLang="en-US" sz="2400" dirty="0">
              <a:latin typeface="微软雅黑" panose="020B0503020204020204" pitchFamily="34" charset="-122"/>
              <a:ea typeface="微软雅黑" panose="020B0503020204020204" pitchFamily="34" charset="-122"/>
            </a:endParaRPr>
          </a:p>
          <a:p>
            <a:pPr marL="262890" lvl="2" indent="457200" algn="l">
              <a:lnSpc>
                <a:spcPct val="150000"/>
              </a:lnSpc>
              <a:spcBef>
                <a:spcPts val="0"/>
              </a:spcBef>
              <a:buClr>
                <a:srgbClr val="EC7328"/>
              </a:buClr>
            </a:pPr>
            <a:r>
              <a:rPr lang="zh-CN" altLang="en-US" sz="2400" dirty="0">
                <a:latin typeface="微软雅黑" panose="020B0503020204020204" pitchFamily="34" charset="-122"/>
                <a:ea typeface="微软雅黑" panose="020B0503020204020204" pitchFamily="34" charset="-122"/>
              </a:rPr>
              <a:t>该软件公司开发人员已完成了商务信息查询模块的开发任务，现希望能够以一种松耦合的方式向原有系统增加身份验证和日志记录功能，客户端代码可以无区别地对待原始的商务信息查询模块和增加新功能之后的商务信息查询模块，而且可能在将来还要在该信息查询模块中增加一些新的功能</a:t>
            </a:r>
            <a:r>
              <a:rPr lang="zh-CN" altLang="en-US" sz="2400" dirty="0" smtClean="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内容占位符 2"/>
          <p:cNvSpPr txBox="1"/>
          <p:nvPr/>
        </p:nvSpPr>
        <p:spPr>
          <a:xfrm>
            <a:off x="787695" y="765498"/>
            <a:ext cx="8191800" cy="50405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spcBef>
                <a:spcPts val="0"/>
              </a:spcBef>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模式实例</a:t>
            </a:r>
            <a:r>
              <a:rPr lang="en-US" altLang="zh-CN" sz="2800" b="1" dirty="0">
                <a:latin typeface="微软雅黑" panose="020B0503020204020204" pitchFamily="34" charset="-122"/>
                <a:ea typeface="微软雅黑" panose="020B0503020204020204" pitchFamily="34" charset="-122"/>
              </a:rPr>
              <a:t>2-</a:t>
            </a:r>
            <a:r>
              <a:rPr lang="zh-CN" altLang="en-US" sz="2800" b="1" dirty="0">
                <a:latin typeface="微软雅黑" panose="020B0503020204020204" pitchFamily="34" charset="-122"/>
                <a:ea typeface="微软雅黑" panose="020B0503020204020204" pitchFamily="34" charset="-122"/>
              </a:rPr>
              <a:t>收费商务信息查询系统：实例说明</a:t>
            </a:r>
            <a:endParaRPr lang="en-US" altLang="zh-CN" sz="2800" b="1" dirty="0">
              <a:latin typeface="微软雅黑" panose="020B0503020204020204" pitchFamily="34" charset="-122"/>
              <a:ea typeface="微软雅黑" panose="020B0503020204020204" pitchFamily="34" charset="-122"/>
            </a:endParaRPr>
          </a:p>
        </p:txBody>
      </p:sp>
      <p:graphicFrame>
        <p:nvGraphicFramePr>
          <p:cNvPr id="2" name="对象 1"/>
          <p:cNvGraphicFramePr>
            <a:graphicFrameLocks noChangeAspect="1"/>
          </p:cNvGraphicFramePr>
          <p:nvPr/>
        </p:nvGraphicFramePr>
        <p:xfrm>
          <a:off x="490091" y="1845618"/>
          <a:ext cx="11225708" cy="3163185"/>
        </p:xfrm>
        <a:graphic>
          <a:graphicData uri="http://schemas.openxmlformats.org/presentationml/2006/ole">
            <mc:AlternateContent xmlns:mc="http://schemas.openxmlformats.org/markup-compatibility/2006">
              <mc:Choice xmlns:v="urn:schemas-microsoft-com:vml" Requires="v">
                <p:oleObj spid="_x0000_s4100" name="Visio" r:id="rId1" imgW="9740900" imgH="2755900" progId="Visio.Drawing.11">
                  <p:embed/>
                </p:oleObj>
              </mc:Choice>
              <mc:Fallback>
                <p:oleObj name="Visio" r:id="rId1" imgW="9740900" imgH="2755900" progId="Visio.Drawing.11">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091" y="1845618"/>
                        <a:ext cx="11225708" cy="3163185"/>
                      </a:xfrm>
                      <a:prstGeom prst="rect">
                        <a:avLst/>
                      </a:prstGeom>
                      <a:noFill/>
                      <a:ln>
                        <a:noFill/>
                      </a:ln>
                    </p:spPr>
                  </p:pic>
                </p:oleObj>
              </mc:Fallback>
            </mc:AlternateContent>
          </a:graphicData>
        </a:graphic>
      </p:graphicFrame>
      <p:sp>
        <p:nvSpPr>
          <p:cNvPr id="7" name="矩形 6"/>
          <p:cNvSpPr/>
          <p:nvPr/>
        </p:nvSpPr>
        <p:spPr>
          <a:xfrm>
            <a:off x="2917627" y="5632425"/>
            <a:ext cx="6205884" cy="46166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defRPr/>
            </a:pPr>
            <a:r>
              <a:rPr lang="zh-CN" altLang="en-US" b="1" dirty="0"/>
              <a:t>商务信息查询系统设计方案示意图</a:t>
            </a:r>
            <a:endParaRPr lang="zh-CN" altLang="en-US" dirty="0"/>
          </a:p>
        </p:txBody>
      </p:sp>
    </p:spTree>
  </p:cSld>
  <p:clrMapOvr>
    <a:masterClrMapping/>
  </p:clrMapOvr>
  <p:transition spd="slow" advTm="0">
    <p:wip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内容占位符 2"/>
          <p:cNvSpPr txBox="1"/>
          <p:nvPr/>
        </p:nvSpPr>
        <p:spPr>
          <a:xfrm>
            <a:off x="787695" y="765498"/>
            <a:ext cx="8191800" cy="50405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spcBef>
                <a:spcPts val="0"/>
              </a:spcBef>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模式实例</a:t>
            </a:r>
            <a:r>
              <a:rPr lang="en-US" altLang="zh-CN" sz="2800" b="1" dirty="0">
                <a:latin typeface="微软雅黑" panose="020B0503020204020204" pitchFamily="34" charset="-122"/>
                <a:ea typeface="微软雅黑" panose="020B0503020204020204" pitchFamily="34" charset="-122"/>
              </a:rPr>
              <a:t>2-</a:t>
            </a:r>
            <a:r>
              <a:rPr lang="zh-CN" altLang="en-US" sz="2800" b="1" dirty="0">
                <a:latin typeface="微软雅黑" panose="020B0503020204020204" pitchFamily="34" charset="-122"/>
                <a:ea typeface="微软雅黑" panose="020B0503020204020204" pitchFamily="34" charset="-122"/>
              </a:rPr>
              <a:t>收费商务信息查询系统</a:t>
            </a:r>
            <a:r>
              <a:rPr lang="zh-CN" altLang="en-US" sz="2800" b="1" dirty="0" smtClean="0">
                <a:latin typeface="微软雅黑" panose="020B0503020204020204" pitchFamily="34" charset="-122"/>
                <a:ea typeface="微软雅黑" panose="020B0503020204020204" pitchFamily="34" charset="-122"/>
              </a:rPr>
              <a:t>：类结构图</a:t>
            </a:r>
            <a:endParaRPr lang="en-US" altLang="zh-CN" sz="2800" b="1" dirty="0">
              <a:latin typeface="微软雅黑" panose="020B0503020204020204" pitchFamily="34" charset="-122"/>
              <a:ea typeface="微软雅黑" panose="020B0503020204020204" pitchFamily="34" charset="-122"/>
            </a:endParaRPr>
          </a:p>
        </p:txBody>
      </p:sp>
      <p:pic>
        <p:nvPicPr>
          <p:cNvPr id="9" name="Picture 2"/>
          <p:cNvPicPr>
            <a:picLocks noChangeAspect="1" noChangeArrowheads="1"/>
          </p:cNvPicPr>
          <p:nvPr/>
        </p:nvPicPr>
        <p:blipFill>
          <a:blip r:embed="rId1">
            <a:extLst>
              <a:ext uri="{28A0092B-C50C-407E-A947-70E740481C1C}">
                <a14:useLocalDpi xmlns:a14="http://schemas.microsoft.com/office/drawing/2010/main" val="0"/>
              </a:ext>
            </a:extLst>
          </a:blip>
          <a:srcRect r="19350" b="19260"/>
          <a:stretch>
            <a:fillRect/>
          </a:stretch>
        </p:blipFill>
        <p:spPr bwMode="auto">
          <a:xfrm>
            <a:off x="559260" y="1485578"/>
            <a:ext cx="11228547" cy="518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txBox="1"/>
          <p:nvPr/>
        </p:nvSpPr>
        <p:spPr>
          <a:xfrm>
            <a:off x="236079" y="900913"/>
            <a:ext cx="9823536" cy="202482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模式实例</a:t>
            </a:r>
            <a:r>
              <a:rPr lang="en-US" altLang="zh-CN" sz="2800" b="1" dirty="0" smtClean="0">
                <a:latin typeface="微软雅黑" panose="020B0503020204020204" pitchFamily="34" charset="-122"/>
                <a:ea typeface="微软雅黑" panose="020B0503020204020204" pitchFamily="34" charset="-122"/>
              </a:rPr>
              <a:t>2</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收费商务信息查询系统：</a:t>
            </a:r>
            <a:r>
              <a:rPr lang="zh-CN" altLang="en-US" sz="2800" dirty="0" smtClean="0">
                <a:latin typeface="微软雅黑" panose="020B0503020204020204" pitchFamily="34" charset="-122"/>
                <a:ea typeface="微软雅黑" panose="020B0503020204020204" pitchFamily="34" charset="-122"/>
              </a:rPr>
              <a:t>参考代码</a:t>
            </a:r>
            <a:endParaRPr lang="en-US" altLang="zh-CN" sz="2800" dirty="0" smtClean="0">
              <a:latin typeface="微软雅黑" panose="020B0503020204020204" pitchFamily="34" charset="-122"/>
              <a:ea typeface="微软雅黑" panose="020B0503020204020204" pitchFamily="34" charset="-122"/>
            </a:endParaRPr>
          </a:p>
          <a:p>
            <a:pPr marL="1257300" lvl="2" indent="-342900" algn="l">
              <a:lnSpc>
                <a:spcPct val="150000"/>
              </a:lnSpc>
              <a:buClr>
                <a:srgbClr val="EC7328"/>
              </a:buClr>
              <a:buFont typeface="Arial" panose="020B0604020202020204" pitchFamily="34" charset="0"/>
              <a:buChar char="•"/>
            </a:pPr>
            <a:r>
              <a:rPr lang="en-US" altLang="zh-CN" sz="2800" dirty="0" err="1" smtClean="0">
                <a:latin typeface="微软雅黑" panose="020B0503020204020204" pitchFamily="34" charset="-122"/>
                <a:ea typeface="微软雅黑" panose="020B0503020204020204" pitchFamily="34" charset="-122"/>
              </a:rPr>
              <a:t>DesignPatterns</a:t>
            </a:r>
            <a:r>
              <a:rPr lang="zh-CN" altLang="en-US" sz="2800" dirty="0" smtClean="0">
                <a:latin typeface="微软雅黑" panose="020B0503020204020204" pitchFamily="34" charset="-122"/>
                <a:ea typeface="微软雅黑" panose="020B0503020204020204" pitchFamily="34" charset="-122"/>
              </a:rPr>
              <a:t>之</a:t>
            </a:r>
            <a:r>
              <a:rPr lang="en-US" altLang="zh-CN" sz="2800" dirty="0" smtClean="0">
                <a:latin typeface="微软雅黑" panose="020B0503020204020204" pitchFamily="34" charset="-122"/>
                <a:ea typeface="微软雅黑" panose="020B0503020204020204" pitchFamily="34" charset="-122"/>
              </a:rPr>
              <a:t>proxy2</a:t>
            </a:r>
            <a:r>
              <a:rPr lang="zh-CN" altLang="en-US" sz="2800" dirty="0" smtClean="0">
                <a:latin typeface="微软雅黑" panose="020B0503020204020204" pitchFamily="34" charset="-122"/>
                <a:ea typeface="微软雅黑" panose="020B0503020204020204" pitchFamily="34" charset="-122"/>
              </a:rPr>
              <a:t>包</a:t>
            </a:r>
            <a:endParaRPr lang="en-US" altLang="zh-CN" sz="2400" b="1" dirty="0" smtClean="0">
              <a:latin typeface="微软雅黑" panose="020B0503020204020204" pitchFamily="34" charset="-122"/>
              <a:ea typeface="微软雅黑" panose="020B0503020204020204" pitchFamily="34" charset="-122"/>
            </a:endParaRPr>
          </a:p>
        </p:txBody>
      </p:sp>
      <p:grpSp>
        <p:nvGrpSpPr>
          <p:cNvPr id="8" name="Group 5"/>
          <p:cNvGrpSpPr/>
          <p:nvPr/>
        </p:nvGrpSpPr>
        <p:grpSpPr bwMode="auto">
          <a:xfrm>
            <a:off x="4031468" y="3141762"/>
            <a:ext cx="4193480" cy="2044450"/>
            <a:chOff x="2381" y="3283"/>
            <a:chExt cx="1361" cy="510"/>
          </a:xfrm>
        </p:grpSpPr>
        <p:pic>
          <p:nvPicPr>
            <p:cNvPr id="9" name="Picture 6" descr="gif005"/>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2381" y="3283"/>
              <a:ext cx="252" cy="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7"/>
            <p:cNvSpPr txBox="1">
              <a:spLocks noChangeArrowheads="1"/>
            </p:cNvSpPr>
            <p:nvPr/>
          </p:nvSpPr>
          <p:spPr bwMode="auto">
            <a:xfrm>
              <a:off x="2608" y="3505"/>
              <a:ext cx="1134" cy="146"/>
            </a:xfrm>
            <a:prstGeom prst="rect">
              <a:avLst/>
            </a:prstGeom>
            <a:noFill/>
            <a:ln w="9525">
              <a:noFill/>
              <a:miter lim="800000"/>
            </a:ln>
            <a:effectLst>
              <a:outerShdw dist="35921" dir="2700000" algn="ctr" rotWithShape="0">
                <a:schemeClr val="bg2"/>
              </a:outerShdw>
            </a:effectLst>
          </p:spPr>
          <p:txBody>
            <a:bodyPr>
              <a:spAutoFit/>
            </a:bodyPr>
            <a:lstStyle/>
            <a:p>
              <a:pPr>
                <a:spcBef>
                  <a:spcPct val="50000"/>
                </a:spcBef>
                <a:defRPr/>
              </a:pPr>
              <a:r>
                <a:rPr lang="zh-CN" altLang="en-US" sz="3200" b="1" dirty="0">
                  <a:solidFill>
                    <a:srgbClr val="44B3BE"/>
                  </a:solidFill>
                  <a:latin typeface="华文行楷" panose="02010800040101010101" pitchFamily="2" charset="-122"/>
                  <a:ea typeface="华文行楷" panose="02010800040101010101" pitchFamily="2" charset="-122"/>
                </a:rPr>
                <a:t>演示</a:t>
              </a:r>
              <a:r>
                <a:rPr lang="en-US" altLang="zh-CN" sz="3200" b="1" dirty="0">
                  <a:solidFill>
                    <a:srgbClr val="44B3BE"/>
                  </a:solidFill>
                  <a:latin typeface="Arial" panose="020B0604020202020204"/>
                  <a:ea typeface="华文行楷" panose="02010800040101010101" pitchFamily="2" charset="-122"/>
                </a:rPr>
                <a:t>……</a:t>
              </a:r>
              <a:endParaRPr lang="en-US" altLang="zh-CN" sz="3200" b="1" dirty="0">
                <a:solidFill>
                  <a:srgbClr val="44B3BE"/>
                </a:solidFill>
                <a:latin typeface="华文行楷" panose="02010800040101010101" pitchFamily="2" charset="-122"/>
                <a:ea typeface="华文行楷" panose="02010800040101010101" pitchFamily="2" charset="-122"/>
              </a:endParaRPr>
            </a:p>
          </p:txBody>
        </p:sp>
      </p:grpSp>
      <p:sp>
        <p:nvSpPr>
          <p:cNvPr id="11"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内容占位符 2"/>
          <p:cNvSpPr txBox="1"/>
          <p:nvPr/>
        </p:nvSpPr>
        <p:spPr>
          <a:xfrm>
            <a:off x="236079" y="1172042"/>
            <a:ext cx="11144128" cy="333787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代理模式优点：</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能够</a:t>
            </a:r>
            <a:r>
              <a:rPr lang="zh-CN" altLang="en-US" sz="2800" dirty="0">
                <a:solidFill>
                  <a:srgbClr val="EC7328"/>
                </a:solidFill>
                <a:latin typeface="微软雅黑" panose="020B0503020204020204" pitchFamily="34" charset="-122"/>
                <a:ea typeface="微软雅黑" panose="020B0503020204020204" pitchFamily="34" charset="-122"/>
              </a:rPr>
              <a:t>协调调用者和被调用者</a:t>
            </a:r>
            <a:r>
              <a:rPr lang="zh-CN" altLang="en-US" sz="2800" dirty="0">
                <a:latin typeface="微软雅黑" panose="020B0503020204020204" pitchFamily="34" charset="-122"/>
                <a:ea typeface="微软雅黑" panose="020B0503020204020204" pitchFamily="34" charset="-122"/>
              </a:rPr>
              <a:t>，在一定程度上</a:t>
            </a:r>
            <a:r>
              <a:rPr lang="zh-CN" altLang="en-US" sz="2800" dirty="0">
                <a:solidFill>
                  <a:srgbClr val="EC7328"/>
                </a:solidFill>
                <a:latin typeface="微软雅黑" panose="020B0503020204020204" pitchFamily="34" charset="-122"/>
                <a:ea typeface="微软雅黑" panose="020B0503020204020204" pitchFamily="34" charset="-122"/>
              </a:rPr>
              <a:t>降低了系统的耦合度</a:t>
            </a:r>
            <a:endParaRPr lang="zh-CN" altLang="en-US" sz="2800" dirty="0">
              <a:solidFill>
                <a:srgbClr val="EC7328"/>
              </a:solidFill>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客户端可以针对抽象主题角色进行编程，</a:t>
            </a:r>
            <a:r>
              <a:rPr lang="zh-CN" altLang="en-US" sz="2800" dirty="0">
                <a:solidFill>
                  <a:srgbClr val="EC7328"/>
                </a:solidFill>
                <a:latin typeface="微软雅黑" panose="020B0503020204020204" pitchFamily="34" charset="-122"/>
                <a:ea typeface="微软雅黑" panose="020B0503020204020204" pitchFamily="34" charset="-122"/>
              </a:rPr>
              <a:t>增加和更换代理类无须修改源代码</a:t>
            </a:r>
            <a:r>
              <a:rPr lang="zh-CN" altLang="en-US" sz="2800" dirty="0">
                <a:latin typeface="微软雅黑" panose="020B0503020204020204" pitchFamily="34" charset="-122"/>
                <a:ea typeface="微软雅黑" panose="020B0503020204020204" pitchFamily="34" charset="-122"/>
              </a:rPr>
              <a:t>，</a:t>
            </a:r>
            <a:r>
              <a:rPr lang="zh-CN" altLang="en-US" sz="2800" dirty="0">
                <a:solidFill>
                  <a:srgbClr val="EC7328"/>
                </a:solidFill>
                <a:latin typeface="微软雅黑" panose="020B0503020204020204" pitchFamily="34" charset="-122"/>
                <a:ea typeface="微软雅黑" panose="020B0503020204020204" pitchFamily="34" charset="-122"/>
              </a:rPr>
              <a:t>符合开闭原则</a:t>
            </a:r>
            <a:r>
              <a:rPr lang="zh-CN" altLang="en-US" sz="2800" dirty="0">
                <a:latin typeface="微软雅黑" panose="020B0503020204020204" pitchFamily="34" charset="-122"/>
                <a:ea typeface="微软雅黑" panose="020B0503020204020204" pitchFamily="34" charset="-122"/>
              </a:rPr>
              <a:t>，系统具有较好的灵活性和可扩展性</a:t>
            </a:r>
            <a:endParaRPr lang="zh-CN" altLang="en-US" sz="2800" dirty="0">
              <a:latin typeface="微软雅黑" panose="020B0503020204020204" pitchFamily="34" charset="-122"/>
              <a:ea typeface="微软雅黑" panose="020B0503020204020204" pitchFamily="34" charset="-122"/>
            </a:endParaRPr>
          </a:p>
          <a:p>
            <a:pPr lvl="1" algn="l">
              <a:lnSpc>
                <a:spcPct val="150000"/>
              </a:lnSpc>
              <a:buClr>
                <a:srgbClr val="EC7328"/>
              </a:buClr>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内容占位符 2"/>
          <p:cNvSpPr txBox="1"/>
          <p:nvPr/>
        </p:nvSpPr>
        <p:spPr>
          <a:xfrm>
            <a:off x="355647" y="1244050"/>
            <a:ext cx="11144128" cy="355389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代理模式缺点：</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由于</a:t>
            </a:r>
            <a:r>
              <a:rPr lang="zh-CN" altLang="en-US" sz="2800" dirty="0">
                <a:latin typeface="微软雅黑" panose="020B0503020204020204" pitchFamily="34" charset="-122"/>
                <a:ea typeface="微软雅黑" panose="020B0503020204020204" pitchFamily="34" charset="-122"/>
              </a:rPr>
              <a:t>在客户端和真实主题之间增加了代理对象，因此</a:t>
            </a:r>
            <a:r>
              <a:rPr lang="zh-CN" altLang="en-US" sz="2800" dirty="0">
                <a:solidFill>
                  <a:srgbClr val="EC7328"/>
                </a:solidFill>
                <a:latin typeface="微软雅黑" panose="020B0503020204020204" pitchFamily="34" charset="-122"/>
                <a:ea typeface="微软雅黑" panose="020B0503020204020204" pitchFamily="34" charset="-122"/>
              </a:rPr>
              <a:t>有些类型的代理模式可能会造成请求的处理速度变慢</a:t>
            </a:r>
            <a:r>
              <a:rPr lang="zh-CN" altLang="en-US" sz="2800" dirty="0">
                <a:latin typeface="微软雅黑" panose="020B0503020204020204" pitchFamily="34" charset="-122"/>
                <a:ea typeface="微软雅黑" panose="020B0503020204020204" pitchFamily="34" charset="-122"/>
              </a:rPr>
              <a:t>（例如</a:t>
            </a:r>
            <a:r>
              <a:rPr lang="zh-CN" altLang="en-US" sz="2800" b="1" dirty="0">
                <a:solidFill>
                  <a:srgbClr val="47B3BF"/>
                </a:solidFill>
                <a:latin typeface="微软雅黑" panose="020B0503020204020204" pitchFamily="34" charset="-122"/>
                <a:ea typeface="微软雅黑" panose="020B0503020204020204" pitchFamily="34" charset="-122"/>
              </a:rPr>
              <a:t>保护代理</a:t>
            </a:r>
            <a:r>
              <a:rPr lang="zh-CN" altLang="en-US" sz="2800" dirty="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实现代理模式需要额外的工作，而且</a:t>
            </a:r>
            <a:r>
              <a:rPr lang="zh-CN" altLang="en-US" sz="2800" dirty="0">
                <a:solidFill>
                  <a:srgbClr val="EC7328"/>
                </a:solidFill>
                <a:latin typeface="微软雅黑" panose="020B0503020204020204" pitchFamily="34" charset="-122"/>
                <a:ea typeface="微软雅黑" panose="020B0503020204020204" pitchFamily="34" charset="-122"/>
              </a:rPr>
              <a:t>有些代理模式的实现过程较为复杂</a:t>
            </a:r>
            <a:r>
              <a:rPr lang="zh-CN" altLang="en-US" sz="2800" dirty="0">
                <a:latin typeface="微软雅黑" panose="020B0503020204020204" pitchFamily="34" charset="-122"/>
                <a:ea typeface="微软雅黑" panose="020B0503020204020204" pitchFamily="34" charset="-122"/>
              </a:rPr>
              <a:t>（例如</a:t>
            </a:r>
            <a:r>
              <a:rPr lang="zh-CN" altLang="en-US" sz="2800" b="1" dirty="0">
                <a:solidFill>
                  <a:srgbClr val="47B3BF"/>
                </a:solidFill>
                <a:latin typeface="微软雅黑" panose="020B0503020204020204" pitchFamily="34" charset="-122"/>
                <a:ea typeface="微软雅黑" panose="020B0503020204020204" pitchFamily="34" charset="-122"/>
              </a:rPr>
              <a:t>远程代理</a:t>
            </a:r>
            <a:r>
              <a:rPr lang="zh-CN" altLang="en-US" sz="2800" dirty="0" smtClean="0">
                <a:latin typeface="微软雅黑" panose="020B0503020204020204" pitchFamily="34" charset="-122"/>
                <a:ea typeface="微软雅黑" panose="020B0503020204020204" pitchFamily="34" charset="-122"/>
              </a:rPr>
              <a:t>）</a:t>
            </a:r>
            <a:endParaRPr lang="en-US" altLang="zh-CN" sz="2400"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内容占位符 2"/>
          <p:cNvSpPr txBox="1"/>
          <p:nvPr/>
        </p:nvSpPr>
        <p:spPr>
          <a:xfrm>
            <a:off x="410543" y="693490"/>
            <a:ext cx="11432160" cy="604867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40000"/>
              </a:lnSpc>
              <a:spcBef>
                <a:spcPts val="0"/>
              </a:spcBef>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在</a:t>
            </a:r>
            <a:r>
              <a:rPr lang="zh-CN" altLang="en-US" sz="2800" b="1" dirty="0">
                <a:latin typeface="微软雅黑" panose="020B0503020204020204" pitchFamily="34" charset="-122"/>
                <a:ea typeface="微软雅黑" panose="020B0503020204020204" pitchFamily="34" charset="-122"/>
              </a:rPr>
              <a:t>以下情况下可以</a:t>
            </a:r>
            <a:r>
              <a:rPr lang="zh-CN" altLang="en-US" sz="2800" b="1" dirty="0" smtClean="0">
                <a:latin typeface="微软雅黑" panose="020B0503020204020204" pitchFamily="34" charset="-122"/>
                <a:ea typeface="微软雅黑" panose="020B0503020204020204" pitchFamily="34" charset="-122"/>
              </a:rPr>
              <a:t>使用代理模式</a:t>
            </a:r>
            <a:r>
              <a:rPr lang="zh-CN" altLang="en-US" sz="2800" b="1" dirty="0">
                <a:latin typeface="微软雅黑" panose="020B0503020204020204" pitchFamily="34" charset="-122"/>
                <a:ea typeface="微软雅黑" panose="020B0503020204020204" pitchFamily="34" charset="-122"/>
              </a:rPr>
              <a:t>：</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40000"/>
              </a:lnSpc>
              <a:spcBef>
                <a:spcPts val="0"/>
              </a:spcBef>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当</a:t>
            </a:r>
            <a:r>
              <a:rPr lang="zh-CN" altLang="en-US" sz="2800" dirty="0">
                <a:latin typeface="微软雅黑" panose="020B0503020204020204" pitchFamily="34" charset="-122"/>
                <a:ea typeface="微软雅黑" panose="020B0503020204020204" pitchFamily="34" charset="-122"/>
              </a:rPr>
              <a:t>客户端对象需要访问远程主机中的对象时可以使用</a:t>
            </a:r>
            <a:r>
              <a:rPr lang="zh-CN" altLang="en-US" sz="2800" dirty="0">
                <a:solidFill>
                  <a:srgbClr val="EC7328"/>
                </a:solidFill>
                <a:latin typeface="微软雅黑" panose="020B0503020204020204" pitchFamily="34" charset="-122"/>
                <a:ea typeface="微软雅黑" panose="020B0503020204020204" pitchFamily="34" charset="-122"/>
              </a:rPr>
              <a:t>远程代理</a:t>
            </a:r>
            <a:endParaRPr lang="zh-CN" altLang="en-US" sz="2800" dirty="0">
              <a:solidFill>
                <a:srgbClr val="EC7328"/>
              </a:solidFill>
              <a:latin typeface="微软雅黑" panose="020B0503020204020204" pitchFamily="34" charset="-122"/>
              <a:ea typeface="微软雅黑" panose="020B0503020204020204" pitchFamily="34" charset="-122"/>
            </a:endParaRPr>
          </a:p>
          <a:p>
            <a:pPr marL="800100" lvl="1" indent="-342900" algn="l">
              <a:lnSpc>
                <a:spcPct val="140000"/>
              </a:lnSpc>
              <a:spcBef>
                <a:spcPts val="0"/>
              </a:spcBef>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当需要用一个消耗资源较少的对象来代表一个消耗资源较多的对象，从而降低系统开销、缩短运行时间时可以使用</a:t>
            </a:r>
            <a:r>
              <a:rPr lang="zh-CN" altLang="en-US" sz="2800" dirty="0">
                <a:solidFill>
                  <a:srgbClr val="EC7328"/>
                </a:solidFill>
                <a:latin typeface="微软雅黑" panose="020B0503020204020204" pitchFamily="34" charset="-122"/>
                <a:ea typeface="微软雅黑" panose="020B0503020204020204" pitchFamily="34" charset="-122"/>
              </a:rPr>
              <a:t>虚拟代理</a:t>
            </a:r>
            <a:endParaRPr lang="zh-CN" altLang="en-US" sz="2800" dirty="0">
              <a:solidFill>
                <a:srgbClr val="EC7328"/>
              </a:solidFill>
              <a:latin typeface="微软雅黑" panose="020B0503020204020204" pitchFamily="34" charset="-122"/>
              <a:ea typeface="微软雅黑" panose="020B0503020204020204" pitchFamily="34" charset="-122"/>
            </a:endParaRPr>
          </a:p>
          <a:p>
            <a:pPr marL="800100" lvl="1" indent="-342900" algn="l">
              <a:lnSpc>
                <a:spcPct val="140000"/>
              </a:lnSpc>
              <a:spcBef>
                <a:spcPts val="0"/>
              </a:spcBef>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当需要为某一个被频繁访问的操作结果提供一个临时存储空间，以供多个客户端共享访问这些结果时可以使用</a:t>
            </a:r>
            <a:r>
              <a:rPr lang="zh-CN" altLang="en-US" sz="2800" dirty="0">
                <a:solidFill>
                  <a:srgbClr val="EC7328"/>
                </a:solidFill>
                <a:latin typeface="微软雅黑" panose="020B0503020204020204" pitchFamily="34" charset="-122"/>
                <a:ea typeface="微软雅黑" panose="020B0503020204020204" pitchFamily="34" charset="-122"/>
              </a:rPr>
              <a:t>缓冲代理</a:t>
            </a:r>
            <a:endParaRPr lang="zh-CN" altLang="en-US" sz="2800" dirty="0">
              <a:solidFill>
                <a:srgbClr val="EC7328"/>
              </a:solidFill>
              <a:latin typeface="微软雅黑" panose="020B0503020204020204" pitchFamily="34" charset="-122"/>
              <a:ea typeface="微软雅黑" panose="020B0503020204020204" pitchFamily="34" charset="-122"/>
            </a:endParaRPr>
          </a:p>
          <a:p>
            <a:pPr marL="800100" lvl="1" indent="-342900" algn="l">
              <a:lnSpc>
                <a:spcPct val="140000"/>
              </a:lnSpc>
              <a:spcBef>
                <a:spcPts val="0"/>
              </a:spcBef>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当需要控制对一个对象的访问，为不同用户提供不同级别的访问权限时可以使用</a:t>
            </a:r>
            <a:r>
              <a:rPr lang="zh-CN" altLang="en-US" sz="2800" dirty="0">
                <a:solidFill>
                  <a:srgbClr val="EC7328"/>
                </a:solidFill>
                <a:latin typeface="微软雅黑" panose="020B0503020204020204" pitchFamily="34" charset="-122"/>
                <a:ea typeface="微软雅黑" panose="020B0503020204020204" pitchFamily="34" charset="-122"/>
              </a:rPr>
              <a:t>保护代理</a:t>
            </a:r>
            <a:endParaRPr lang="zh-CN" altLang="en-US" sz="2800" dirty="0">
              <a:solidFill>
                <a:srgbClr val="EC7328"/>
              </a:solidFill>
              <a:latin typeface="微软雅黑" panose="020B0503020204020204" pitchFamily="34" charset="-122"/>
              <a:ea typeface="微软雅黑" panose="020B0503020204020204" pitchFamily="34" charset="-122"/>
            </a:endParaRPr>
          </a:p>
          <a:p>
            <a:pPr marL="800100" lvl="1" indent="-342900" algn="l">
              <a:lnSpc>
                <a:spcPct val="140000"/>
              </a:lnSpc>
              <a:spcBef>
                <a:spcPts val="0"/>
              </a:spcBef>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当需要为一个对象的访问（引用）提供一些额外的操作时可以使用</a:t>
            </a:r>
            <a:r>
              <a:rPr lang="zh-CN" altLang="en-US" sz="2800" dirty="0">
                <a:solidFill>
                  <a:srgbClr val="EC7328"/>
                </a:solidFill>
                <a:latin typeface="微软雅黑" panose="020B0503020204020204" pitchFamily="34" charset="-122"/>
                <a:ea typeface="微软雅黑" panose="020B0503020204020204" pitchFamily="34" charset="-122"/>
              </a:rPr>
              <a:t>智能引用代理</a:t>
            </a:r>
            <a:endParaRPr lang="en-US" altLang="zh-CN" sz="2800" dirty="0" smtClean="0">
              <a:solidFill>
                <a:srgbClr val="EC7328"/>
              </a:solidFill>
              <a:latin typeface="微软雅黑" panose="020B0503020204020204" pitchFamily="34" charset="-122"/>
              <a:ea typeface="微软雅黑" panose="020B0503020204020204" pitchFamily="34" charset="-122"/>
            </a:endParaRPr>
          </a:p>
          <a:p>
            <a:pPr marL="800100" lvl="1" indent="-342900" algn="l">
              <a:lnSpc>
                <a:spcPct val="140000"/>
              </a:lnSpc>
              <a:spcBef>
                <a:spcPts val="0"/>
              </a:spcBef>
              <a:buClr>
                <a:srgbClr val="EC7328"/>
              </a:buClr>
              <a:buFont typeface="Wingdings" panose="05000000000000000000" pitchFamily="2" charset="2"/>
              <a:buChar char="ü"/>
            </a:pP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40000"/>
              </a:lnSpc>
              <a:spcBef>
                <a:spcPts val="0"/>
              </a:spcBef>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40000"/>
              </a:lnSpc>
              <a:spcBef>
                <a:spcPts val="0"/>
              </a:spcBef>
              <a:buClr>
                <a:srgbClr val="EC7328"/>
              </a:buClr>
              <a:buFont typeface="Wingdings" panose="05000000000000000000" pitchFamily="2" charset="2"/>
              <a:buChar char="ü"/>
            </a:pP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40000"/>
              </a:lnSpc>
              <a:spcBef>
                <a:spcPts val="0"/>
              </a:spcBef>
              <a:buClr>
                <a:srgbClr val="EC7328"/>
              </a:buClr>
              <a:buFont typeface="Wingdings" panose="05000000000000000000" pitchFamily="2" charset="2"/>
              <a:buChar char="ü"/>
            </a:pPr>
            <a:endParaRPr lang="en-US" altLang="zh-CN" sz="2400"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内容占位符 2"/>
          <p:cNvSpPr txBox="1"/>
          <p:nvPr/>
        </p:nvSpPr>
        <p:spPr>
          <a:xfrm>
            <a:off x="410543" y="909514"/>
            <a:ext cx="11432160" cy="547260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spcBef>
                <a:spcPts val="0"/>
              </a:spcBef>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在</a:t>
            </a:r>
            <a:r>
              <a:rPr lang="zh-CN" altLang="en-US" sz="2800" b="1" dirty="0">
                <a:latin typeface="微软雅黑" panose="020B0503020204020204" pitchFamily="34" charset="-122"/>
                <a:ea typeface="微软雅黑" panose="020B0503020204020204" pitchFamily="34" charset="-122"/>
              </a:rPr>
              <a:t>以下情况下可以</a:t>
            </a:r>
            <a:r>
              <a:rPr lang="zh-CN" altLang="en-US" sz="2800" b="1" dirty="0" smtClean="0">
                <a:latin typeface="微软雅黑" panose="020B0503020204020204" pitchFamily="34" charset="-122"/>
                <a:ea typeface="微软雅黑" panose="020B0503020204020204" pitchFamily="34" charset="-122"/>
              </a:rPr>
              <a:t>使用代理模式</a:t>
            </a:r>
            <a:r>
              <a:rPr lang="zh-CN" altLang="en-US" sz="2800" b="1" dirty="0">
                <a:latin typeface="微软雅黑" panose="020B0503020204020204" pitchFamily="34" charset="-122"/>
                <a:ea typeface="微软雅黑" panose="020B0503020204020204" pitchFamily="34" charset="-122"/>
              </a:rPr>
              <a:t>：</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spcBef>
                <a:spcPts val="0"/>
              </a:spcBef>
              <a:buClr>
                <a:srgbClr val="EC7328"/>
              </a:buClr>
              <a:buFont typeface="Wingdings" panose="05000000000000000000" pitchFamily="2" charset="2"/>
              <a:buChar char="ü"/>
            </a:pPr>
            <a:r>
              <a:rPr lang="en-US" altLang="zh-CN" sz="2800" b="1" dirty="0" smtClean="0">
                <a:solidFill>
                  <a:srgbClr val="FF0000"/>
                </a:solidFill>
                <a:latin typeface="微软雅黑" panose="020B0503020204020204" pitchFamily="34" charset="-122"/>
                <a:ea typeface="微软雅黑" panose="020B0503020204020204" pitchFamily="34" charset="-122"/>
              </a:rPr>
              <a:t>Copy-on-Write</a:t>
            </a:r>
            <a:r>
              <a:rPr lang="zh-CN" altLang="en-US" sz="2800" b="1" dirty="0">
                <a:solidFill>
                  <a:srgbClr val="FF0000"/>
                </a:solidFill>
                <a:latin typeface="微软雅黑" panose="020B0503020204020204" pitchFamily="34" charset="-122"/>
                <a:ea typeface="微软雅黑" panose="020B0503020204020204" pitchFamily="34" charset="-122"/>
              </a:rPr>
              <a:t>代理</a:t>
            </a:r>
            <a:r>
              <a:rPr lang="zh-CN" altLang="en-US" sz="2800" dirty="0">
                <a:latin typeface="微软雅黑" panose="020B0503020204020204" pitchFamily="34" charset="-122"/>
                <a:ea typeface="微软雅黑" panose="020B0503020204020204" pitchFamily="34" charset="-122"/>
              </a:rPr>
              <a:t>：它是虚拟代理的一</a:t>
            </a:r>
            <a:r>
              <a:rPr lang="zh-CN" altLang="en-US" sz="2800" dirty="0" smtClean="0">
                <a:latin typeface="微软雅黑" panose="020B0503020204020204" pitchFamily="34" charset="-122"/>
                <a:ea typeface="微软雅黑" panose="020B0503020204020204" pitchFamily="34" charset="-122"/>
              </a:rPr>
              <a:t>种，把</a:t>
            </a:r>
            <a:r>
              <a:rPr lang="zh-CN" altLang="en-US" sz="2800" dirty="0">
                <a:latin typeface="微软雅黑" panose="020B0503020204020204" pitchFamily="34" charset="-122"/>
                <a:ea typeface="微软雅黑" panose="020B0503020204020204" pitchFamily="34" charset="-122"/>
              </a:rPr>
              <a:t>复制（克隆）操作延迟到只有在客户端真正需要时才执行。一般来说，对象的深克隆是一个开销较大的操作。</a:t>
            </a:r>
            <a:r>
              <a:rPr lang="en-US" altLang="zh-CN" sz="2800" dirty="0">
                <a:latin typeface="微软雅黑" panose="020B0503020204020204" pitchFamily="34" charset="-122"/>
                <a:ea typeface="微软雅黑" panose="020B0503020204020204" pitchFamily="34" charset="-122"/>
              </a:rPr>
              <a:t>Copy-on-Write</a:t>
            </a:r>
            <a:r>
              <a:rPr lang="zh-CN" altLang="en-US" sz="2800" dirty="0">
                <a:latin typeface="微软雅黑" panose="020B0503020204020204" pitchFamily="34" charset="-122"/>
                <a:ea typeface="微软雅黑" panose="020B0503020204020204" pitchFamily="34" charset="-122"/>
              </a:rPr>
              <a:t>代理可以让这个操作延迟．只有对象被用到的时候才被克隆。</a:t>
            </a: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50000"/>
              </a:lnSpc>
              <a:spcBef>
                <a:spcPts val="0"/>
              </a:spcBef>
              <a:buClr>
                <a:srgbClr val="EC7328"/>
              </a:buClr>
              <a:buFont typeface="Wingdings" panose="05000000000000000000" pitchFamily="2" charset="2"/>
              <a:buChar char="ü"/>
            </a:pPr>
            <a:r>
              <a:rPr lang="zh-CN" altLang="en-US" sz="2800" b="1" dirty="0" smtClean="0">
                <a:solidFill>
                  <a:srgbClr val="FF0000"/>
                </a:solidFill>
                <a:latin typeface="微软雅黑" panose="020B0503020204020204" pitchFamily="34" charset="-122"/>
                <a:ea typeface="微软雅黑" panose="020B0503020204020204" pitchFamily="34" charset="-122"/>
              </a:rPr>
              <a:t>防火墙（</a:t>
            </a:r>
            <a:r>
              <a:rPr lang="en-US" altLang="zh-CN" sz="2800" b="1" dirty="0">
                <a:solidFill>
                  <a:srgbClr val="FF0000"/>
                </a:solidFill>
                <a:latin typeface="微软雅黑" panose="020B0503020204020204" pitchFamily="34" charset="-122"/>
                <a:ea typeface="微软雅黑" panose="020B0503020204020204" pitchFamily="34" charset="-122"/>
              </a:rPr>
              <a:t>Firewall</a:t>
            </a:r>
            <a:r>
              <a:rPr lang="zh-CN" altLang="en-US" sz="2800" b="1" dirty="0">
                <a:solidFill>
                  <a:srgbClr val="FF0000"/>
                </a:solidFill>
                <a:latin typeface="微软雅黑" panose="020B0503020204020204" pitchFamily="34" charset="-122"/>
                <a:ea typeface="微软雅黑" panose="020B0503020204020204" pitchFamily="34" charset="-122"/>
              </a:rPr>
              <a:t>）代理</a:t>
            </a:r>
            <a:r>
              <a:rPr lang="zh-CN" altLang="en-US" sz="2800" dirty="0">
                <a:latin typeface="微软雅黑" panose="020B0503020204020204" pitchFamily="34" charset="-122"/>
                <a:ea typeface="微软雅黑" panose="020B0503020204020204" pitchFamily="34" charset="-122"/>
              </a:rPr>
              <a:t>：</a:t>
            </a:r>
            <a:r>
              <a:rPr lang="zh-CN" altLang="en-US" sz="2800" dirty="0" smtClean="0">
                <a:latin typeface="微软雅黑" panose="020B0503020204020204" pitchFamily="34" charset="-122"/>
                <a:ea typeface="微软雅黑" panose="020B0503020204020204" pitchFamily="34" charset="-122"/>
              </a:rPr>
              <a:t>保护目标</a:t>
            </a:r>
            <a:r>
              <a:rPr lang="zh-CN" altLang="en-US" sz="2800" dirty="0">
                <a:latin typeface="微软雅黑" panose="020B0503020204020204" pitchFamily="34" charset="-122"/>
                <a:ea typeface="微软雅黑" panose="020B0503020204020204" pitchFamily="34" charset="-122"/>
              </a:rPr>
              <a:t>不让恶意用户接近。</a:t>
            </a: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50000"/>
              </a:lnSpc>
              <a:spcBef>
                <a:spcPts val="0"/>
              </a:spcBef>
              <a:buClr>
                <a:srgbClr val="EC7328"/>
              </a:buClr>
              <a:buFont typeface="Wingdings" panose="05000000000000000000" pitchFamily="2" charset="2"/>
              <a:buChar char="ü"/>
            </a:pPr>
            <a:r>
              <a:rPr lang="zh-CN" altLang="en-US" sz="2800" b="1" dirty="0" smtClean="0">
                <a:solidFill>
                  <a:srgbClr val="FF0000"/>
                </a:solidFill>
                <a:latin typeface="微软雅黑" panose="020B0503020204020204" pitchFamily="34" charset="-122"/>
                <a:ea typeface="微软雅黑" panose="020B0503020204020204" pitchFamily="34" charset="-122"/>
              </a:rPr>
              <a:t>同步化</a:t>
            </a:r>
            <a:r>
              <a:rPr lang="zh-CN" altLang="en-US" sz="2800" b="1" dirty="0">
                <a:solidFill>
                  <a:srgbClr val="FF0000"/>
                </a:solidFill>
                <a:latin typeface="微软雅黑" panose="020B0503020204020204" pitchFamily="34" charset="-122"/>
                <a:ea typeface="微软雅黑" panose="020B0503020204020204" pitchFamily="34" charset="-122"/>
              </a:rPr>
              <a:t>（</a:t>
            </a:r>
            <a:r>
              <a:rPr lang="en-US" altLang="zh-CN" sz="2800" b="1" dirty="0">
                <a:solidFill>
                  <a:srgbClr val="FF0000"/>
                </a:solidFill>
                <a:latin typeface="微软雅黑" panose="020B0503020204020204" pitchFamily="34" charset="-122"/>
                <a:ea typeface="微软雅黑" panose="020B0503020204020204" pitchFamily="34" charset="-122"/>
              </a:rPr>
              <a:t>Synchronization</a:t>
            </a:r>
            <a:r>
              <a:rPr lang="zh-CN" altLang="en-US" sz="2800" b="1" dirty="0">
                <a:solidFill>
                  <a:srgbClr val="FF0000"/>
                </a:solidFill>
                <a:latin typeface="微软雅黑" panose="020B0503020204020204" pitchFamily="34" charset="-122"/>
                <a:ea typeface="微软雅黑" panose="020B0503020204020204" pitchFamily="34" charset="-122"/>
              </a:rPr>
              <a:t>）代理</a:t>
            </a:r>
            <a:r>
              <a:rPr lang="zh-CN" altLang="en-US" sz="2800" dirty="0">
                <a:latin typeface="微软雅黑" panose="020B0503020204020204" pitchFamily="34" charset="-122"/>
                <a:ea typeface="微软雅黑" panose="020B0503020204020204" pitchFamily="34" charset="-122"/>
              </a:rPr>
              <a:t>：使几个用户能够同时使用一个对象而没有冲突</a:t>
            </a:r>
            <a:r>
              <a:rPr lang="zh-CN" altLang="en-US" sz="2800" dirty="0" smtClean="0">
                <a:latin typeface="微软雅黑" panose="020B0503020204020204" pitchFamily="34" charset="-122"/>
                <a:ea typeface="微软雅黑" panose="020B0503020204020204" pitchFamily="34" charset="-122"/>
              </a:rPr>
              <a:t>。</a:t>
            </a:r>
            <a:endParaRPr lang="en-US" altLang="zh-CN" sz="2400"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矩形 2"/>
          <p:cNvSpPr/>
          <p:nvPr/>
        </p:nvSpPr>
        <p:spPr>
          <a:xfrm>
            <a:off x="914599" y="837506"/>
            <a:ext cx="10729191" cy="5262979"/>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模式应用</a:t>
            </a:r>
            <a:r>
              <a:rPr lang="zh-CN" altLang="en-US" sz="2800" b="1" dirty="0" smtClean="0">
                <a:latin typeface="微软雅黑" panose="020B0503020204020204" pitchFamily="34" charset="-122"/>
                <a:ea typeface="微软雅黑" panose="020B0503020204020204" pitchFamily="34" charset="-122"/>
              </a:rPr>
              <a:t>：</a:t>
            </a:r>
            <a:endParaRPr lang="zh-CN" altLang="en-US" sz="2800" b="1" dirty="0">
              <a:latin typeface="微软雅黑" panose="020B0503020204020204" pitchFamily="34" charset="-122"/>
              <a:ea typeface="微软雅黑" panose="020B0503020204020204" pitchFamily="34" charset="-122"/>
            </a:endParaRPr>
          </a:p>
          <a:p>
            <a:pPr>
              <a:lnSpc>
                <a:spcPct val="150000"/>
              </a:lnSpc>
            </a:pP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1</a:t>
            </a:r>
            <a:r>
              <a:rPr lang="zh-CN" altLang="en-US" sz="2800" dirty="0" smtClean="0">
                <a:latin typeface="微软雅黑" panose="020B0503020204020204" pitchFamily="34" charset="-122"/>
                <a:ea typeface="微软雅黑" panose="020B0503020204020204" pitchFamily="34" charset="-122"/>
              </a:rPr>
              <a:t>）在</a:t>
            </a:r>
            <a:r>
              <a:rPr lang="en-US" altLang="zh-CN" sz="2800" dirty="0">
                <a:latin typeface="微软雅黑" panose="020B0503020204020204" pitchFamily="34" charset="-122"/>
                <a:ea typeface="微软雅黑" panose="020B0503020204020204" pitchFamily="34" charset="-122"/>
              </a:rPr>
              <a:t>Java</a:t>
            </a:r>
            <a:r>
              <a:rPr lang="zh-CN" altLang="en-US" sz="2800" dirty="0">
                <a:latin typeface="微软雅黑" panose="020B0503020204020204" pitchFamily="34" charset="-122"/>
                <a:ea typeface="微软雅黑" panose="020B0503020204020204" pitchFamily="34" charset="-122"/>
              </a:rPr>
              <a:t>的</a:t>
            </a:r>
            <a:r>
              <a:rPr lang="en-US" altLang="zh-CN" sz="2800" dirty="0">
                <a:latin typeface="微软雅黑" panose="020B0503020204020204" pitchFamily="34" charset="-122"/>
                <a:ea typeface="微软雅黑" panose="020B0503020204020204" pitchFamily="34" charset="-122"/>
              </a:rPr>
              <a:t>RMI</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Remote Method Invocation</a:t>
            </a:r>
            <a:r>
              <a:rPr lang="zh-CN" altLang="en-US" sz="2800" dirty="0">
                <a:latin typeface="微软雅黑" panose="020B0503020204020204" pitchFamily="34" charset="-122"/>
                <a:ea typeface="微软雅黑" panose="020B0503020204020204" pitchFamily="34" charset="-122"/>
              </a:rPr>
              <a:t>，远程方法调用）中，定义了客户对象和远程对象，其中客户对象在客户端运行，向远程对象发送请求；远程对象在服务器端运行，通过客户对象使得远程对象如同本地对象一样被访问</a:t>
            </a:r>
            <a:r>
              <a:rPr lang="zh-CN" altLang="en-US" sz="2800" dirty="0" smtClean="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a:p>
            <a:pPr>
              <a:lnSpc>
                <a:spcPct val="150000"/>
              </a:lnSpc>
            </a:pPr>
            <a:r>
              <a:rPr lang="zh-CN" altLang="en-US" sz="2800" dirty="0">
                <a:latin typeface="微软雅黑" panose="020B0503020204020204" pitchFamily="34" charset="-122"/>
                <a:ea typeface="微软雅黑" panose="020B0503020204020204" pitchFamily="34" charset="-122"/>
              </a:rPr>
              <a:t>  在</a:t>
            </a:r>
            <a:r>
              <a:rPr lang="en-US" altLang="zh-CN" sz="2800" dirty="0">
                <a:latin typeface="微软雅黑" panose="020B0503020204020204" pitchFamily="34" charset="-122"/>
                <a:ea typeface="微软雅黑" panose="020B0503020204020204" pitchFamily="34" charset="-122"/>
              </a:rPr>
              <a:t>Java RMI</a:t>
            </a:r>
            <a:r>
              <a:rPr lang="zh-CN" altLang="en-US" sz="2800" dirty="0">
                <a:latin typeface="微软雅黑" panose="020B0503020204020204" pitchFamily="34" charset="-122"/>
                <a:ea typeface="微软雅黑" panose="020B0503020204020204" pitchFamily="34" charset="-122"/>
              </a:rPr>
              <a:t>中客户对象称为</a:t>
            </a:r>
            <a:r>
              <a:rPr lang="en-US" altLang="zh-CN" sz="2800" dirty="0">
                <a:latin typeface="微软雅黑" panose="020B0503020204020204" pitchFamily="34" charset="-122"/>
                <a:ea typeface="微软雅黑" panose="020B0503020204020204" pitchFamily="34" charset="-122"/>
              </a:rPr>
              <a:t>Stub</a:t>
            </a:r>
            <a:r>
              <a:rPr lang="zh-CN" altLang="en-US" sz="2800" dirty="0">
                <a:latin typeface="微软雅黑" panose="020B0503020204020204" pitchFamily="34" charset="-122"/>
                <a:ea typeface="微软雅黑" panose="020B0503020204020204" pitchFamily="34" charset="-122"/>
              </a:rPr>
              <a:t>（翻译为桩或存根）</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桩就是远程对象在客户端的代理，客户进程中的远程对象引用实际上是对本地桩的引用，桩负责将调用客户端请求发送给远程</a:t>
            </a:r>
            <a:r>
              <a:rPr lang="zh-CN" altLang="en-US" sz="2800" dirty="0" smtClean="0">
                <a:latin typeface="微软雅黑" panose="020B0503020204020204" pitchFamily="34" charset="-122"/>
                <a:ea typeface="微软雅黑" panose="020B0503020204020204" pitchFamily="34" charset="-122"/>
              </a:rPr>
              <a:t>对象。</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14599" y="693490"/>
            <a:ext cx="10729191" cy="5262979"/>
          </a:xfrm>
          <a:prstGeom prst="rect">
            <a:avLst/>
          </a:prstGeom>
        </p:spPr>
        <p:txBody>
          <a:bodyPr wrap="square">
            <a:spAutoFit/>
          </a:bodyPr>
          <a:lstStyle/>
          <a:p>
            <a:pPr marL="457200" indent="-457200">
              <a:lnSpc>
                <a:spcPct val="150000"/>
              </a:lnSpc>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模式应用：</a:t>
            </a:r>
            <a:endParaRPr lang="zh-CN" altLang="en-US" sz="2800" b="1" dirty="0">
              <a:latin typeface="微软雅黑" panose="020B0503020204020204" pitchFamily="34" charset="-122"/>
              <a:ea typeface="微软雅黑" panose="020B0503020204020204" pitchFamily="34" charset="-122"/>
            </a:endParaRPr>
          </a:p>
          <a:p>
            <a:pPr>
              <a:lnSpc>
                <a:spcPct val="150000"/>
              </a:lnSpc>
            </a:pP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EJB</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Web Service</a:t>
            </a:r>
            <a:r>
              <a:rPr lang="zh-CN" altLang="en-US" sz="2800" dirty="0">
                <a:latin typeface="微软雅黑" panose="020B0503020204020204" pitchFamily="34" charset="-122"/>
                <a:ea typeface="微软雅黑" panose="020B0503020204020204" pitchFamily="34" charset="-122"/>
              </a:rPr>
              <a:t>等分布式技术都是代理模式的应用。在</a:t>
            </a:r>
            <a:r>
              <a:rPr lang="en-US" altLang="zh-CN" sz="2800" dirty="0">
                <a:latin typeface="微软雅黑" panose="020B0503020204020204" pitchFamily="34" charset="-122"/>
                <a:ea typeface="微软雅黑" panose="020B0503020204020204" pitchFamily="34" charset="-122"/>
              </a:rPr>
              <a:t>EJB</a:t>
            </a:r>
            <a:r>
              <a:rPr lang="zh-CN" altLang="en-US" sz="2800" dirty="0">
                <a:latin typeface="微软雅黑" panose="020B0503020204020204" pitchFamily="34" charset="-122"/>
                <a:ea typeface="微软雅黑" panose="020B0503020204020204" pitchFamily="34" charset="-122"/>
              </a:rPr>
              <a:t>中使用了</a:t>
            </a:r>
            <a:r>
              <a:rPr lang="en-US" altLang="zh-CN" sz="2800" dirty="0">
                <a:latin typeface="微软雅黑" panose="020B0503020204020204" pitchFamily="34" charset="-122"/>
                <a:ea typeface="微软雅黑" panose="020B0503020204020204" pitchFamily="34" charset="-122"/>
              </a:rPr>
              <a:t>RMI</a:t>
            </a:r>
            <a:r>
              <a:rPr lang="zh-CN" altLang="en-US" sz="2800" dirty="0">
                <a:latin typeface="微软雅黑" panose="020B0503020204020204" pitchFamily="34" charset="-122"/>
                <a:ea typeface="微软雅黑" panose="020B0503020204020204" pitchFamily="34" charset="-122"/>
              </a:rPr>
              <a:t>机制，远程服务器中的企业级</a:t>
            </a:r>
            <a:r>
              <a:rPr lang="en-US" altLang="zh-CN" sz="2800" dirty="0">
                <a:latin typeface="微软雅黑" panose="020B0503020204020204" pitchFamily="34" charset="-122"/>
                <a:ea typeface="微软雅黑" panose="020B0503020204020204" pitchFamily="34" charset="-122"/>
              </a:rPr>
              <a:t>Bean</a:t>
            </a:r>
            <a:r>
              <a:rPr lang="zh-CN" altLang="en-US" sz="2800" dirty="0">
                <a:latin typeface="微软雅黑" panose="020B0503020204020204" pitchFamily="34" charset="-122"/>
                <a:ea typeface="微软雅黑" panose="020B0503020204020204" pitchFamily="34" charset="-122"/>
              </a:rPr>
              <a:t>在本地有一个桩代理，客户端通过桩来调用远程对象中定义的方法，而无须直接与远程对象交互。在</a:t>
            </a:r>
            <a:r>
              <a:rPr lang="en-US" altLang="zh-CN" sz="2800" dirty="0">
                <a:latin typeface="微软雅黑" panose="020B0503020204020204" pitchFamily="34" charset="-122"/>
                <a:ea typeface="微软雅黑" panose="020B0503020204020204" pitchFamily="34" charset="-122"/>
              </a:rPr>
              <a:t>EJB</a:t>
            </a:r>
            <a:r>
              <a:rPr lang="zh-CN" altLang="en-US" sz="2800" dirty="0">
                <a:latin typeface="微软雅黑" panose="020B0503020204020204" pitchFamily="34" charset="-122"/>
                <a:ea typeface="微软雅黑" panose="020B0503020204020204" pitchFamily="34" charset="-122"/>
              </a:rPr>
              <a:t>的使用中需要提供一个公共的接口，客户端针对该接口进行编程，无需知道桩以及远程</a:t>
            </a:r>
            <a:r>
              <a:rPr lang="en-US" altLang="zh-CN" sz="2800" dirty="0">
                <a:latin typeface="微软雅黑" panose="020B0503020204020204" pitchFamily="34" charset="-122"/>
                <a:ea typeface="微软雅黑" panose="020B0503020204020204" pitchFamily="34" charset="-122"/>
              </a:rPr>
              <a:t>EJB</a:t>
            </a:r>
            <a:r>
              <a:rPr lang="zh-CN" altLang="en-US" sz="2800" dirty="0">
                <a:latin typeface="微软雅黑" panose="020B0503020204020204" pitchFamily="34" charset="-122"/>
                <a:ea typeface="微软雅黑" panose="020B0503020204020204" pitchFamily="34" charset="-122"/>
              </a:rPr>
              <a:t>的实现细节</a:t>
            </a:r>
            <a:r>
              <a:rPr lang="zh-CN" altLang="en-US" sz="2800" dirty="0" smtClean="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a:p>
            <a:pPr>
              <a:lnSpc>
                <a:spcPct val="150000"/>
              </a:lnSpc>
            </a:pP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3</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Spring</a:t>
            </a:r>
            <a:r>
              <a:rPr lang="zh-CN" altLang="en-US" sz="2800" dirty="0">
                <a:latin typeface="微软雅黑" panose="020B0503020204020204" pitchFamily="34" charset="-122"/>
                <a:ea typeface="微软雅黑" panose="020B0503020204020204" pitchFamily="34" charset="-122"/>
              </a:rPr>
              <a:t>框架中的</a:t>
            </a:r>
            <a:r>
              <a:rPr lang="en-US" altLang="zh-CN" sz="2800" dirty="0">
                <a:latin typeface="微软雅黑" panose="020B0503020204020204" pitchFamily="34" charset="-122"/>
                <a:ea typeface="微软雅黑" panose="020B0503020204020204" pitchFamily="34" charset="-122"/>
              </a:rPr>
              <a:t>AOP</a:t>
            </a:r>
            <a:r>
              <a:rPr lang="zh-CN" altLang="en-US" sz="2800" dirty="0">
                <a:latin typeface="微软雅黑" panose="020B0503020204020204" pitchFamily="34" charset="-122"/>
                <a:ea typeface="微软雅黑" panose="020B0503020204020204" pitchFamily="34" charset="-122"/>
              </a:rPr>
              <a:t>技术也是代理模式的应用，在</a:t>
            </a:r>
            <a:r>
              <a:rPr lang="en-US" altLang="zh-CN" sz="2800" dirty="0">
                <a:latin typeface="微软雅黑" panose="020B0503020204020204" pitchFamily="34" charset="-122"/>
                <a:ea typeface="微软雅黑" panose="020B0503020204020204" pitchFamily="34" charset="-122"/>
              </a:rPr>
              <a:t>Spring AOP</a:t>
            </a:r>
            <a:r>
              <a:rPr lang="zh-CN" altLang="en-US" sz="2800" dirty="0">
                <a:latin typeface="微软雅黑" panose="020B0503020204020204" pitchFamily="34" charset="-122"/>
                <a:ea typeface="微软雅黑" panose="020B0503020204020204" pitchFamily="34" charset="-122"/>
              </a:rPr>
              <a:t>中应用了动态代理（</a:t>
            </a:r>
            <a:r>
              <a:rPr lang="en-US" altLang="zh-CN" sz="2800" dirty="0">
                <a:latin typeface="微软雅黑" panose="020B0503020204020204" pitchFamily="34" charset="-122"/>
                <a:ea typeface="微软雅黑" panose="020B0503020204020204" pitchFamily="34" charset="-122"/>
              </a:rPr>
              <a:t>Dynamic Proxy</a:t>
            </a:r>
            <a:r>
              <a:rPr lang="zh-CN" altLang="en-US" sz="2800" dirty="0">
                <a:latin typeface="微软雅黑" panose="020B0503020204020204" pitchFamily="34" charset="-122"/>
                <a:ea typeface="微软雅黑" panose="020B0503020204020204" pitchFamily="34" charset="-122"/>
              </a:rPr>
              <a:t>）</a:t>
            </a:r>
            <a:r>
              <a:rPr lang="zh-CN" altLang="en-US" sz="2800" dirty="0" smtClean="0">
                <a:latin typeface="微软雅黑" panose="020B0503020204020204" pitchFamily="34" charset="-122"/>
                <a:ea typeface="微软雅黑" panose="020B0503020204020204" pitchFamily="34" charset="-122"/>
              </a:rPr>
              <a:t>技术。</a:t>
            </a:r>
            <a:endParaRPr lang="zh-CN" altLang="en-US" sz="2800" dirty="0">
              <a:latin typeface="微软雅黑" panose="020B0503020204020204" pitchFamily="34" charset="-122"/>
              <a:ea typeface="微软雅黑" panose="020B0503020204020204" pitchFamily="34" charset="-122"/>
            </a:endParaRPr>
          </a:p>
        </p:txBody>
      </p:sp>
      <p:sp>
        <p:nvSpPr>
          <p:cNvPr id="4"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130623" y="771645"/>
            <a:ext cx="10729191" cy="662554"/>
          </a:xfrm>
          <a:prstGeom prst="rect">
            <a:avLst/>
          </a:prstGeom>
        </p:spPr>
        <p:txBody>
          <a:bodyPr wrap="square">
            <a:spAutoFit/>
          </a:bodyPr>
          <a:lstStyle/>
          <a:p>
            <a:pPr>
              <a:lnSpc>
                <a:spcPct val="150000"/>
              </a:lnSpc>
            </a:pPr>
            <a:r>
              <a:rPr lang="zh-CN" altLang="en-US" sz="2800" b="1" dirty="0" smtClean="0">
                <a:latin typeface="微软雅黑" panose="020B0503020204020204" pitchFamily="34" charset="-122"/>
                <a:ea typeface="微软雅黑" panose="020B0503020204020204" pitchFamily="34" charset="-122"/>
              </a:rPr>
              <a:t>（</a:t>
            </a:r>
            <a:r>
              <a:rPr lang="en-US" altLang="zh-CN" sz="2800" b="1" dirty="0" smtClean="0">
                <a:latin typeface="微软雅黑" panose="020B0503020204020204" pitchFamily="34" charset="-122"/>
                <a:ea typeface="微软雅黑" panose="020B0503020204020204" pitchFamily="34" charset="-122"/>
              </a:rPr>
              <a:t>1</a:t>
            </a:r>
            <a:r>
              <a:rPr lang="zh-CN" altLang="en-US" sz="2800" b="1" dirty="0" smtClean="0">
                <a:latin typeface="微软雅黑" panose="020B0503020204020204" pitchFamily="34" charset="-122"/>
                <a:ea typeface="微软雅黑" panose="020B0503020204020204" pitchFamily="34" charset="-122"/>
              </a:rPr>
              <a:t>）远程代理</a:t>
            </a:r>
            <a:endParaRPr lang="en-US" altLang="zh-CN" sz="2800" b="1" dirty="0" smtClean="0">
              <a:latin typeface="微软雅黑" panose="020B0503020204020204" pitchFamily="34" charset="-122"/>
              <a:ea typeface="微软雅黑" panose="020B0503020204020204" pitchFamily="34" charset="-122"/>
            </a:endParaRPr>
          </a:p>
        </p:txBody>
      </p:sp>
      <p:sp>
        <p:nvSpPr>
          <p:cNvPr id="4"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16.5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模式扩展</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矩形 1"/>
          <p:cNvSpPr/>
          <p:nvPr/>
        </p:nvSpPr>
        <p:spPr>
          <a:xfrm>
            <a:off x="842592" y="1341562"/>
            <a:ext cx="10729190" cy="5262979"/>
          </a:xfrm>
          <a:prstGeom prst="rect">
            <a:avLst/>
          </a:prstGeom>
        </p:spPr>
        <p:txBody>
          <a:bodyPr wrap="square">
            <a:spAutoFit/>
          </a:bodyPr>
          <a:lstStyle/>
          <a:p>
            <a:pPr>
              <a:lnSpc>
                <a:spcPct val="150000"/>
              </a:lnSpc>
            </a:pPr>
            <a:r>
              <a:rPr lang="zh-CN" altLang="en-US" sz="2800" dirty="0">
                <a:latin typeface="微软雅黑" panose="020B0503020204020204" pitchFamily="34" charset="-122"/>
                <a:ea typeface="微软雅黑" panose="020B0503020204020204" pitchFamily="34" charset="-122"/>
              </a:rPr>
              <a:t>远程代理可以将网络的细节隐藏</a:t>
            </a:r>
            <a:r>
              <a:rPr lang="zh-CN" altLang="en-US" sz="2800" dirty="0" smtClean="0">
                <a:latin typeface="微软雅黑" panose="020B0503020204020204" pitchFamily="34" charset="-122"/>
                <a:ea typeface="微软雅黑" panose="020B0503020204020204" pitchFamily="34" charset="-122"/>
              </a:rPr>
              <a:t>起来，使得</a:t>
            </a:r>
            <a:r>
              <a:rPr lang="zh-CN" altLang="en-US" sz="2800" dirty="0">
                <a:latin typeface="微软雅黑" panose="020B0503020204020204" pitchFamily="34" charset="-122"/>
                <a:ea typeface="微软雅黑" panose="020B0503020204020204" pitchFamily="34" charset="-122"/>
              </a:rPr>
              <a:t>客户端不必考虑网络的</a:t>
            </a:r>
            <a:r>
              <a:rPr lang="zh-CN" altLang="en-US" sz="2800" dirty="0" smtClean="0">
                <a:latin typeface="微软雅黑" panose="020B0503020204020204" pitchFamily="34" charset="-122"/>
                <a:ea typeface="微软雅黑" panose="020B0503020204020204" pitchFamily="34" charset="-122"/>
              </a:rPr>
              <a:t>存在。客户</a:t>
            </a:r>
            <a:r>
              <a:rPr lang="zh-CN" altLang="en-US" sz="2800" dirty="0">
                <a:latin typeface="微软雅黑" panose="020B0503020204020204" pitchFamily="34" charset="-122"/>
                <a:ea typeface="微软雅黑" panose="020B0503020204020204" pitchFamily="34" charset="-122"/>
              </a:rPr>
              <a:t>完全</a:t>
            </a:r>
            <a:r>
              <a:rPr lang="zh-CN" altLang="en-US" sz="2800" dirty="0" smtClean="0">
                <a:latin typeface="微软雅黑" panose="020B0503020204020204" pitchFamily="34" charset="-122"/>
                <a:ea typeface="微软雅黑" panose="020B0503020204020204" pitchFamily="34" charset="-122"/>
              </a:rPr>
              <a:t>可以</a:t>
            </a:r>
            <a:r>
              <a:rPr lang="zh-CN" altLang="en-US" sz="2800" dirty="0">
                <a:latin typeface="微软雅黑" panose="020B0503020204020204" pitchFamily="34" charset="-122"/>
                <a:ea typeface="微软雅黑" panose="020B0503020204020204" pitchFamily="34" charset="-122"/>
              </a:rPr>
              <a:t>认为被代理的远程业务对象是局域的而不是远程的，而远程代理对象承担了大部分的</a:t>
            </a:r>
            <a:r>
              <a:rPr lang="zh-CN" altLang="en-US" sz="2800" dirty="0" smtClean="0">
                <a:latin typeface="微软雅黑" panose="020B0503020204020204" pitchFamily="34" charset="-122"/>
                <a:ea typeface="微软雅黑" panose="020B0503020204020204" pitchFamily="34" charset="-122"/>
              </a:rPr>
              <a:t>网络</a:t>
            </a:r>
            <a:r>
              <a:rPr lang="zh-CN" altLang="en-US" sz="2800" dirty="0">
                <a:latin typeface="微软雅黑" panose="020B0503020204020204" pitchFamily="34" charset="-122"/>
                <a:ea typeface="微软雅黑" panose="020B0503020204020204" pitchFamily="34" charset="-122"/>
              </a:rPr>
              <a:t>通信工作。远程代理模式</a:t>
            </a:r>
            <a:r>
              <a:rPr lang="zh-CN" altLang="en-US" sz="2800" dirty="0" smtClean="0">
                <a:latin typeface="微软雅黑" panose="020B0503020204020204" pitchFamily="34" charset="-122"/>
                <a:ea typeface="微软雅黑" panose="020B0503020204020204" pitchFamily="34" charset="-122"/>
              </a:rPr>
              <a:t>示意图所</a:t>
            </a:r>
            <a:r>
              <a:rPr lang="zh-CN" altLang="en-US" sz="2800" dirty="0">
                <a:latin typeface="微软雅黑" panose="020B0503020204020204" pitchFamily="34" charset="-122"/>
                <a:ea typeface="微软雅黑" panose="020B0503020204020204" pitchFamily="34" charset="-122"/>
              </a:rPr>
              <a:t>示，</a:t>
            </a:r>
            <a:r>
              <a:rPr lang="zh-CN" altLang="en-US" sz="2800" dirty="0" smtClean="0">
                <a:latin typeface="微软雅黑" panose="020B0503020204020204" pitchFamily="34" charset="-122"/>
                <a:ea typeface="微软雅黑" panose="020B0503020204020204" pitchFamily="34" charset="-122"/>
              </a:rPr>
              <a:t>客户端对象不能</a:t>
            </a:r>
            <a:r>
              <a:rPr lang="zh-CN" altLang="en-US" sz="2800" dirty="0">
                <a:latin typeface="微软雅黑" panose="020B0503020204020204" pitchFamily="34" charset="-122"/>
                <a:ea typeface="微软雅黑" panose="020B0503020204020204" pitchFamily="34" charset="-122"/>
              </a:rPr>
              <a:t>直接访问远程主机中</a:t>
            </a:r>
            <a:r>
              <a:rPr lang="zh-CN" altLang="en-US" sz="2800" dirty="0" smtClean="0">
                <a:latin typeface="微软雅黑" panose="020B0503020204020204" pitchFamily="34" charset="-122"/>
                <a:ea typeface="微软雅黑" panose="020B0503020204020204" pitchFamily="34" charset="-122"/>
              </a:rPr>
              <a:t>的业务对象，只能</a:t>
            </a:r>
            <a:r>
              <a:rPr lang="zh-CN" altLang="en-US" sz="2800" dirty="0">
                <a:latin typeface="微软雅黑" panose="020B0503020204020204" pitchFamily="34" charset="-122"/>
                <a:ea typeface="微软雅黑" panose="020B0503020204020204" pitchFamily="34" charset="-122"/>
              </a:rPr>
              <a:t>通过本地</a:t>
            </a:r>
            <a:r>
              <a:rPr lang="zh-CN" altLang="en-US" sz="2800" dirty="0" smtClean="0">
                <a:latin typeface="微软雅黑" panose="020B0503020204020204" pitchFamily="34" charset="-122"/>
                <a:ea typeface="微软雅黑" panose="020B0503020204020204" pitchFamily="34" charset="-122"/>
              </a:rPr>
              <a:t>主机间接访问，</a:t>
            </a:r>
            <a:r>
              <a:rPr lang="zh-CN" altLang="en-US" sz="2800" dirty="0">
                <a:latin typeface="微软雅黑" panose="020B0503020204020204" pitchFamily="34" charset="-122"/>
                <a:ea typeface="微软雅黑" panose="020B0503020204020204" pitchFamily="34" charset="-122"/>
              </a:rPr>
              <a:t>远程业务对象在本地主机中</a:t>
            </a:r>
            <a:r>
              <a:rPr lang="zh-CN" altLang="en-US" sz="2800" dirty="0" smtClean="0">
                <a:latin typeface="微软雅黑" panose="020B0503020204020204" pitchFamily="34" charset="-122"/>
                <a:ea typeface="微软雅黑" panose="020B0503020204020204" pitchFamily="34" charset="-122"/>
              </a:rPr>
              <a:t>有一个</a:t>
            </a:r>
            <a:r>
              <a:rPr lang="zh-CN" altLang="en-US" sz="2800" dirty="0">
                <a:latin typeface="微软雅黑" panose="020B0503020204020204" pitchFamily="34" charset="-122"/>
                <a:ea typeface="微软雅黑" panose="020B0503020204020204" pitchFamily="34" charset="-122"/>
              </a:rPr>
              <a:t>远程代理</a:t>
            </a:r>
            <a:r>
              <a:rPr lang="zh-CN" altLang="en-US" sz="2800" dirty="0" smtClean="0">
                <a:latin typeface="微软雅黑" panose="020B0503020204020204" pitchFamily="34" charset="-122"/>
                <a:ea typeface="微软雅黑" panose="020B0503020204020204" pitchFamily="34" charset="-122"/>
              </a:rPr>
              <a:t>对象</a:t>
            </a:r>
            <a:r>
              <a:rPr lang="zh-CN" altLang="en-US" sz="2800" dirty="0">
                <a:latin typeface="微软雅黑" panose="020B0503020204020204" pitchFamily="34" charset="-122"/>
                <a:ea typeface="微软雅黑" panose="020B0503020204020204" pitchFamily="34" charset="-122"/>
              </a:rPr>
              <a:t>，</a:t>
            </a:r>
            <a:r>
              <a:rPr lang="zh-CN" altLang="en-US" sz="2800" dirty="0" smtClean="0">
                <a:latin typeface="微软雅黑" panose="020B0503020204020204" pitchFamily="34" charset="-122"/>
                <a:ea typeface="微软雅黑" panose="020B0503020204020204" pitchFamily="34" charset="-122"/>
              </a:rPr>
              <a:t>它</a:t>
            </a:r>
            <a:r>
              <a:rPr lang="zh-CN" altLang="en-US" sz="2800" dirty="0">
                <a:latin typeface="微软雅黑" panose="020B0503020204020204" pitchFamily="34" charset="-122"/>
                <a:ea typeface="微软雅黑" panose="020B0503020204020204" pitchFamily="34" charset="-122"/>
              </a:rPr>
              <a:t>负责对远程业务对象的访问和网络</a:t>
            </a:r>
            <a:r>
              <a:rPr lang="zh-CN" altLang="en-US" sz="2800" dirty="0" smtClean="0">
                <a:latin typeface="微软雅黑" panose="020B0503020204020204" pitchFamily="34" charset="-122"/>
                <a:ea typeface="微软雅黑" panose="020B0503020204020204" pitchFamily="34" charset="-122"/>
              </a:rPr>
              <a:t>通信，对于</a:t>
            </a:r>
            <a:r>
              <a:rPr lang="zh-CN" altLang="en-US" sz="2800" dirty="0">
                <a:latin typeface="微软雅黑" panose="020B0503020204020204" pitchFamily="34" charset="-122"/>
                <a:ea typeface="微软雅黑" panose="020B0503020204020204" pitchFamily="34" charset="-122"/>
              </a:rPr>
              <a:t>客户端</a:t>
            </a:r>
            <a:r>
              <a:rPr lang="zh-CN" altLang="en-US" sz="2800" dirty="0" smtClean="0">
                <a:latin typeface="微软雅黑" panose="020B0503020204020204" pitchFamily="34" charset="-122"/>
                <a:ea typeface="微软雅黑" panose="020B0503020204020204" pitchFamily="34" charset="-122"/>
              </a:rPr>
              <a:t>而言是</a:t>
            </a:r>
            <a:r>
              <a:rPr lang="zh-CN" altLang="en-US" sz="2800" dirty="0">
                <a:latin typeface="微软雅黑" panose="020B0503020204020204" pitchFamily="34" charset="-122"/>
                <a:ea typeface="微软雅黑" panose="020B0503020204020204" pitchFamily="34" charset="-122"/>
              </a:rPr>
              <a:t>透明</a:t>
            </a:r>
            <a:r>
              <a:rPr lang="zh-CN" altLang="en-US" sz="2800" dirty="0" smtClean="0">
                <a:latin typeface="微软雅黑" panose="020B0503020204020204" pitchFamily="34" charset="-122"/>
                <a:ea typeface="微软雅黑" panose="020B0503020204020204" pitchFamily="34" charset="-122"/>
              </a:rPr>
              <a:t>的。客户端无须</a:t>
            </a:r>
            <a:r>
              <a:rPr lang="zh-CN" altLang="en-US" sz="2800" dirty="0">
                <a:latin typeface="微软雅黑" panose="020B0503020204020204" pitchFamily="34" charset="-122"/>
                <a:ea typeface="微软雅黑" panose="020B0503020204020204" pitchFamily="34" charset="-122"/>
              </a:rPr>
              <a:t>关心</a:t>
            </a:r>
            <a:r>
              <a:rPr lang="zh-CN" altLang="en-US" sz="2800" dirty="0" smtClean="0">
                <a:latin typeface="微软雅黑" panose="020B0503020204020204" pitchFamily="34" charset="-122"/>
                <a:ea typeface="微软雅黑" panose="020B0503020204020204" pitchFamily="34" charset="-122"/>
              </a:rPr>
              <a:t>实现具体</a:t>
            </a:r>
            <a:r>
              <a:rPr lang="zh-CN" altLang="en-US" sz="2800" dirty="0">
                <a:latin typeface="微软雅黑" panose="020B0503020204020204" pitchFamily="34" charset="-122"/>
                <a:ea typeface="微软雅黑" panose="020B0503020204020204" pitchFamily="34" charset="-122"/>
              </a:rPr>
              <a:t>业务的是谁，它只需要按照服务接口所定义的方式直接与</a:t>
            </a:r>
            <a:r>
              <a:rPr lang="zh-CN" altLang="en-US" sz="2800" dirty="0" smtClean="0">
                <a:latin typeface="微软雅黑" panose="020B0503020204020204" pitchFamily="34" charset="-122"/>
                <a:ea typeface="微软雅黑" panose="020B0503020204020204" pitchFamily="34" charset="-122"/>
              </a:rPr>
              <a:t>本地主机交互</a:t>
            </a:r>
            <a:r>
              <a:rPr lang="zh-CN" altLang="en-US" sz="2800" dirty="0">
                <a:latin typeface="微软雅黑" panose="020B0503020204020204" pitchFamily="34" charset="-122"/>
                <a:ea typeface="微软雅黑" panose="020B0503020204020204" pitchFamily="34" charset="-122"/>
              </a:rPr>
              <a:t>即</a:t>
            </a:r>
            <a:r>
              <a:rPr lang="zh-CN" altLang="en-US" sz="2800" dirty="0" smtClean="0">
                <a:latin typeface="微软雅黑" panose="020B0503020204020204" pitchFamily="34" charset="-122"/>
                <a:ea typeface="微软雅黑" panose="020B0503020204020204" pitchFamily="34" charset="-122"/>
              </a:rPr>
              <a:t>可。</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698575" y="771645"/>
            <a:ext cx="11161239" cy="5898509"/>
            <a:chOff x="698575" y="771645"/>
            <a:chExt cx="11161239" cy="5898509"/>
          </a:xfrm>
        </p:grpSpPr>
        <p:sp>
          <p:nvSpPr>
            <p:cNvPr id="3" name="矩形 2"/>
            <p:cNvSpPr/>
            <p:nvPr/>
          </p:nvSpPr>
          <p:spPr>
            <a:xfrm>
              <a:off x="1130623" y="771645"/>
              <a:ext cx="10729191" cy="662554"/>
            </a:xfrm>
            <a:prstGeom prst="rect">
              <a:avLst/>
            </a:prstGeom>
          </p:spPr>
          <p:txBody>
            <a:bodyPr wrap="square">
              <a:spAutoFit/>
            </a:bodyPr>
            <a:lstStyle/>
            <a:p>
              <a:pPr>
                <a:lnSpc>
                  <a:spcPct val="150000"/>
                </a:lnSpc>
              </a:pPr>
              <a:r>
                <a:rPr lang="zh-CN" altLang="en-US" sz="2800" b="1" dirty="0" smtClean="0">
                  <a:latin typeface="微软雅黑" panose="020B0503020204020204" pitchFamily="34" charset="-122"/>
                  <a:ea typeface="微软雅黑" panose="020B0503020204020204" pitchFamily="34" charset="-122"/>
                </a:rPr>
                <a:t>（</a:t>
              </a:r>
              <a:r>
                <a:rPr lang="en-US" altLang="zh-CN" sz="2800" b="1" dirty="0" smtClean="0">
                  <a:latin typeface="微软雅黑" panose="020B0503020204020204" pitchFamily="34" charset="-122"/>
                  <a:ea typeface="微软雅黑" panose="020B0503020204020204" pitchFamily="34" charset="-122"/>
                </a:rPr>
                <a:t>1</a:t>
              </a:r>
              <a:r>
                <a:rPr lang="zh-CN" altLang="en-US" sz="2800" b="1" dirty="0" smtClean="0">
                  <a:latin typeface="微软雅黑" panose="020B0503020204020204" pitchFamily="34" charset="-122"/>
                  <a:ea typeface="微软雅黑" panose="020B0503020204020204" pitchFamily="34" charset="-122"/>
                </a:rPr>
                <a:t>）远程代理</a:t>
              </a:r>
              <a:endParaRPr lang="en-US" altLang="zh-CN" sz="2800" b="1" dirty="0" smtClean="0">
                <a:latin typeface="微软雅黑" panose="020B0503020204020204" pitchFamily="34" charset="-122"/>
                <a:ea typeface="微软雅黑" panose="020B0503020204020204" pitchFamily="34" charset="-122"/>
              </a:endParaRPr>
            </a:p>
          </p:txBody>
        </p:sp>
        <p:grpSp>
          <p:nvGrpSpPr>
            <p:cNvPr id="12" name="组合 11"/>
            <p:cNvGrpSpPr/>
            <p:nvPr/>
          </p:nvGrpSpPr>
          <p:grpSpPr>
            <a:xfrm>
              <a:off x="698575" y="3645818"/>
              <a:ext cx="2592288" cy="3024336"/>
              <a:chOff x="698575" y="2853730"/>
              <a:chExt cx="2592288" cy="3024336"/>
            </a:xfrm>
          </p:grpSpPr>
          <p:sp>
            <p:nvSpPr>
              <p:cNvPr id="6" name="矩形 5"/>
              <p:cNvSpPr/>
              <p:nvPr/>
            </p:nvSpPr>
            <p:spPr>
              <a:xfrm>
                <a:off x="698575" y="2853730"/>
                <a:ext cx="2592288" cy="302433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7" name="矩形 6"/>
              <p:cNvSpPr/>
              <p:nvPr/>
            </p:nvSpPr>
            <p:spPr>
              <a:xfrm>
                <a:off x="931852" y="3501802"/>
                <a:ext cx="2088232" cy="5760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b="1" dirty="0" smtClean="0">
                    <a:latin typeface="微软雅黑" panose="020B0503020204020204" pitchFamily="34" charset="-122"/>
                    <a:ea typeface="微软雅黑" panose="020B0503020204020204" pitchFamily="34" charset="-122"/>
                  </a:rPr>
                  <a:t>客户端对象</a:t>
                </a:r>
                <a:endParaRPr lang="zh-CN" altLang="en-US" b="1" dirty="0">
                  <a:latin typeface="微软雅黑" panose="020B0503020204020204" pitchFamily="34" charset="-122"/>
                  <a:ea typeface="微软雅黑" panose="020B0503020204020204" pitchFamily="34" charset="-122"/>
                </a:endParaRPr>
              </a:p>
            </p:txBody>
          </p:sp>
          <p:sp>
            <p:nvSpPr>
              <p:cNvPr id="9" name="TextBox 8"/>
              <p:cNvSpPr txBox="1"/>
              <p:nvPr/>
            </p:nvSpPr>
            <p:spPr>
              <a:xfrm>
                <a:off x="698575" y="2853730"/>
                <a:ext cx="2376264" cy="461665"/>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 客户端</a:t>
                </a:r>
                <a:endParaRPr lang="zh-CN" altLang="en-US" dirty="0">
                  <a:latin typeface="微软雅黑" panose="020B0503020204020204" pitchFamily="34" charset="-122"/>
                  <a:ea typeface="微软雅黑" panose="020B0503020204020204" pitchFamily="34" charset="-122"/>
                </a:endParaRPr>
              </a:p>
            </p:txBody>
          </p:sp>
          <p:sp>
            <p:nvSpPr>
              <p:cNvPr id="10" name="矩形 9"/>
              <p:cNvSpPr/>
              <p:nvPr/>
            </p:nvSpPr>
            <p:spPr>
              <a:xfrm>
                <a:off x="934960" y="4077866"/>
                <a:ext cx="2088232" cy="5760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11" name="矩形 10"/>
              <p:cNvSpPr/>
              <p:nvPr/>
            </p:nvSpPr>
            <p:spPr>
              <a:xfrm>
                <a:off x="934960" y="4653930"/>
                <a:ext cx="2088232" cy="5760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grpSp>
        <p:grpSp>
          <p:nvGrpSpPr>
            <p:cNvPr id="13" name="组合 12"/>
            <p:cNvGrpSpPr/>
            <p:nvPr/>
          </p:nvGrpSpPr>
          <p:grpSpPr>
            <a:xfrm>
              <a:off x="4442991" y="3645818"/>
              <a:ext cx="2592288" cy="3024336"/>
              <a:chOff x="698575" y="2853730"/>
              <a:chExt cx="2592288" cy="3024336"/>
            </a:xfrm>
          </p:grpSpPr>
          <p:sp>
            <p:nvSpPr>
              <p:cNvPr id="14" name="矩形 13"/>
              <p:cNvSpPr/>
              <p:nvPr/>
            </p:nvSpPr>
            <p:spPr>
              <a:xfrm>
                <a:off x="698575" y="2853730"/>
                <a:ext cx="2592288" cy="302433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5" name="矩形 14"/>
              <p:cNvSpPr/>
              <p:nvPr/>
            </p:nvSpPr>
            <p:spPr>
              <a:xfrm>
                <a:off x="931852" y="3501802"/>
                <a:ext cx="2088232" cy="5760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b="1" dirty="0" smtClean="0">
                    <a:latin typeface="微软雅黑" panose="020B0503020204020204" pitchFamily="34" charset="-122"/>
                    <a:ea typeface="微软雅黑" panose="020B0503020204020204" pitchFamily="34" charset="-122"/>
                  </a:rPr>
                  <a:t>远程代理对象</a:t>
                </a:r>
                <a:endParaRPr lang="zh-CN" altLang="en-US" b="1" dirty="0">
                  <a:latin typeface="微软雅黑" panose="020B0503020204020204" pitchFamily="34" charset="-122"/>
                  <a:ea typeface="微软雅黑" panose="020B0503020204020204" pitchFamily="34" charset="-122"/>
                </a:endParaRPr>
              </a:p>
            </p:txBody>
          </p:sp>
          <p:sp>
            <p:nvSpPr>
              <p:cNvPr id="16" name="TextBox 15"/>
              <p:cNvSpPr txBox="1"/>
              <p:nvPr/>
            </p:nvSpPr>
            <p:spPr>
              <a:xfrm>
                <a:off x="698575" y="2853730"/>
                <a:ext cx="2376264" cy="461665"/>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 本地主机</a:t>
                </a:r>
                <a:endParaRPr lang="zh-CN" altLang="en-US" dirty="0">
                  <a:latin typeface="微软雅黑" panose="020B0503020204020204" pitchFamily="34" charset="-122"/>
                  <a:ea typeface="微软雅黑" panose="020B0503020204020204" pitchFamily="34" charset="-122"/>
                </a:endParaRPr>
              </a:p>
            </p:txBody>
          </p:sp>
          <p:sp>
            <p:nvSpPr>
              <p:cNvPr id="17" name="矩形 16"/>
              <p:cNvSpPr/>
              <p:nvPr/>
            </p:nvSpPr>
            <p:spPr>
              <a:xfrm>
                <a:off x="934960" y="4077866"/>
                <a:ext cx="2088232" cy="5760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18" name="矩形 17"/>
              <p:cNvSpPr/>
              <p:nvPr/>
            </p:nvSpPr>
            <p:spPr>
              <a:xfrm>
                <a:off x="934960" y="4653930"/>
                <a:ext cx="2088232" cy="5760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grpSp>
        <p:grpSp>
          <p:nvGrpSpPr>
            <p:cNvPr id="19" name="组合 18"/>
            <p:cNvGrpSpPr/>
            <p:nvPr/>
          </p:nvGrpSpPr>
          <p:grpSpPr>
            <a:xfrm>
              <a:off x="8835479" y="3645818"/>
              <a:ext cx="2592288" cy="3024336"/>
              <a:chOff x="698575" y="2853730"/>
              <a:chExt cx="2592288" cy="3024336"/>
            </a:xfrm>
          </p:grpSpPr>
          <p:sp>
            <p:nvSpPr>
              <p:cNvPr id="20" name="矩形 19"/>
              <p:cNvSpPr/>
              <p:nvPr/>
            </p:nvSpPr>
            <p:spPr>
              <a:xfrm>
                <a:off x="698575" y="2853730"/>
                <a:ext cx="2592288" cy="302433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21" name="矩形 20"/>
              <p:cNvSpPr/>
              <p:nvPr/>
            </p:nvSpPr>
            <p:spPr>
              <a:xfrm>
                <a:off x="931852" y="3501802"/>
                <a:ext cx="2088232" cy="5760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b="1" dirty="0" smtClean="0">
                    <a:latin typeface="微软雅黑" panose="020B0503020204020204" pitchFamily="34" charset="-122"/>
                    <a:ea typeface="微软雅黑" panose="020B0503020204020204" pitchFamily="34" charset="-122"/>
                  </a:rPr>
                  <a:t>远程业务对象</a:t>
                </a:r>
                <a:endParaRPr lang="zh-CN" altLang="en-US" b="1" dirty="0">
                  <a:latin typeface="微软雅黑" panose="020B0503020204020204" pitchFamily="34" charset="-122"/>
                  <a:ea typeface="微软雅黑" panose="020B0503020204020204" pitchFamily="34" charset="-122"/>
                </a:endParaRPr>
              </a:p>
            </p:txBody>
          </p:sp>
          <p:sp>
            <p:nvSpPr>
              <p:cNvPr id="22" name="TextBox 21"/>
              <p:cNvSpPr txBox="1"/>
              <p:nvPr/>
            </p:nvSpPr>
            <p:spPr>
              <a:xfrm>
                <a:off x="698575" y="2853730"/>
                <a:ext cx="2376264" cy="461665"/>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 远程主机</a:t>
                </a:r>
                <a:endParaRPr lang="zh-CN" altLang="en-US" dirty="0">
                  <a:latin typeface="微软雅黑" panose="020B0503020204020204" pitchFamily="34" charset="-122"/>
                  <a:ea typeface="微软雅黑" panose="020B0503020204020204" pitchFamily="34" charset="-122"/>
                </a:endParaRPr>
              </a:p>
            </p:txBody>
          </p:sp>
          <p:sp>
            <p:nvSpPr>
              <p:cNvPr id="23" name="矩形 22"/>
              <p:cNvSpPr/>
              <p:nvPr/>
            </p:nvSpPr>
            <p:spPr>
              <a:xfrm>
                <a:off x="934960" y="4077866"/>
                <a:ext cx="2088232" cy="5760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24" name="矩形 23"/>
              <p:cNvSpPr/>
              <p:nvPr/>
            </p:nvSpPr>
            <p:spPr>
              <a:xfrm>
                <a:off x="934960" y="4653930"/>
                <a:ext cx="2088232" cy="5760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grpSp>
        <p:grpSp>
          <p:nvGrpSpPr>
            <p:cNvPr id="28" name="组合 27"/>
            <p:cNvGrpSpPr/>
            <p:nvPr/>
          </p:nvGrpSpPr>
          <p:grpSpPr>
            <a:xfrm>
              <a:off x="6880155" y="870448"/>
              <a:ext cx="2099340" cy="1695250"/>
              <a:chOff x="6530387" y="870448"/>
              <a:chExt cx="2099340" cy="1695250"/>
            </a:xfrm>
          </p:grpSpPr>
          <p:sp>
            <p:nvSpPr>
              <p:cNvPr id="25" name="矩形 24"/>
              <p:cNvSpPr/>
              <p:nvPr/>
            </p:nvSpPr>
            <p:spPr>
              <a:xfrm>
                <a:off x="6530387" y="870448"/>
                <a:ext cx="2088232" cy="5760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b="1" dirty="0" smtClean="0">
                    <a:latin typeface="微软雅黑" panose="020B0503020204020204" pitchFamily="34" charset="-122"/>
                    <a:ea typeface="微软雅黑" panose="020B0503020204020204" pitchFamily="34" charset="-122"/>
                  </a:rPr>
                  <a:t>服务接口</a:t>
                </a:r>
                <a:endParaRPr lang="zh-CN" altLang="en-US" b="1" dirty="0">
                  <a:latin typeface="微软雅黑" panose="020B0503020204020204" pitchFamily="34" charset="-122"/>
                  <a:ea typeface="微软雅黑" panose="020B0503020204020204" pitchFamily="34" charset="-122"/>
                </a:endParaRPr>
              </a:p>
            </p:txBody>
          </p:sp>
          <p:sp>
            <p:nvSpPr>
              <p:cNvPr id="26" name="矩形 25"/>
              <p:cNvSpPr/>
              <p:nvPr/>
            </p:nvSpPr>
            <p:spPr>
              <a:xfrm>
                <a:off x="6541495" y="1407969"/>
                <a:ext cx="2088232" cy="5760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b="1" dirty="0" smtClean="0">
                    <a:latin typeface="微软雅黑" panose="020B0503020204020204" pitchFamily="34" charset="-122"/>
                    <a:ea typeface="微软雅黑" panose="020B0503020204020204" pitchFamily="34" charset="-122"/>
                  </a:rPr>
                  <a:t>服务接口</a:t>
                </a:r>
                <a:endParaRPr lang="zh-CN" altLang="en-US" b="1" dirty="0">
                  <a:latin typeface="微软雅黑" panose="020B0503020204020204" pitchFamily="34" charset="-122"/>
                  <a:ea typeface="微软雅黑" panose="020B0503020204020204" pitchFamily="34" charset="-122"/>
                </a:endParaRPr>
              </a:p>
            </p:txBody>
          </p:sp>
          <p:sp>
            <p:nvSpPr>
              <p:cNvPr id="27" name="矩形 26"/>
              <p:cNvSpPr/>
              <p:nvPr/>
            </p:nvSpPr>
            <p:spPr>
              <a:xfrm>
                <a:off x="6541495" y="1989634"/>
                <a:ext cx="2088232" cy="57606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b="1" dirty="0" smtClean="0">
                    <a:latin typeface="微软雅黑" panose="020B0503020204020204" pitchFamily="34" charset="-122"/>
                    <a:ea typeface="微软雅黑" panose="020B0503020204020204" pitchFamily="34" charset="-122"/>
                  </a:rPr>
                  <a:t>服务接口</a:t>
                </a:r>
                <a:endParaRPr lang="zh-CN" altLang="en-US" b="1" dirty="0">
                  <a:latin typeface="微软雅黑" panose="020B0503020204020204" pitchFamily="34" charset="-122"/>
                  <a:ea typeface="微软雅黑" panose="020B0503020204020204" pitchFamily="34" charset="-122"/>
                </a:endParaRPr>
              </a:p>
            </p:txBody>
          </p:sp>
        </p:grpSp>
        <p:cxnSp>
          <p:nvCxnSpPr>
            <p:cNvPr id="30" name="直接箭头连接符 29"/>
            <p:cNvCxnSpPr>
              <a:stCxn id="6" idx="3"/>
              <a:endCxn id="14" idx="1"/>
            </p:cNvCxnSpPr>
            <p:nvPr/>
          </p:nvCxnSpPr>
          <p:spPr>
            <a:xfrm>
              <a:off x="3290863" y="5157986"/>
              <a:ext cx="1152128" cy="0"/>
            </a:xfrm>
            <a:prstGeom prst="straightConnector1">
              <a:avLst/>
            </a:prstGeom>
            <a:ln>
              <a:prstDash val="dash"/>
              <a:tailEnd type="arrow"/>
            </a:ln>
          </p:spPr>
          <p:style>
            <a:lnRef idx="3">
              <a:schemeClr val="accent1"/>
            </a:lnRef>
            <a:fillRef idx="0">
              <a:schemeClr val="accent1"/>
            </a:fillRef>
            <a:effectRef idx="2">
              <a:schemeClr val="accent1"/>
            </a:effectRef>
            <a:fontRef idx="minor">
              <a:schemeClr val="tx1"/>
            </a:fontRef>
          </p:style>
        </p:cxnSp>
        <p:cxnSp>
          <p:nvCxnSpPr>
            <p:cNvPr id="31" name="直接箭头连接符 30"/>
            <p:cNvCxnSpPr/>
            <p:nvPr/>
          </p:nvCxnSpPr>
          <p:spPr>
            <a:xfrm>
              <a:off x="7179295" y="5229994"/>
              <a:ext cx="1592560" cy="0"/>
            </a:xfrm>
            <a:prstGeom prst="straightConnector1">
              <a:avLst/>
            </a:prstGeom>
            <a:ln>
              <a:prstDash val="solid"/>
              <a:headEnd type="diamond" w="lg" len="lg"/>
              <a:tailEnd type="arrow"/>
            </a:ln>
          </p:spPr>
          <p:style>
            <a:lnRef idx="3">
              <a:schemeClr val="accent1"/>
            </a:lnRef>
            <a:fillRef idx="0">
              <a:schemeClr val="accent1"/>
            </a:fillRef>
            <a:effectRef idx="2">
              <a:schemeClr val="accent1"/>
            </a:effectRef>
            <a:fontRef idx="minor">
              <a:schemeClr val="tx1"/>
            </a:fontRef>
          </p:style>
        </p:cxnSp>
        <p:cxnSp>
          <p:nvCxnSpPr>
            <p:cNvPr id="34" name="直接连接符 33"/>
            <p:cNvCxnSpPr/>
            <p:nvPr/>
          </p:nvCxnSpPr>
          <p:spPr>
            <a:xfrm>
              <a:off x="7035279" y="4107483"/>
              <a:ext cx="458910"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37" name="直接箭头连接符 36"/>
            <p:cNvCxnSpPr/>
            <p:nvPr/>
          </p:nvCxnSpPr>
          <p:spPr>
            <a:xfrm flipV="1">
              <a:off x="7494189" y="2781721"/>
              <a:ext cx="0" cy="1325762"/>
            </a:xfrm>
            <a:prstGeom prst="straightConnector1">
              <a:avLst/>
            </a:prstGeom>
            <a:ln>
              <a:solidFill>
                <a:schemeClr val="accent1"/>
              </a:solidFill>
              <a:tailEnd type="none"/>
            </a:ln>
          </p:spPr>
          <p:style>
            <a:lnRef idx="3">
              <a:schemeClr val="accent1"/>
            </a:lnRef>
            <a:fillRef idx="0">
              <a:schemeClr val="accent1"/>
            </a:fillRef>
            <a:effectRef idx="2">
              <a:schemeClr val="accent1"/>
            </a:effectRef>
            <a:fontRef idx="minor">
              <a:schemeClr val="tx1"/>
            </a:fontRef>
          </p:style>
        </p:cxnSp>
        <p:sp>
          <p:nvSpPr>
            <p:cNvPr id="39" name="等腰三角形 38"/>
            <p:cNvSpPr/>
            <p:nvPr/>
          </p:nvSpPr>
          <p:spPr>
            <a:xfrm>
              <a:off x="7314169" y="2565698"/>
              <a:ext cx="360040" cy="288032"/>
            </a:xfrm>
            <a:prstGeom prst="triangl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cxnSp>
          <p:nvCxnSpPr>
            <p:cNvPr id="40" name="直接箭头连接符 39"/>
            <p:cNvCxnSpPr/>
            <p:nvPr/>
          </p:nvCxnSpPr>
          <p:spPr>
            <a:xfrm flipV="1">
              <a:off x="8403431" y="2853730"/>
              <a:ext cx="0" cy="1325762"/>
            </a:xfrm>
            <a:prstGeom prst="straightConnector1">
              <a:avLst/>
            </a:prstGeom>
            <a:ln>
              <a:solidFill>
                <a:schemeClr val="accent1"/>
              </a:solidFill>
              <a:tailEnd type="none"/>
            </a:ln>
          </p:spPr>
          <p:style>
            <a:lnRef idx="3">
              <a:schemeClr val="accent1"/>
            </a:lnRef>
            <a:fillRef idx="0">
              <a:schemeClr val="accent1"/>
            </a:fillRef>
            <a:effectRef idx="2">
              <a:schemeClr val="accent1"/>
            </a:effectRef>
            <a:fontRef idx="minor">
              <a:schemeClr val="tx1"/>
            </a:fontRef>
          </p:style>
        </p:cxnSp>
        <p:sp>
          <p:nvSpPr>
            <p:cNvPr id="41" name="等腰三角形 40"/>
            <p:cNvSpPr/>
            <p:nvPr/>
          </p:nvSpPr>
          <p:spPr>
            <a:xfrm>
              <a:off x="8187407" y="2565698"/>
              <a:ext cx="360040" cy="288032"/>
            </a:xfrm>
            <a:prstGeom prst="triangle">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cxnSp>
          <p:nvCxnSpPr>
            <p:cNvPr id="43" name="直接连接符 42"/>
            <p:cNvCxnSpPr/>
            <p:nvPr/>
          </p:nvCxnSpPr>
          <p:spPr>
            <a:xfrm>
              <a:off x="8376569" y="4149874"/>
              <a:ext cx="458910" cy="0"/>
            </a:xfrm>
            <a:prstGeom prst="line">
              <a:avLst/>
            </a:prstGeom>
          </p:spPr>
          <p:style>
            <a:lnRef idx="3">
              <a:schemeClr val="accent1"/>
            </a:lnRef>
            <a:fillRef idx="0">
              <a:schemeClr val="accent1"/>
            </a:fillRef>
            <a:effectRef idx="2">
              <a:schemeClr val="accent1"/>
            </a:effectRef>
            <a:fontRef idx="minor">
              <a:schemeClr val="tx1"/>
            </a:fontRef>
          </p:style>
        </p:cxnSp>
      </p:grpSp>
      <p:sp>
        <p:nvSpPr>
          <p:cNvPr id="4"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16.5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模式扩展</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130623" y="771645"/>
            <a:ext cx="10729191" cy="738664"/>
          </a:xfrm>
          <a:prstGeom prst="rect">
            <a:avLst/>
          </a:prstGeom>
        </p:spPr>
        <p:txBody>
          <a:bodyPr wrap="square">
            <a:spAutoFit/>
          </a:bodyPr>
          <a:lstStyle/>
          <a:p>
            <a:pPr>
              <a:lnSpc>
                <a:spcPct val="150000"/>
              </a:lnSpc>
            </a:pPr>
            <a:r>
              <a:rPr lang="zh-CN" altLang="en-US" sz="2800" b="1" dirty="0" smtClean="0">
                <a:latin typeface="微软雅黑" panose="020B0503020204020204" pitchFamily="34" charset="-122"/>
                <a:ea typeface="微软雅黑" panose="020B0503020204020204" pitchFamily="34" charset="-122"/>
              </a:rPr>
              <a:t>（</a:t>
            </a:r>
            <a:r>
              <a:rPr lang="en-US" altLang="zh-CN" sz="2800" b="1" dirty="0" smtClean="0">
                <a:latin typeface="微软雅黑" panose="020B0503020204020204" pitchFamily="34" charset="-122"/>
                <a:ea typeface="微软雅黑" panose="020B0503020204020204" pitchFamily="34" charset="-122"/>
              </a:rPr>
              <a:t>2</a:t>
            </a:r>
            <a:r>
              <a:rPr lang="zh-CN" altLang="en-US" sz="2800" b="1" dirty="0" smtClean="0">
                <a:latin typeface="微软雅黑" panose="020B0503020204020204" pitchFamily="34" charset="-122"/>
                <a:ea typeface="微软雅黑" panose="020B0503020204020204" pitchFamily="34" charset="-122"/>
              </a:rPr>
              <a:t>）虚拟代理</a:t>
            </a:r>
            <a:endParaRPr lang="en-US" altLang="zh-CN" sz="2800" b="1" dirty="0" smtClean="0">
              <a:latin typeface="微软雅黑" panose="020B0503020204020204" pitchFamily="34" charset="-122"/>
              <a:ea typeface="微软雅黑" panose="020B0503020204020204" pitchFamily="34" charset="-122"/>
            </a:endParaRPr>
          </a:p>
        </p:txBody>
      </p:sp>
      <p:sp>
        <p:nvSpPr>
          <p:cNvPr id="4"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16.5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模式扩展</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矩形 1"/>
          <p:cNvSpPr/>
          <p:nvPr/>
        </p:nvSpPr>
        <p:spPr>
          <a:xfrm>
            <a:off x="482551" y="1477442"/>
            <a:ext cx="11233246" cy="5262979"/>
          </a:xfrm>
          <a:prstGeom prst="rect">
            <a:avLst/>
          </a:prstGeom>
        </p:spPr>
        <p:txBody>
          <a:bodyPr wrap="square">
            <a:spAutoFit/>
          </a:bodyPr>
          <a:lstStyle/>
          <a:p>
            <a:pPr marL="342900" indent="-342900">
              <a:lnSpc>
                <a:spcPct val="150000"/>
              </a:lnSpc>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虚拟</a:t>
            </a:r>
            <a:r>
              <a:rPr lang="zh-CN" altLang="en-US" sz="2800" dirty="0">
                <a:latin typeface="微软雅黑" panose="020B0503020204020204" pitchFamily="34" charset="-122"/>
                <a:ea typeface="微软雅黑" panose="020B0503020204020204" pitchFamily="34" charset="-122"/>
              </a:rPr>
              <a:t>代理模式是一种内存节省技术，那些占用大量内存或处理复杂的对象将推迟到使用</a:t>
            </a:r>
            <a:r>
              <a:rPr lang="zh-CN" altLang="en-US" sz="2800" dirty="0" smtClean="0">
                <a:latin typeface="微软雅黑" panose="020B0503020204020204" pitchFamily="34" charset="-122"/>
                <a:ea typeface="微软雅黑" panose="020B0503020204020204" pitchFamily="34" charset="-122"/>
              </a:rPr>
              <a:t>它的</a:t>
            </a:r>
            <a:r>
              <a:rPr lang="zh-CN" altLang="en-US" sz="2800" dirty="0">
                <a:latin typeface="微软雅黑" panose="020B0503020204020204" pitchFamily="34" charset="-122"/>
                <a:ea typeface="微软雅黑" panose="020B0503020204020204" pitchFamily="34" charset="-122"/>
              </a:rPr>
              <a:t>时候才创建</a:t>
            </a:r>
            <a:r>
              <a:rPr lang="zh-CN" altLang="en-US" sz="2800" dirty="0" smtClean="0">
                <a:latin typeface="微软雅黑" panose="020B0503020204020204" pitchFamily="34" charset="-122"/>
                <a:ea typeface="微软雅黑" panose="020B0503020204020204" pitchFamily="34" charset="-122"/>
              </a:rPr>
              <a:t>。</a:t>
            </a:r>
            <a:endParaRPr lang="en-US" altLang="zh-CN" sz="2800" dirty="0" smtClean="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对象</a:t>
            </a:r>
            <a:r>
              <a:rPr lang="zh-CN" altLang="en-US" sz="2800" dirty="0">
                <a:latin typeface="微软雅黑" panose="020B0503020204020204" pitchFamily="34" charset="-122"/>
                <a:ea typeface="微软雅黑" panose="020B0503020204020204" pitchFamily="34" charset="-122"/>
              </a:rPr>
              <a:t>在第一次被引用时被创建并且同一对象可被</a:t>
            </a:r>
            <a:r>
              <a:rPr lang="zh-CN" altLang="en-US" sz="2800" dirty="0" smtClean="0">
                <a:latin typeface="微软雅黑" panose="020B0503020204020204" pitchFamily="34" charset="-122"/>
                <a:ea typeface="微软雅黑" panose="020B0503020204020204" pitchFamily="34" charset="-122"/>
              </a:rPr>
              <a:t>重用。它</a:t>
            </a:r>
            <a:r>
              <a:rPr lang="zh-CN" altLang="en-US" sz="2800" dirty="0">
                <a:latin typeface="微软雅黑" panose="020B0503020204020204" pitchFamily="34" charset="-122"/>
                <a:ea typeface="微软雅黑" panose="020B0503020204020204" pitchFamily="34" charset="-122"/>
              </a:rPr>
              <a:t>加速了</a:t>
            </a:r>
            <a:r>
              <a:rPr lang="zh-CN" altLang="en-US" sz="2800" dirty="0" smtClean="0">
                <a:latin typeface="微软雅黑" panose="020B0503020204020204" pitchFamily="34" charset="-122"/>
                <a:ea typeface="微软雅黑" panose="020B0503020204020204" pitchFamily="34" charset="-122"/>
              </a:rPr>
              <a:t>应用程序的启动，但是</a:t>
            </a:r>
            <a:r>
              <a:rPr lang="zh-CN" altLang="en-US" sz="2800" dirty="0">
                <a:latin typeface="微软雅黑" panose="020B0503020204020204" pitchFamily="34" charset="-122"/>
                <a:ea typeface="微软雅黑" panose="020B0503020204020204" pitchFamily="34" charset="-122"/>
              </a:rPr>
              <a:t>由于在访问时需要检测所需讨象是否已经被创建，因此在访问该对象的任何</a:t>
            </a:r>
            <a:r>
              <a:rPr lang="zh-CN" altLang="en-US" sz="2800" dirty="0" smtClean="0">
                <a:latin typeface="微软雅黑" panose="020B0503020204020204" pitchFamily="34" charset="-122"/>
                <a:ea typeface="微软雅黑" panose="020B0503020204020204" pitchFamily="34" charset="-122"/>
              </a:rPr>
              <a:t>地方</a:t>
            </a:r>
            <a:r>
              <a:rPr lang="zh-CN" altLang="en-US" sz="2800" dirty="0">
                <a:latin typeface="微软雅黑" panose="020B0503020204020204" pitchFamily="34" charset="-122"/>
                <a:ea typeface="微软雅黑" panose="020B0503020204020204" pitchFamily="34" charset="-122"/>
              </a:rPr>
              <a:t>都需要进行存在性检测，将消耗系统时间。这也是用时间换取空间的一种做法</a:t>
            </a:r>
            <a:r>
              <a:rPr lang="zh-CN" altLang="en-US" sz="2800" dirty="0" smtClean="0">
                <a:latin typeface="微软雅黑" panose="020B0503020204020204" pitchFamily="34" charset="-122"/>
                <a:ea typeface="微软雅黑" panose="020B0503020204020204" pitchFamily="34" charset="-122"/>
              </a:rPr>
              <a:t>。</a:t>
            </a:r>
            <a:endParaRPr lang="en-US" altLang="zh-CN" sz="2800" dirty="0" smtClean="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在应用虚拟代理模式时，需要设计一个与真实对象具有相同接口的虚拟对象</a:t>
            </a:r>
            <a:r>
              <a:rPr lang="zh-CN" altLang="en-US" sz="2800" dirty="0" smtClean="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130623" y="771645"/>
            <a:ext cx="10729191" cy="738664"/>
          </a:xfrm>
          <a:prstGeom prst="rect">
            <a:avLst/>
          </a:prstGeom>
        </p:spPr>
        <p:txBody>
          <a:bodyPr wrap="square">
            <a:spAutoFit/>
          </a:bodyPr>
          <a:lstStyle/>
          <a:p>
            <a:pPr>
              <a:lnSpc>
                <a:spcPct val="150000"/>
              </a:lnSpc>
            </a:pPr>
            <a:r>
              <a:rPr lang="zh-CN" altLang="en-US" sz="2800" b="1" dirty="0" smtClean="0">
                <a:latin typeface="微软雅黑" panose="020B0503020204020204" pitchFamily="34" charset="-122"/>
                <a:ea typeface="微软雅黑" panose="020B0503020204020204" pitchFamily="34" charset="-122"/>
              </a:rPr>
              <a:t>（</a:t>
            </a:r>
            <a:r>
              <a:rPr lang="en-US" altLang="zh-CN" sz="2800" b="1" dirty="0" smtClean="0">
                <a:latin typeface="微软雅黑" panose="020B0503020204020204" pitchFamily="34" charset="-122"/>
                <a:ea typeface="微软雅黑" panose="020B0503020204020204" pitchFamily="34" charset="-122"/>
              </a:rPr>
              <a:t>2</a:t>
            </a:r>
            <a:r>
              <a:rPr lang="zh-CN" altLang="en-US" sz="2800" b="1" dirty="0" smtClean="0">
                <a:latin typeface="微软雅黑" panose="020B0503020204020204" pitchFamily="34" charset="-122"/>
                <a:ea typeface="微软雅黑" panose="020B0503020204020204" pitchFamily="34" charset="-122"/>
              </a:rPr>
              <a:t>）虚拟代理</a:t>
            </a:r>
            <a:endParaRPr lang="en-US" altLang="zh-CN" sz="2800" b="1" dirty="0" smtClean="0">
              <a:latin typeface="微软雅黑" panose="020B0503020204020204" pitchFamily="34" charset="-122"/>
              <a:ea typeface="微软雅黑" panose="020B0503020204020204" pitchFamily="34" charset="-122"/>
            </a:endParaRPr>
          </a:p>
        </p:txBody>
      </p:sp>
      <p:sp>
        <p:nvSpPr>
          <p:cNvPr id="4"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16.5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模式扩展</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矩形 1"/>
          <p:cNvSpPr/>
          <p:nvPr/>
        </p:nvSpPr>
        <p:spPr>
          <a:xfrm>
            <a:off x="482551" y="1341562"/>
            <a:ext cx="11233246" cy="3970318"/>
          </a:xfrm>
          <a:prstGeom prst="rect">
            <a:avLst/>
          </a:prstGeom>
        </p:spPr>
        <p:txBody>
          <a:bodyPr wrap="square">
            <a:spAutoFit/>
          </a:bodyPr>
          <a:lstStyle/>
          <a:p>
            <a:pPr marL="342900" indent="-342900">
              <a:lnSpc>
                <a:spcPct val="150000"/>
              </a:lnSpc>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代理</a:t>
            </a:r>
            <a:r>
              <a:rPr lang="zh-CN" altLang="en-US" sz="2800" dirty="0">
                <a:latin typeface="微软雅黑" panose="020B0503020204020204" pitchFamily="34" charset="-122"/>
                <a:ea typeface="微软雅黑" panose="020B0503020204020204" pitchFamily="34" charset="-122"/>
              </a:rPr>
              <a:t>对象不需要自动创建真实</a:t>
            </a:r>
            <a:r>
              <a:rPr lang="zh-CN" altLang="en-US" sz="2800" dirty="0" smtClean="0">
                <a:latin typeface="微软雅黑" panose="020B0503020204020204" pitchFamily="34" charset="-122"/>
                <a:ea typeface="微软雅黑" panose="020B0503020204020204" pitchFamily="34" charset="-122"/>
              </a:rPr>
              <a:t>对象。当</a:t>
            </a:r>
            <a:r>
              <a:rPr lang="zh-CN" altLang="en-US" sz="2800" dirty="0">
                <a:latin typeface="微软雅黑" panose="020B0503020204020204" pitchFamily="34" charset="-122"/>
                <a:ea typeface="微软雅黑" panose="020B0503020204020204" pitchFamily="34" charset="-122"/>
              </a:rPr>
              <a:t>客户</a:t>
            </a:r>
            <a:r>
              <a:rPr lang="zh-CN" altLang="en-US" sz="2800" dirty="0" smtClean="0">
                <a:latin typeface="微软雅黑" panose="020B0503020204020204" pitchFamily="34" charset="-122"/>
                <a:ea typeface="微软雅黑" panose="020B0503020204020204" pitchFamily="34" charset="-122"/>
              </a:rPr>
              <a:t>需要真实对象</a:t>
            </a:r>
            <a:r>
              <a:rPr lang="zh-CN" altLang="en-US" sz="2800" dirty="0">
                <a:latin typeface="微软雅黑" panose="020B0503020204020204" pitchFamily="34" charset="-122"/>
                <a:ea typeface="微软雅黑" panose="020B0503020204020204" pitchFamily="34" charset="-122"/>
              </a:rPr>
              <a:t>的服务时，可以调用虚拟代理对象上的方法来创建，并且在使用过程中还可以检测真实</a:t>
            </a:r>
            <a:r>
              <a:rPr lang="zh-CN" altLang="en-US" sz="2800" dirty="0" smtClean="0">
                <a:latin typeface="微软雅黑" panose="020B0503020204020204" pitchFamily="34" charset="-122"/>
                <a:ea typeface="微软雅黑" panose="020B0503020204020204" pitchFamily="34" charset="-122"/>
              </a:rPr>
              <a:t>对象</a:t>
            </a:r>
            <a:r>
              <a:rPr lang="zh-CN" altLang="en-US" sz="2800" dirty="0">
                <a:latin typeface="微软雅黑" panose="020B0503020204020204" pitchFamily="34" charset="-122"/>
                <a:ea typeface="微软雅黑" panose="020B0503020204020204" pitchFamily="34" charset="-122"/>
              </a:rPr>
              <a:t>是否被创建</a:t>
            </a:r>
            <a:r>
              <a:rPr lang="zh-CN" altLang="en-US" sz="2800" dirty="0" smtClean="0">
                <a:latin typeface="微软雅黑" panose="020B0503020204020204" pitchFamily="34" charset="-122"/>
                <a:ea typeface="微软雅黑" panose="020B0503020204020204" pitchFamily="34" charset="-122"/>
              </a:rPr>
              <a:t>。</a:t>
            </a:r>
            <a:endParaRPr lang="en-US" altLang="zh-CN" sz="2800" dirty="0" smtClean="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在真实对象创建成功之前虚拟代理扮演真实对象的替身，而当真实对象创建之后，虚拟代理将用户的请求转发给真实</a:t>
            </a:r>
            <a:r>
              <a:rPr lang="zh-CN" altLang="en-US" sz="2800" dirty="0" smtClean="0">
                <a:latin typeface="微软雅黑" panose="020B0503020204020204" pitchFamily="34" charset="-122"/>
                <a:ea typeface="微软雅黑" panose="020B0503020204020204" pitchFamily="34" charset="-122"/>
              </a:rPr>
              <a:t>对象。</a:t>
            </a:r>
            <a:endParaRPr lang="en-US" altLang="zh-CN" sz="2800" dirty="0" smtClean="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客户对象就像和真实对象一样与代理对象进行交互。</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130623" y="771645"/>
            <a:ext cx="10729191" cy="738664"/>
          </a:xfrm>
          <a:prstGeom prst="rect">
            <a:avLst/>
          </a:prstGeom>
        </p:spPr>
        <p:txBody>
          <a:bodyPr wrap="square">
            <a:spAutoFit/>
          </a:bodyPr>
          <a:lstStyle/>
          <a:p>
            <a:pPr>
              <a:lnSpc>
                <a:spcPct val="150000"/>
              </a:lnSpc>
            </a:pPr>
            <a:r>
              <a:rPr lang="zh-CN" altLang="en-US" sz="2800" b="1" dirty="0" smtClean="0">
                <a:latin typeface="微软雅黑" panose="020B0503020204020204" pitchFamily="34" charset="-122"/>
                <a:ea typeface="微软雅黑" panose="020B0503020204020204" pitchFamily="34" charset="-122"/>
              </a:rPr>
              <a:t>（</a:t>
            </a:r>
            <a:r>
              <a:rPr lang="en-US" altLang="zh-CN" sz="2800" b="1" dirty="0" smtClean="0">
                <a:latin typeface="微软雅黑" panose="020B0503020204020204" pitchFamily="34" charset="-122"/>
                <a:ea typeface="微软雅黑" panose="020B0503020204020204" pitchFamily="34" charset="-122"/>
              </a:rPr>
              <a:t>3</a:t>
            </a:r>
            <a:r>
              <a:rPr lang="zh-CN" altLang="en-US" sz="2800" b="1" dirty="0" smtClean="0">
                <a:latin typeface="微软雅黑" panose="020B0503020204020204" pitchFamily="34" charset="-122"/>
                <a:ea typeface="微软雅黑" panose="020B0503020204020204" pitchFamily="34" charset="-122"/>
              </a:rPr>
              <a:t>）动态代理</a:t>
            </a:r>
            <a:endParaRPr lang="en-US" altLang="zh-CN" sz="2800" b="1" dirty="0" smtClean="0">
              <a:latin typeface="微软雅黑" panose="020B0503020204020204" pitchFamily="34" charset="-122"/>
              <a:ea typeface="微软雅黑" panose="020B0503020204020204" pitchFamily="34" charset="-122"/>
            </a:endParaRPr>
          </a:p>
        </p:txBody>
      </p:sp>
      <p:sp>
        <p:nvSpPr>
          <p:cNvPr id="4"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16.5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模式扩展</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Rectangle 3"/>
          <p:cNvSpPr txBox="1">
            <a:spLocks noChangeArrowheads="1"/>
          </p:cNvSpPr>
          <p:nvPr/>
        </p:nvSpPr>
        <p:spPr>
          <a:xfrm>
            <a:off x="453008" y="1701602"/>
            <a:ext cx="11118775" cy="4419600"/>
          </a:xfrm>
          <a:prstGeom prst="rect">
            <a:avLst/>
          </a:prstGeom>
        </p:spPr>
        <p:txBody>
          <a:bodyPr/>
          <a:lst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lnSpc>
                <a:spcPct val="150000"/>
              </a:lnSpc>
              <a:spcBef>
                <a:spcPts val="0"/>
              </a:spcBef>
            </a:pPr>
            <a:r>
              <a:rPr lang="zh-CN" altLang="en-US" sz="2800" smtClean="0">
                <a:solidFill>
                  <a:srgbClr val="FF0000"/>
                </a:solidFill>
                <a:latin typeface="微软雅黑" panose="020B0503020204020204" pitchFamily="34" charset="-122"/>
                <a:ea typeface="微软雅黑" panose="020B0503020204020204" pitchFamily="34" charset="-122"/>
              </a:rPr>
              <a:t>动态代理</a:t>
            </a:r>
            <a:r>
              <a:rPr lang="en-US" altLang="zh-CN" sz="2800" smtClean="0">
                <a:solidFill>
                  <a:srgbClr val="FF0000"/>
                </a:solidFill>
                <a:latin typeface="微软雅黑" panose="020B0503020204020204" pitchFamily="34" charset="-122"/>
                <a:ea typeface="微软雅黑" panose="020B0503020204020204" pitchFamily="34" charset="-122"/>
              </a:rPr>
              <a:t>(Dynamic Proxy)</a:t>
            </a:r>
            <a:r>
              <a:rPr lang="zh-CN" altLang="en-US" sz="2800" smtClean="0">
                <a:latin typeface="微软雅黑" panose="020B0503020204020204" pitchFamily="34" charset="-122"/>
                <a:ea typeface="微软雅黑" panose="020B0503020204020204" pitchFamily="34" charset="-122"/>
              </a:rPr>
              <a:t>可以让系统在运行时根据实际需要来</a:t>
            </a:r>
            <a:r>
              <a:rPr lang="zh-CN" altLang="en-US" sz="2800" smtClean="0">
                <a:solidFill>
                  <a:srgbClr val="FF0000"/>
                </a:solidFill>
                <a:latin typeface="微软雅黑" panose="020B0503020204020204" pitchFamily="34" charset="-122"/>
                <a:ea typeface="微软雅黑" panose="020B0503020204020204" pitchFamily="34" charset="-122"/>
              </a:rPr>
              <a:t>动态创建代理类</a:t>
            </a:r>
            <a:r>
              <a:rPr lang="zh-CN" altLang="en-US" sz="2800" smtClean="0">
                <a:latin typeface="微软雅黑" panose="020B0503020204020204" pitchFamily="34" charset="-122"/>
                <a:ea typeface="微软雅黑" panose="020B0503020204020204" pitchFamily="34" charset="-122"/>
              </a:rPr>
              <a:t>，</a:t>
            </a:r>
            <a:r>
              <a:rPr lang="zh-CN" altLang="en-US" sz="2800" smtClean="0">
                <a:solidFill>
                  <a:srgbClr val="FF0000"/>
                </a:solidFill>
                <a:latin typeface="微软雅黑" panose="020B0503020204020204" pitchFamily="34" charset="-122"/>
                <a:ea typeface="微软雅黑" panose="020B0503020204020204" pitchFamily="34" charset="-122"/>
              </a:rPr>
              <a:t>让同一个代理类能够代理多个不同的真实主题类而且可以代理不同的方法</a:t>
            </a:r>
            <a:endParaRPr lang="en-US" altLang="zh-CN" sz="2800" smtClean="0">
              <a:latin typeface="微软雅黑" panose="020B0503020204020204" pitchFamily="34" charset="-122"/>
              <a:ea typeface="微软雅黑" panose="020B0503020204020204" pitchFamily="34" charset="-122"/>
            </a:endParaRPr>
          </a:p>
          <a:p>
            <a:pPr>
              <a:lnSpc>
                <a:spcPct val="150000"/>
              </a:lnSpc>
              <a:spcBef>
                <a:spcPts val="0"/>
              </a:spcBef>
            </a:pPr>
            <a:r>
              <a:rPr lang="en-US" altLang="zh-CN" sz="2800" smtClean="0">
                <a:latin typeface="微软雅黑" panose="020B0503020204020204" pitchFamily="34" charset="-122"/>
                <a:ea typeface="微软雅黑" panose="020B0503020204020204" pitchFamily="34" charset="-122"/>
              </a:rPr>
              <a:t>Java</a:t>
            </a:r>
            <a:r>
              <a:rPr lang="zh-CN" altLang="en-US" sz="2800" smtClean="0">
                <a:latin typeface="微软雅黑" panose="020B0503020204020204" pitchFamily="34" charset="-122"/>
                <a:ea typeface="微软雅黑" panose="020B0503020204020204" pitchFamily="34" charset="-122"/>
              </a:rPr>
              <a:t>语言提供了对动态代理的支持，</a:t>
            </a:r>
            <a:r>
              <a:rPr lang="en-US" altLang="zh-CN" sz="2800" smtClean="0">
                <a:latin typeface="微软雅黑" panose="020B0503020204020204" pitchFamily="34" charset="-122"/>
                <a:ea typeface="微软雅黑" panose="020B0503020204020204" pitchFamily="34" charset="-122"/>
              </a:rPr>
              <a:t>Java</a:t>
            </a:r>
            <a:r>
              <a:rPr lang="zh-CN" altLang="en-US" sz="2800" smtClean="0">
                <a:latin typeface="微软雅黑" panose="020B0503020204020204" pitchFamily="34" charset="-122"/>
                <a:ea typeface="微软雅黑" panose="020B0503020204020204" pitchFamily="34" charset="-122"/>
              </a:rPr>
              <a:t>语言实现动态代理时需要用到位于</a:t>
            </a:r>
            <a:r>
              <a:rPr lang="en-US" altLang="zh-CN" sz="2800" smtClean="0">
                <a:solidFill>
                  <a:srgbClr val="FF0000"/>
                </a:solidFill>
                <a:latin typeface="微软雅黑" panose="020B0503020204020204" pitchFamily="34" charset="-122"/>
                <a:ea typeface="微软雅黑" panose="020B0503020204020204" pitchFamily="34" charset="-122"/>
              </a:rPr>
              <a:t>java.lang.reflect</a:t>
            </a:r>
            <a:r>
              <a:rPr lang="zh-CN" altLang="en-US" sz="2800" smtClean="0">
                <a:solidFill>
                  <a:srgbClr val="FF0000"/>
                </a:solidFill>
                <a:latin typeface="微软雅黑" panose="020B0503020204020204" pitchFamily="34" charset="-122"/>
                <a:ea typeface="微软雅黑" panose="020B0503020204020204" pitchFamily="34" charset="-122"/>
              </a:rPr>
              <a:t>包</a:t>
            </a:r>
            <a:r>
              <a:rPr lang="zh-CN" altLang="en-US" sz="2800" smtClean="0">
                <a:latin typeface="微软雅黑" panose="020B0503020204020204" pitchFamily="34" charset="-122"/>
                <a:ea typeface="微软雅黑" panose="020B0503020204020204" pitchFamily="34" charset="-122"/>
              </a:rPr>
              <a:t>中的一些类</a:t>
            </a:r>
            <a:endParaRPr lang="en-US" altLang="zh-CN" sz="2800"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130623" y="771645"/>
            <a:ext cx="10729191" cy="738664"/>
          </a:xfrm>
          <a:prstGeom prst="rect">
            <a:avLst/>
          </a:prstGeom>
        </p:spPr>
        <p:txBody>
          <a:bodyPr wrap="square">
            <a:spAutoFit/>
          </a:bodyPr>
          <a:lstStyle/>
          <a:p>
            <a:pPr>
              <a:lnSpc>
                <a:spcPct val="150000"/>
              </a:lnSpc>
            </a:pPr>
            <a:r>
              <a:rPr lang="zh-CN" altLang="en-US" sz="2800" b="1" dirty="0" smtClean="0">
                <a:latin typeface="微软雅黑" panose="020B0503020204020204" pitchFamily="34" charset="-122"/>
                <a:ea typeface="微软雅黑" panose="020B0503020204020204" pitchFamily="34" charset="-122"/>
              </a:rPr>
              <a:t>（</a:t>
            </a:r>
            <a:r>
              <a:rPr lang="en-US" altLang="zh-CN" sz="2800" b="1" dirty="0" smtClean="0">
                <a:latin typeface="微软雅黑" panose="020B0503020204020204" pitchFamily="34" charset="-122"/>
                <a:ea typeface="微软雅黑" panose="020B0503020204020204" pitchFamily="34" charset="-122"/>
              </a:rPr>
              <a:t>3</a:t>
            </a:r>
            <a:r>
              <a:rPr lang="zh-CN" altLang="en-US" sz="2800" b="1" dirty="0" smtClean="0">
                <a:latin typeface="微软雅黑" panose="020B0503020204020204" pitchFamily="34" charset="-122"/>
                <a:ea typeface="微软雅黑" panose="020B0503020204020204" pitchFamily="34" charset="-122"/>
              </a:rPr>
              <a:t>）动态代理</a:t>
            </a:r>
            <a:endParaRPr lang="en-US" altLang="zh-CN" sz="2800" b="1" dirty="0" smtClean="0">
              <a:latin typeface="微软雅黑" panose="020B0503020204020204" pitchFamily="34" charset="-122"/>
              <a:ea typeface="微软雅黑" panose="020B0503020204020204" pitchFamily="34" charset="-122"/>
            </a:endParaRPr>
          </a:p>
        </p:txBody>
      </p:sp>
      <p:sp>
        <p:nvSpPr>
          <p:cNvPr id="4"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16.5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模式扩展</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Rectangle 3"/>
          <p:cNvSpPr txBox="1">
            <a:spLocks noChangeArrowheads="1"/>
          </p:cNvSpPr>
          <p:nvPr/>
        </p:nvSpPr>
        <p:spPr>
          <a:xfrm>
            <a:off x="453008" y="1701602"/>
            <a:ext cx="11118775" cy="4419600"/>
          </a:xfrm>
          <a:prstGeom prst="rect">
            <a:avLst/>
          </a:prstGeom>
        </p:spPr>
        <p:txBody>
          <a:bodyPr/>
          <a:lst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lnSpc>
                <a:spcPct val="150000"/>
              </a:lnSpc>
              <a:spcBef>
                <a:spcPts val="0"/>
              </a:spcBef>
            </a:pPr>
            <a:r>
              <a:rPr lang="zh-CN" altLang="en-US" sz="2800" dirty="0" smtClean="0">
                <a:latin typeface="微软雅黑" panose="020B0503020204020204" pitchFamily="34" charset="-122"/>
                <a:ea typeface="微软雅黑" panose="020B0503020204020204" pitchFamily="34" charset="-122"/>
              </a:rPr>
              <a:t>实现动态代理，需要让代理类实现</a:t>
            </a:r>
            <a:r>
              <a:rPr lang="en-US" altLang="zh-CN" sz="2800" dirty="0" smtClean="0">
                <a:latin typeface="微软雅黑" panose="020B0503020204020204" pitchFamily="34" charset="-122"/>
                <a:ea typeface="微软雅黑" panose="020B0503020204020204" pitchFamily="34" charset="-122"/>
              </a:rPr>
              <a:t>InvocationHandler</a:t>
            </a:r>
            <a:r>
              <a:rPr lang="zh-CN" altLang="en-US" sz="2800" dirty="0" smtClean="0">
                <a:latin typeface="微软雅黑" panose="020B0503020204020204" pitchFamily="34" charset="-122"/>
                <a:ea typeface="微软雅黑" panose="020B0503020204020204" pitchFamily="34" charset="-122"/>
              </a:rPr>
              <a:t>接口，并实现其中的</a:t>
            </a:r>
            <a:r>
              <a:rPr lang="en-US" altLang="zh-CN" sz="2800" dirty="0" smtClean="0">
                <a:latin typeface="微软雅黑" panose="020B0503020204020204" pitchFamily="34" charset="-122"/>
                <a:ea typeface="微软雅黑" panose="020B0503020204020204" pitchFamily="34" charset="-122"/>
              </a:rPr>
              <a:t>invoke</a:t>
            </a:r>
            <a:r>
              <a:rPr lang="zh-CN" altLang="en-US" sz="2800" dirty="0" smtClean="0">
                <a:latin typeface="微软雅黑" panose="020B0503020204020204" pitchFamily="34" charset="-122"/>
                <a:ea typeface="微软雅黑" panose="020B0503020204020204" pitchFamily="34" charset="-122"/>
              </a:rPr>
              <a:t>方法</a:t>
            </a:r>
            <a:endParaRPr lang="zh-CN" altLang="en-US" sz="2800" dirty="0" smtClean="0">
              <a:latin typeface="微软雅黑" panose="020B0503020204020204" pitchFamily="34" charset="-122"/>
              <a:ea typeface="微软雅黑" panose="020B0503020204020204" pitchFamily="34" charset="-122"/>
            </a:endParaRPr>
          </a:p>
          <a:p>
            <a:pPr>
              <a:lnSpc>
                <a:spcPct val="150000"/>
              </a:lnSpc>
              <a:spcBef>
                <a:spcPts val="0"/>
              </a:spcBef>
            </a:pPr>
            <a:r>
              <a:rPr lang="zh-CN" altLang="en-US" sz="2800" dirty="0" smtClean="0">
                <a:latin typeface="微软雅黑" panose="020B0503020204020204" pitchFamily="34" charset="-122"/>
                <a:ea typeface="微软雅黑" panose="020B0503020204020204" pitchFamily="34" charset="-122"/>
              </a:rPr>
              <a:t>在客户端中，使用</a:t>
            </a:r>
            <a:r>
              <a:rPr lang="en-US" altLang="zh-CN" sz="2800" dirty="0" smtClean="0">
                <a:latin typeface="微软雅黑" panose="020B0503020204020204" pitchFamily="34" charset="-122"/>
                <a:ea typeface="微软雅黑" panose="020B0503020204020204" pitchFamily="34" charset="-122"/>
              </a:rPr>
              <a:t>Proxy.newProxyInstance</a:t>
            </a:r>
            <a:r>
              <a:rPr lang="zh-CN" altLang="en-US" sz="2800" dirty="0" smtClean="0">
                <a:latin typeface="微软雅黑" panose="020B0503020204020204" pitchFamily="34" charset="-122"/>
                <a:ea typeface="微软雅黑" panose="020B0503020204020204" pitchFamily="34" charset="-122"/>
              </a:rPr>
              <a:t>方法，创建对真实角色对象的代理</a:t>
            </a:r>
            <a:r>
              <a:rPr lang="zh-CN" altLang="en-US" sz="2800" dirty="0" smtClean="0">
                <a:latin typeface="微软雅黑" panose="020B0503020204020204" pitchFamily="34" charset="-122"/>
                <a:ea typeface="微软雅黑" panose="020B0503020204020204" pitchFamily="34" charset="-122"/>
              </a:rPr>
              <a:t>对象</a:t>
            </a:r>
            <a:endParaRPr lang="zh-CN" altLang="en-US" sz="2800" dirty="0" smtClean="0">
              <a:latin typeface="微软雅黑" panose="020B0503020204020204" pitchFamily="34" charset="-122"/>
              <a:ea typeface="微软雅黑" panose="020B0503020204020204" pitchFamily="34" charset="-122"/>
            </a:endParaRPr>
          </a:p>
          <a:p>
            <a:pPr>
              <a:lnSpc>
                <a:spcPct val="150000"/>
              </a:lnSpc>
              <a:spcBef>
                <a:spcPts val="0"/>
              </a:spcBef>
            </a:pPr>
            <a:r>
              <a:rPr lang="zh-CN" altLang="en-US" sz="2800" dirty="0" smtClean="0">
                <a:latin typeface="微软雅黑" panose="020B0503020204020204" pitchFamily="34" charset="-122"/>
                <a:ea typeface="微软雅黑" panose="020B0503020204020204" pitchFamily="34" charset="-122"/>
              </a:rPr>
              <a:t>通过通过代理对象调用相应</a:t>
            </a:r>
            <a:r>
              <a:rPr lang="zh-CN" altLang="en-US" sz="2800" dirty="0" smtClean="0">
                <a:latin typeface="微软雅黑" panose="020B0503020204020204" pitchFamily="34" charset="-122"/>
                <a:ea typeface="微软雅黑" panose="020B0503020204020204" pitchFamily="34" charset="-122"/>
              </a:rPr>
              <a:t>方法</a:t>
            </a:r>
            <a:endParaRPr lang="zh-CN" altLang="en-US" sz="2800"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07567" y="1014090"/>
            <a:ext cx="7620000" cy="50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advTm="0">
    <p:wipe/>
  </p:transition>
  <p:timing>
    <p:tnLst>
      <p:par>
        <p:cTn id="1" dur="indefinite" restart="never" nodeType="tmRoot"/>
      </p:par>
    </p:tnLst>
  </p:timing>
</p:sld>
</file>

<file path=ppt/tags/tag1.xml><?xml version="1.0" encoding="utf-8"?>
<p:tagLst xmlns:p="http://schemas.openxmlformats.org/presentationml/2006/main">
  <p:tag name="ISPRING_ULTRA_SCORM_SLIDE_COUNT" val="4"/>
  <p:tag name="ISPRING_PRESENTATION_TITLE" val="PowerPoint 演示文稿"/>
  <p:tag name="ISPRING_RESOURCE_PATHS_HASH_PRESENTER" val="af3f2d575d923f6e4ff64f325e7b41567660d7"/>
  <p:tag name="commondata" val="eyJoZGlkIjoiZmIwNTgzN2VkODcyMGZjYmE5ZDczYWZmOTUyYTJjOTMifQ=="/>
</p:tagLst>
</file>

<file path=ppt/theme/theme1.xml><?xml version="1.0" encoding="utf-8"?>
<a:theme xmlns:a="http://schemas.openxmlformats.org/drawingml/2006/main" name="第一PPT，www.1ppt.com">
  <a:themeElements>
    <a:clrScheme name="自定义 107">
      <a:dk1>
        <a:sysClr val="windowText" lastClr="000000"/>
      </a:dk1>
      <a:lt1>
        <a:sysClr val="window" lastClr="FFFFFF"/>
      </a:lt1>
      <a:dk2>
        <a:srgbClr val="1F497D"/>
      </a:dk2>
      <a:lt2>
        <a:srgbClr val="EEECE1"/>
      </a:lt2>
      <a:accent1>
        <a:srgbClr val="0070C0"/>
      </a:accent1>
      <a:accent2>
        <a:srgbClr val="FFC000"/>
      </a:accent2>
      <a:accent3>
        <a:srgbClr val="BFBFBF"/>
      </a:accent3>
      <a:accent4>
        <a:srgbClr val="BFBFBF"/>
      </a:accent4>
      <a:accent5>
        <a:srgbClr val="BFBFBF"/>
      </a:accent5>
      <a:accent6>
        <a:srgbClr val="BFBFB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4362</Words>
  <Application>WPS 演示</Application>
  <PresentationFormat>自定义</PresentationFormat>
  <Paragraphs>294</Paragraphs>
  <Slides>32</Slides>
  <Notes>2</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32</vt:i4>
      </vt:variant>
    </vt:vector>
  </HeadingPairs>
  <TitlesOfParts>
    <vt:vector size="48" baseType="lpstr">
      <vt:lpstr>Arial</vt:lpstr>
      <vt:lpstr>宋体</vt:lpstr>
      <vt:lpstr>Wingdings</vt:lpstr>
      <vt:lpstr>Eras Bold ITC</vt:lpstr>
      <vt:lpstr>微软雅黑</vt:lpstr>
      <vt:lpstr>Arial Unicode MS</vt:lpstr>
      <vt:lpstr>Times New Roman</vt:lpstr>
      <vt:lpstr>黑体</vt:lpstr>
      <vt:lpstr>Times New Roman</vt:lpstr>
      <vt:lpstr>Arial Unicode MS</vt:lpstr>
      <vt:lpstr>Calibri</vt:lpstr>
      <vt:lpstr>华文行楷</vt:lpstr>
      <vt:lpstr>Arial</vt:lpstr>
      <vt:lpstr>第一PPT，www.1ppt.com</vt:lpstr>
      <vt:lpstr>Visio.Drawing.11</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蓝色简洁</dc:title>
  <dc:creator>第一PPT</dc:creator>
  <cp:keywords>www.1ppt.com</cp:keywords>
  <cp:lastModifiedBy>i-sugars</cp:lastModifiedBy>
  <cp:revision>387</cp:revision>
  <dcterms:created xsi:type="dcterms:W3CDTF">2014-08-23T07:50:00Z</dcterms:created>
  <dcterms:modified xsi:type="dcterms:W3CDTF">2024-10-15T18:12:51Z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6916669E45364F1B9CBBA799A3E9049B_12</vt:lpwstr>
  </property>
  <property fmtid="{D5CDD505-2E9C-101B-9397-08002B2CF9AE}" pid="3" name="KSOProductBuildVer">
    <vt:lpwstr>2052-12.1.0.18276</vt:lpwstr>
  </property>
</Properties>
</file>